
<file path=[Content_Types].xml><?xml version="1.0" encoding="utf-8"?>
<Types xmlns="http://schemas.openxmlformats.org/package/2006/content-types">
  <Default Extension="emf" ContentType="image/x-emf"/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5" r:id="rId5"/>
  </p:sldMasterIdLst>
  <p:notesMasterIdLst>
    <p:notesMasterId r:id="rId16"/>
  </p:notesMasterIdLst>
  <p:handoutMasterIdLst>
    <p:handoutMasterId r:id="rId17"/>
  </p:handoutMasterIdLst>
  <p:sldIdLst>
    <p:sldId id="599" r:id="rId6"/>
    <p:sldId id="600" r:id="rId7"/>
    <p:sldId id="671" r:id="rId8"/>
    <p:sldId id="672" r:id="rId9"/>
    <p:sldId id="744" r:id="rId10"/>
    <p:sldId id="747" r:id="rId11"/>
    <p:sldId id="748" r:id="rId12"/>
    <p:sldId id="746" r:id="rId13"/>
    <p:sldId id="728" r:id="rId14"/>
    <p:sldId id="638" r:id="rId15"/>
  </p:sldIdLst>
  <p:sldSz cx="9144000" cy="5143500" type="screen16x9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宋体" panose="02010600030101010101" pitchFamily="2" charset="-122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宋体" panose="02010600030101010101" pitchFamily="2" charset="-122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宋体" panose="02010600030101010101" pitchFamily="2" charset="-122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宋体" panose="02010600030101010101" pitchFamily="2" charset="-122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宋体" panose="02010600030101010101" pitchFamily="2" charset="-122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宋体" panose="02010600030101010101" pitchFamily="2" charset="-122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宋体" panose="02010600030101010101" pitchFamily="2" charset="-122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宋体" panose="02010600030101010101" pitchFamily="2" charset="-122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宋体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rl@itcast.cn" initials="l" lastIdx="2" clrIdx="0"/>
  <p:cmAuthor id="1" name="Microsoft Office User" initials="MOU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F5FF"/>
    <a:srgbClr val="B3D9FF"/>
    <a:srgbClr val="FF5F49"/>
    <a:srgbClr val="79AFFF"/>
    <a:srgbClr val="EBD9FF"/>
    <a:srgbClr val="FBD5D5"/>
    <a:srgbClr val="17375E"/>
    <a:srgbClr val="EFF7FF"/>
    <a:srgbClr val="E6F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592"/>
    <p:restoredTop sz="93779"/>
  </p:normalViewPr>
  <p:slideViewPr>
    <p:cSldViewPr showGuides="1">
      <p:cViewPr varScale="1">
        <p:scale>
          <a:sx n="185" d="100"/>
          <a:sy n="185" d="100"/>
        </p:scale>
        <p:origin x="264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-3876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1B71F79F-4065-CD4F-B030-8AC9BC5EDD8C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D3D60977-06C0-474F-AF9C-D6EAEC0E5E47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C49E8CC4-97BD-D24C-B341-9DDAC8C5942D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charset="0"/>
                <a:ea typeface="宋体" panose="02010600030101010101" pitchFamily="2" charset="-122"/>
                <a:cs typeface="+mn-cs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/>
            </a:lvl1pPr>
          </a:lstStyle>
          <a:p>
            <a:pPr>
              <a:defRPr/>
            </a:pPr>
            <a:fld id="{A14D5F60-C347-6D40-8E94-8EE9446EB09D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宋体" panose="02010600030101010101" pitchFamily="2" charset="-122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emf"/><Relationship Id="rId8" Type="http://schemas.openxmlformats.org/officeDocument/2006/relationships/image" Target="../media/image7.emf"/><Relationship Id="rId7" Type="http://schemas.openxmlformats.org/officeDocument/2006/relationships/image" Target="../media/image6.emf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png"/><Relationship Id="rId3" Type="http://schemas.openxmlformats.org/officeDocument/2006/relationships/image" Target="../media/image2.emf"/><Relationship Id="rId20" Type="http://schemas.openxmlformats.org/officeDocument/2006/relationships/theme" Target="../theme/theme1.xml"/><Relationship Id="rId2" Type="http://schemas.openxmlformats.org/officeDocument/2006/relationships/image" Target="../media/image1.emf"/><Relationship Id="rId19" Type="http://schemas.openxmlformats.org/officeDocument/2006/relationships/image" Target="../media/image18.emf"/><Relationship Id="rId18" Type="http://schemas.openxmlformats.org/officeDocument/2006/relationships/image" Target="../media/image17.emf"/><Relationship Id="rId17" Type="http://schemas.openxmlformats.org/officeDocument/2006/relationships/image" Target="../media/image16.emf"/><Relationship Id="rId16" Type="http://schemas.openxmlformats.org/officeDocument/2006/relationships/image" Target="../media/image15.emf"/><Relationship Id="rId15" Type="http://schemas.openxmlformats.org/officeDocument/2006/relationships/image" Target="../media/image14.emf"/><Relationship Id="rId14" Type="http://schemas.openxmlformats.org/officeDocument/2006/relationships/image" Target="../media/image13.emf"/><Relationship Id="rId13" Type="http://schemas.openxmlformats.org/officeDocument/2006/relationships/image" Target="../media/image12.emf"/><Relationship Id="rId12" Type="http://schemas.openxmlformats.org/officeDocument/2006/relationships/image" Target="../media/image11.emf"/><Relationship Id="rId11" Type="http://schemas.openxmlformats.org/officeDocument/2006/relationships/image" Target="../media/image10.emf"/><Relationship Id="rId10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4" Type="http://schemas.openxmlformats.org/officeDocument/2006/relationships/theme" Target="../theme/theme4.xml"/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6088" y="641350"/>
            <a:ext cx="3127375" cy="3440113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027" name="Picture 4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9638" y="1065213"/>
            <a:ext cx="2200275" cy="245427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4" name="椭圆 3"/>
          <p:cNvSpPr/>
          <p:nvPr userDrawn="1"/>
        </p:nvSpPr>
        <p:spPr bwMode="auto">
          <a:xfrm>
            <a:off x="6381750" y="1384300"/>
            <a:ext cx="463550" cy="46355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>
              <a:latin typeface="+mn-ea"/>
              <a:ea typeface="+mn-ea"/>
              <a:cs typeface="+mn-cs"/>
            </a:endParaRPr>
          </a:p>
        </p:txBody>
      </p:sp>
      <p:sp>
        <p:nvSpPr>
          <p:cNvPr id="5" name="椭圆 4"/>
          <p:cNvSpPr/>
          <p:nvPr userDrawn="1"/>
        </p:nvSpPr>
        <p:spPr bwMode="auto">
          <a:xfrm>
            <a:off x="2451100" y="1749425"/>
            <a:ext cx="184150" cy="184150"/>
          </a:xfrm>
          <a:prstGeom prst="ellipse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>
              <a:latin typeface="+mn-ea"/>
              <a:ea typeface="+mn-ea"/>
              <a:cs typeface="+mn-cs"/>
            </a:endParaRPr>
          </a:p>
        </p:txBody>
      </p:sp>
      <p:sp>
        <p:nvSpPr>
          <p:cNvPr id="6" name="椭圆 10"/>
          <p:cNvSpPr>
            <a:spLocks noChangeArrowheads="1"/>
          </p:cNvSpPr>
          <p:nvPr userDrawn="1"/>
        </p:nvSpPr>
        <p:spPr bwMode="auto">
          <a:xfrm>
            <a:off x="5240338" y="3937000"/>
            <a:ext cx="219075" cy="21907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>
              <a:latin typeface="+mn-ea"/>
              <a:ea typeface="+mn-ea"/>
              <a:cs typeface="+mn-cs"/>
            </a:endParaRPr>
          </a:p>
        </p:txBody>
      </p:sp>
      <p:sp>
        <p:nvSpPr>
          <p:cNvPr id="7" name="椭圆 6"/>
          <p:cNvSpPr/>
          <p:nvPr userDrawn="1"/>
        </p:nvSpPr>
        <p:spPr bwMode="auto">
          <a:xfrm>
            <a:off x="3265488" y="1939925"/>
            <a:ext cx="128587" cy="130175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>
              <a:latin typeface="+mn-ea"/>
              <a:ea typeface="+mn-ea"/>
              <a:cs typeface="+mn-cs"/>
            </a:endParaRPr>
          </a:p>
        </p:txBody>
      </p:sp>
      <p:pic>
        <p:nvPicPr>
          <p:cNvPr id="1032" name="图片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2338" y="1581150"/>
            <a:ext cx="2174875" cy="595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3" name="Picture 5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7163" y="1460500"/>
            <a:ext cx="212725" cy="290513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1034" name="组合 43"/>
          <p:cNvGrpSpPr/>
          <p:nvPr userDrawn="1"/>
        </p:nvGrpSpPr>
        <p:grpSpPr bwMode="auto">
          <a:xfrm>
            <a:off x="6100763" y="1751013"/>
            <a:ext cx="130175" cy="128587"/>
            <a:chOff x="6101548" y="1750326"/>
            <a:chExt cx="129654" cy="129654"/>
          </a:xfrm>
        </p:grpSpPr>
        <p:sp>
          <p:nvSpPr>
            <p:cNvPr id="13" name="椭圆 12"/>
            <p:cNvSpPr/>
            <p:nvPr/>
          </p:nvSpPr>
          <p:spPr bwMode="auto">
            <a:xfrm>
              <a:off x="6101548" y="1750326"/>
              <a:ext cx="129654" cy="129654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066" name="Picture 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5265" y="1772735"/>
              <a:ext cx="83801" cy="84835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pic>
        <p:nvPicPr>
          <p:cNvPr id="1035" name="Picture 7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5900" y="3994150"/>
            <a:ext cx="117475" cy="136525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1036" name="组合 41"/>
          <p:cNvGrpSpPr/>
          <p:nvPr userDrawn="1"/>
        </p:nvGrpSpPr>
        <p:grpSpPr bwMode="auto">
          <a:xfrm>
            <a:off x="3040063" y="546100"/>
            <a:ext cx="225425" cy="225425"/>
            <a:chOff x="3039900" y="545911"/>
            <a:chExt cx="225188" cy="225188"/>
          </a:xfrm>
        </p:grpSpPr>
        <p:sp>
          <p:nvSpPr>
            <p:cNvPr id="17" name="椭圆 16"/>
            <p:cNvSpPr/>
            <p:nvPr/>
          </p:nvSpPr>
          <p:spPr bwMode="auto">
            <a:xfrm>
              <a:off x="3039900" y="545911"/>
              <a:ext cx="225188" cy="225188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2" name="Picture 8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1132" y="599829"/>
              <a:ext cx="142725" cy="111008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grpSp>
        <p:nvGrpSpPr>
          <p:cNvPr id="1037" name="组合 37"/>
          <p:cNvGrpSpPr/>
          <p:nvPr userDrawn="1"/>
        </p:nvGrpSpPr>
        <p:grpSpPr bwMode="auto">
          <a:xfrm>
            <a:off x="2586038" y="3022600"/>
            <a:ext cx="185737" cy="185738"/>
            <a:chOff x="2586251" y="3022980"/>
            <a:chExt cx="88710" cy="88710"/>
          </a:xfrm>
          <a:solidFill>
            <a:srgbClr val="C00000"/>
          </a:solidFill>
        </p:grpSpPr>
        <p:sp>
          <p:nvSpPr>
            <p:cNvPr id="20" name="椭圆 9"/>
            <p:cNvSpPr>
              <a:spLocks noChangeArrowheads="1"/>
            </p:cNvSpPr>
            <p:nvPr/>
          </p:nvSpPr>
          <p:spPr bwMode="auto">
            <a:xfrm>
              <a:off x="2586251" y="3022980"/>
              <a:ext cx="88710" cy="88710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064" name="Picture 10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11596" y="3041493"/>
              <a:ext cx="45720" cy="51684"/>
            </a:xfrm>
            <a:prstGeom prst="rect">
              <a:avLst/>
            </a:prstGeom>
            <a:grpFill/>
            <a:ln>
              <a:noFill/>
            </a:ln>
            <a:effectLst/>
          </p:spPr>
        </p:pic>
      </p:grpSp>
      <p:pic>
        <p:nvPicPr>
          <p:cNvPr id="1038" name="Picture 1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4063" y="1974850"/>
            <a:ext cx="71437" cy="77788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3" name="椭圆 22"/>
          <p:cNvSpPr/>
          <p:nvPr userDrawn="1"/>
        </p:nvSpPr>
        <p:spPr bwMode="auto">
          <a:xfrm>
            <a:off x="7113588" y="2630488"/>
            <a:ext cx="250825" cy="249237"/>
          </a:xfrm>
          <a:prstGeom prst="ellipse">
            <a:avLst/>
          </a:prstGeom>
          <a:solidFill>
            <a:schemeClr val="tx1">
              <a:lumMod val="75000"/>
              <a:lumOff val="25000"/>
              <a:alpha val="8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>
              <a:latin typeface="+mn-ea"/>
              <a:ea typeface="+mn-ea"/>
              <a:cs typeface="+mn-cs"/>
            </a:endParaRPr>
          </a:p>
        </p:txBody>
      </p:sp>
      <p:pic>
        <p:nvPicPr>
          <p:cNvPr id="1040" name="Picture 15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0" y="2690813"/>
            <a:ext cx="133350" cy="128587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1041" name="组合 46"/>
          <p:cNvGrpSpPr/>
          <p:nvPr userDrawn="1"/>
        </p:nvGrpSpPr>
        <p:grpSpPr bwMode="auto">
          <a:xfrm>
            <a:off x="2327275" y="3386138"/>
            <a:ext cx="258763" cy="258762"/>
            <a:chOff x="1798978" y="3519004"/>
            <a:chExt cx="259307" cy="259307"/>
          </a:xfrm>
        </p:grpSpPr>
        <p:sp>
          <p:nvSpPr>
            <p:cNvPr id="26" name="椭圆 25"/>
            <p:cNvSpPr/>
            <p:nvPr/>
          </p:nvSpPr>
          <p:spPr bwMode="auto">
            <a:xfrm>
              <a:off x="1798978" y="3519004"/>
              <a:ext cx="259307" cy="259307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3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062" name="Picture 2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1931" y="3616045"/>
              <a:ext cx="173401" cy="85906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grpSp>
        <p:nvGrpSpPr>
          <p:cNvPr id="1042" name="组合 38"/>
          <p:cNvGrpSpPr/>
          <p:nvPr userDrawn="1"/>
        </p:nvGrpSpPr>
        <p:grpSpPr bwMode="auto">
          <a:xfrm>
            <a:off x="976313" y="1046163"/>
            <a:ext cx="300037" cy="300037"/>
            <a:chOff x="748396" y="764271"/>
            <a:chExt cx="300782" cy="300782"/>
          </a:xfrm>
        </p:grpSpPr>
        <p:sp>
          <p:nvSpPr>
            <p:cNvPr id="29" name="椭圆 28"/>
            <p:cNvSpPr/>
            <p:nvPr/>
          </p:nvSpPr>
          <p:spPr bwMode="auto">
            <a:xfrm>
              <a:off x="748396" y="764271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4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060" name="Picture 4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730" y="856575"/>
              <a:ext cx="202114" cy="116175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grpSp>
        <p:nvGrpSpPr>
          <p:cNvPr id="1043" name="组合 42"/>
          <p:cNvGrpSpPr/>
          <p:nvPr userDrawn="1"/>
        </p:nvGrpSpPr>
        <p:grpSpPr bwMode="auto">
          <a:xfrm>
            <a:off x="1763713" y="4391025"/>
            <a:ext cx="300037" cy="300038"/>
            <a:chOff x="1365228" y="4292790"/>
            <a:chExt cx="300782" cy="300782"/>
          </a:xfrm>
        </p:grpSpPr>
        <p:sp>
          <p:nvSpPr>
            <p:cNvPr id="32" name="椭圆 31"/>
            <p:cNvSpPr/>
            <p:nvPr/>
          </p:nvSpPr>
          <p:spPr bwMode="auto">
            <a:xfrm>
              <a:off x="1365228" y="4292790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058" name="Picture 5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7745" y="4364405"/>
              <a:ext cx="195748" cy="157552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grpSp>
        <p:nvGrpSpPr>
          <p:cNvPr id="1044" name="组合 1"/>
          <p:cNvGrpSpPr/>
          <p:nvPr userDrawn="1"/>
        </p:nvGrpSpPr>
        <p:grpSpPr bwMode="auto">
          <a:xfrm>
            <a:off x="1169988" y="2619375"/>
            <a:ext cx="300037" cy="300038"/>
            <a:chOff x="1169908" y="2618983"/>
            <a:chExt cx="300782" cy="300782"/>
          </a:xfrm>
        </p:grpSpPr>
        <p:sp>
          <p:nvSpPr>
            <p:cNvPr id="35" name="椭圆 34"/>
            <p:cNvSpPr/>
            <p:nvPr/>
          </p:nvSpPr>
          <p:spPr bwMode="auto">
            <a:xfrm>
              <a:off x="1169908" y="2618983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056" name="Picture 6"/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4468" y="2690598"/>
              <a:ext cx="211661" cy="181424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grpSp>
        <p:nvGrpSpPr>
          <p:cNvPr id="1045" name="组合 49"/>
          <p:cNvGrpSpPr/>
          <p:nvPr userDrawn="1"/>
        </p:nvGrpSpPr>
        <p:grpSpPr bwMode="auto">
          <a:xfrm>
            <a:off x="7781925" y="4046538"/>
            <a:ext cx="320675" cy="320675"/>
            <a:chOff x="7874758" y="4418464"/>
            <a:chExt cx="320722" cy="320722"/>
          </a:xfrm>
        </p:grpSpPr>
        <p:sp>
          <p:nvSpPr>
            <p:cNvPr id="38" name="椭圆 37"/>
            <p:cNvSpPr/>
            <p:nvPr/>
          </p:nvSpPr>
          <p:spPr bwMode="auto">
            <a:xfrm>
              <a:off x="7874758" y="4418464"/>
              <a:ext cx="320722" cy="32072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054" name="Picture 7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16039" y="4486736"/>
              <a:ext cx="238160" cy="184177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pic>
        <p:nvPicPr>
          <p:cNvPr id="1046" name="Picture 9"/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675" y="1773238"/>
            <a:ext cx="127000" cy="136525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1047" name="组合 45"/>
          <p:cNvGrpSpPr/>
          <p:nvPr userDrawn="1"/>
        </p:nvGrpSpPr>
        <p:grpSpPr bwMode="auto">
          <a:xfrm>
            <a:off x="6613525" y="3433763"/>
            <a:ext cx="258763" cy="258762"/>
            <a:chOff x="8470946" y="4206098"/>
            <a:chExt cx="259071" cy="259071"/>
          </a:xfrm>
        </p:grpSpPr>
        <p:sp>
          <p:nvSpPr>
            <p:cNvPr id="42" name="椭圆 41"/>
            <p:cNvSpPr/>
            <p:nvPr/>
          </p:nvSpPr>
          <p:spPr bwMode="auto">
            <a:xfrm>
              <a:off x="8470946" y="4206098"/>
              <a:ext cx="259071" cy="259071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23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052" name="Picture 10"/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31343" y="4263316"/>
              <a:ext cx="144635" cy="144635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grpSp>
        <p:nvGrpSpPr>
          <p:cNvPr id="1048" name="组合 44"/>
          <p:cNvGrpSpPr/>
          <p:nvPr userDrawn="1"/>
        </p:nvGrpSpPr>
        <p:grpSpPr bwMode="auto">
          <a:xfrm>
            <a:off x="7308850" y="912813"/>
            <a:ext cx="322263" cy="322262"/>
            <a:chOff x="7308304" y="912172"/>
            <a:chExt cx="323068" cy="323068"/>
          </a:xfrm>
        </p:grpSpPr>
        <p:sp>
          <p:nvSpPr>
            <p:cNvPr id="45" name="椭圆 44"/>
            <p:cNvSpPr/>
            <p:nvPr/>
          </p:nvSpPr>
          <p:spPr bwMode="auto">
            <a:xfrm>
              <a:off x="7308304" y="912172"/>
              <a:ext cx="323068" cy="323068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31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>
                <a:latin typeface="+mn-ea"/>
                <a:ea typeface="+mn-ea"/>
                <a:cs typeface="+mn-cs"/>
              </a:endParaRPr>
            </a:p>
          </p:txBody>
        </p:sp>
        <p:pic>
          <p:nvPicPr>
            <p:cNvPr id="1050" name="Picture 11"/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8780" y="990154"/>
              <a:ext cx="202117" cy="167105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黑体" panose="02010609060101010101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anose="020F0502020204030204" charset="0"/>
          <a:ea typeface="黑体" panose="02010609060101010101" charset="-122"/>
          <a:cs typeface="黑体" panose="02010609060101010101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anose="020F0502020204030204" charset="0"/>
          <a:ea typeface="黑体" panose="02010609060101010101" charset="-122"/>
          <a:cs typeface="黑体" panose="02010609060101010101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anose="020F0502020204030204" charset="0"/>
          <a:ea typeface="黑体" panose="02010609060101010101" charset="-122"/>
          <a:cs typeface="黑体" panose="02010609060101010101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anose="020F0502020204030204" charset="0"/>
          <a:ea typeface="黑体" panose="02010609060101010101" charset="-122"/>
          <a:cs typeface="黑体" panose="02010609060101010101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18"/>
          <p:cNvGrpSpPr/>
          <p:nvPr userDrawn="1"/>
        </p:nvGrpSpPr>
        <p:grpSpPr bwMode="auto">
          <a:xfrm>
            <a:off x="493713" y="219075"/>
            <a:ext cx="92075" cy="314325"/>
            <a:chOff x="457200" y="427038"/>
            <a:chExt cx="127000" cy="431800"/>
          </a:xfrm>
        </p:grpSpPr>
        <p:sp>
          <p:nvSpPr>
            <p:cNvPr id="8" name="圆角矩形 1"/>
            <p:cNvSpPr>
              <a:spLocks noChangeArrowheads="1"/>
            </p:cNvSpPr>
            <p:nvPr/>
          </p:nvSpPr>
          <p:spPr bwMode="auto">
            <a:xfrm>
              <a:off x="457200" y="427038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cs typeface="+mn-cs"/>
              </a:endParaRPr>
            </a:p>
          </p:txBody>
        </p:sp>
        <p:sp>
          <p:nvSpPr>
            <p:cNvPr id="9" name="圆角矩形 23"/>
            <p:cNvSpPr>
              <a:spLocks noChangeArrowheads="1"/>
            </p:cNvSpPr>
            <p:nvPr/>
          </p:nvSpPr>
          <p:spPr bwMode="auto">
            <a:xfrm>
              <a:off x="457200" y="579695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latin typeface="Segoe UI" panose="020B0502040204020203" pitchFamily="34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" name="圆角矩形 24"/>
            <p:cNvSpPr>
              <a:spLocks noChangeArrowheads="1"/>
            </p:cNvSpPr>
            <p:nvPr/>
          </p:nvSpPr>
          <p:spPr bwMode="auto">
            <a:xfrm>
              <a:off x="457200" y="732351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cs typeface="+mn-cs"/>
              </a:endParaRPr>
            </a:p>
          </p:txBody>
        </p:sp>
      </p:grpSp>
      <p:sp>
        <p:nvSpPr>
          <p:cNvPr id="11" name="矩形 10"/>
          <p:cNvSpPr/>
          <p:nvPr userDrawn="1"/>
        </p:nvSpPr>
        <p:spPr bwMode="auto">
          <a:xfrm>
            <a:off x="8167688" y="5049838"/>
            <a:ext cx="976312" cy="936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52" name="圆角矩形 3"/>
          <p:cNvSpPr/>
          <p:nvPr userDrawn="1"/>
        </p:nvSpPr>
        <p:spPr bwMode="auto">
          <a:xfrm>
            <a:off x="7375525" y="-19050"/>
            <a:ext cx="1281113" cy="627063"/>
          </a:xfrm>
          <a:custGeom>
            <a:avLst/>
            <a:gdLst>
              <a:gd name="T0" fmla="*/ 89880426 w 1180531"/>
              <a:gd name="T1" fmla="*/ 0 h 577560"/>
              <a:gd name="T2" fmla="*/ 89880426 w 1180531"/>
              <a:gd name="T3" fmla="*/ 36089051 h 577560"/>
              <a:gd name="T4" fmla="*/ 81085461 w 1180531"/>
              <a:gd name="T5" fmla="*/ 45111777 h 577560"/>
              <a:gd name="T6" fmla="*/ 8794875 w 1180531"/>
              <a:gd name="T7" fmla="*/ 45111777 h 577560"/>
              <a:gd name="T8" fmla="*/ 0 w 1180531"/>
              <a:gd name="T9" fmla="*/ 36089051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053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50800"/>
            <a:ext cx="1265238" cy="52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0" y="5049838"/>
            <a:ext cx="8113713" cy="9366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黑体" panose="02010609060101010101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黑体" panose="02010609060101010101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黑体" panose="02010609060101010101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黑体" panose="02010609060101010101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黑体" panose="02010609060101010101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anose="02010609060101010101" charset="-122"/>
          <a:ea typeface="黑体" panose="02010609060101010101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anose="02010609060101010101" charset="-122"/>
          <a:ea typeface="黑体" panose="02010609060101010101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anose="02010609060101010101" charset="-122"/>
          <a:ea typeface="黑体" panose="02010609060101010101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anose="02010609060101010101" charset="-122"/>
          <a:ea typeface="黑体" panose="02010609060101010101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黑体" panose="02010609060101010101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400" b="1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黑体" panose="02010609060101010101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8167688" y="5049838"/>
            <a:ext cx="976312" cy="9366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75" name="圆角矩形 3"/>
          <p:cNvSpPr/>
          <p:nvPr userDrawn="1"/>
        </p:nvSpPr>
        <p:spPr bwMode="auto">
          <a:xfrm>
            <a:off x="7375525" y="-19050"/>
            <a:ext cx="1281113" cy="627063"/>
          </a:xfrm>
          <a:custGeom>
            <a:avLst/>
            <a:gdLst>
              <a:gd name="T0" fmla="*/ 89880426 w 1180531"/>
              <a:gd name="T1" fmla="*/ 0 h 577560"/>
              <a:gd name="T2" fmla="*/ 89880426 w 1180531"/>
              <a:gd name="T3" fmla="*/ 36089051 h 577560"/>
              <a:gd name="T4" fmla="*/ 81085461 w 1180531"/>
              <a:gd name="T5" fmla="*/ 45111777 h 577560"/>
              <a:gd name="T6" fmla="*/ 8794875 w 1180531"/>
              <a:gd name="T7" fmla="*/ 45111777 h 577560"/>
              <a:gd name="T8" fmla="*/ 0 w 1180531"/>
              <a:gd name="T9" fmla="*/ 36089051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076" name="图片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50800"/>
            <a:ext cx="1265238" cy="520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0" y="5049838"/>
            <a:ext cx="8113713" cy="9366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>
              <a:latin typeface="Segoe UI" panose="020B0502040204020203" pitchFamily="34" charset="0"/>
              <a:ea typeface="微软雅黑" panose="020B0503020204020204" pitchFamily="3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黑体" panose="02010609060101010101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黑体" panose="02010609060101010101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黑体" panose="02010609060101010101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黑体" panose="02010609060101010101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黑体" panose="02010609060101010101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anose="02010609060101010101" charset="-122"/>
          <a:ea typeface="黑体" panose="02010609060101010101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anose="02010609060101010101" charset="-122"/>
          <a:ea typeface="黑体" panose="02010609060101010101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anose="02010609060101010101" charset="-122"/>
          <a:ea typeface="黑体" panose="02010609060101010101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黑体" panose="02010609060101010101" charset="-122"/>
          <a:ea typeface="黑体" panose="02010609060101010101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黑体" panose="02010609060101010101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400" b="1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黑体" panose="02010609060101010101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9"/>
          <p:cNvGrpSpPr/>
          <p:nvPr userDrawn="1"/>
        </p:nvGrpSpPr>
        <p:grpSpPr bwMode="auto">
          <a:xfrm>
            <a:off x="1944688" y="1817688"/>
            <a:ext cx="5148262" cy="787400"/>
            <a:chOff x="1944836" y="1767215"/>
            <a:chExt cx="5147444" cy="787423"/>
          </a:xfrm>
        </p:grpSpPr>
        <p:pic>
          <p:nvPicPr>
            <p:cNvPr id="4099" name="图片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1020" y="1767215"/>
              <a:ext cx="1907084" cy="78742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" name="直接连接符 8"/>
            <p:cNvCxnSpPr/>
            <p:nvPr/>
          </p:nvCxnSpPr>
          <p:spPr>
            <a:xfrm>
              <a:off x="1944836" y="2211728"/>
              <a:ext cx="165549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5436781" y="2211728"/>
              <a:ext cx="165549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黑体" panose="02010609060101010101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anose="020F0502020204030204" charset="0"/>
          <a:ea typeface="黑体" panose="02010609060101010101" charset="-122"/>
          <a:cs typeface="黑体" panose="02010609060101010101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anose="020F0502020204030204" charset="0"/>
          <a:ea typeface="黑体" panose="02010609060101010101" charset="-122"/>
          <a:cs typeface="黑体" panose="02010609060101010101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anose="020F0502020204030204" charset="0"/>
          <a:ea typeface="黑体" panose="02010609060101010101" charset="-122"/>
          <a:cs typeface="黑体" panose="02010609060101010101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anose="020F0502020204030204" charset="0"/>
          <a:ea typeface="黑体" panose="02010609060101010101" charset="-122"/>
          <a:cs typeface="黑体" panose="02010609060101010101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tif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extBox 3"/>
          <p:cNvSpPr txBox="1">
            <a:spLocks noChangeArrowheads="1"/>
          </p:cNvSpPr>
          <p:nvPr/>
        </p:nvSpPr>
        <p:spPr bwMode="auto">
          <a:xfrm>
            <a:off x="2841617" y="2211279"/>
            <a:ext cx="34163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3600" b="1" dirty="0">
                <a:solidFill>
                  <a:srgbClr val="262626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数据结构与算法</a:t>
            </a:r>
            <a:endParaRPr lang="zh-CN" altLang="en-US" sz="3600" b="1" dirty="0">
              <a:solidFill>
                <a:srgbClr val="262626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MH_Others_1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58975" y="1917700"/>
            <a:ext cx="644525" cy="264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68580" tIns="34290" rIns="68580" bIns="34290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3600">
                <a:solidFill>
                  <a:srgbClr val="FF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Contents</a:t>
            </a:r>
            <a:endParaRPr lang="en-US" altLang="zh-CN" sz="3600">
              <a:solidFill>
                <a:srgbClr val="FF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7" name="MH_Others_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698625" y="915988"/>
            <a:ext cx="936625" cy="93503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0">
            <a:solidFill>
              <a:srgbClr val="FFFFFF">
                <a:alpha val="49000"/>
              </a:srgbClr>
            </a:solidFill>
          </a:ln>
        </p:spPr>
        <p:txBody>
          <a:bodyPr lIns="68580" tIns="34290" rIns="68580" bIns="13500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7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solidFill>
                  <a:srgbClr val="FFFFFF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目</a:t>
            </a:r>
            <a:endParaRPr lang="zh-CN" altLang="en-US" sz="4400" b="1" dirty="0">
              <a:solidFill>
                <a:srgbClr val="FFFFFF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8" name="MH_Others_3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331640" y="1759696"/>
            <a:ext cx="734366" cy="734366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68580" tIns="34290" rIns="68580" bIns="3429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4400" b="1" dirty="0">
                <a:ln w="3175">
                  <a:solidFill>
                    <a:srgbClr val="FFFFFF"/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录</a:t>
            </a:r>
            <a:endParaRPr lang="zh-CN" altLang="en-US" sz="4400" b="1" dirty="0">
              <a:ln w="3175">
                <a:solidFill>
                  <a:srgbClr val="FFFFFF"/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8196" name="TextBox 9"/>
          <p:cNvSpPr txBox="1">
            <a:spLocks noChangeArrowheads="1"/>
          </p:cNvSpPr>
          <p:nvPr/>
        </p:nvSpPr>
        <p:spPr bwMode="auto">
          <a:xfrm>
            <a:off x="3923928" y="968257"/>
            <a:ext cx="4319588" cy="889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1450" indent="-1714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285750" marR="0" lvl="0" indent="-28575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lang="zh-CN" altLang="en-US" sz="1400" dirty="0">
                <a:solidFill>
                  <a:srgbClr val="FF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二分查找</a:t>
            </a:r>
            <a:r>
              <a:rPr lang="en-US" altLang="zh-CN" sz="1400" dirty="0">
                <a:solidFill>
                  <a:srgbClr val="FF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</a:t>
            </a:r>
            <a:r>
              <a:rPr lang="zh-CN" altLang="en-US" sz="1400" dirty="0">
                <a:solidFill>
                  <a:srgbClr val="FF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递归版本</a:t>
            </a:r>
            <a:endParaRPr lang="en-US" altLang="zh-CN" sz="1400" dirty="0">
              <a:solidFill>
                <a:srgbClr val="FF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marR="0" lvl="0" indent="-28575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二分查找</a:t>
            </a:r>
            <a:r>
              <a:rPr lang="en-US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</a:t>
            </a:r>
            <a:r>
              <a:rPr lang="zh-CN" altLang="en-US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非递归版本</a:t>
            </a:r>
            <a:endParaRPr lang="en-US" altLang="zh-CN" sz="14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1042988" y="1924050"/>
            <a:ext cx="172085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zh-CN" altLang="en-US" sz="3200" b="1">
                <a:solidFill>
                  <a:srgbClr val="262626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目标</a:t>
            </a:r>
            <a:endParaRPr lang="zh-TW" altLang="zh-CN" sz="3200" b="1">
              <a:solidFill>
                <a:srgbClr val="262626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3348038" y="1384300"/>
            <a:ext cx="0" cy="244792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椭圆 3"/>
          <p:cNvSpPr/>
          <p:nvPr/>
        </p:nvSpPr>
        <p:spPr>
          <a:xfrm>
            <a:off x="3311525" y="1347788"/>
            <a:ext cx="73025" cy="7143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3311525" y="3832225"/>
            <a:ext cx="73025" cy="7143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" name="标题占位符 1"/>
          <p:cNvSpPr txBox="1">
            <a:spLocks noChangeArrowheads="1"/>
          </p:cNvSpPr>
          <p:nvPr/>
        </p:nvSpPr>
        <p:spPr bwMode="auto">
          <a:xfrm>
            <a:off x="1258888" y="2573338"/>
            <a:ext cx="2116137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>
              <a:defRPr/>
            </a:pPr>
            <a:r>
              <a:rPr lang="en-US" altLang="zh-CN" sz="2400" b="1" kern="0" dirty="0">
                <a:solidFill>
                  <a:srgbClr val="FF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TARGET</a:t>
            </a:r>
            <a:endParaRPr lang="zh-TW" altLang="zh-CN" sz="2400" b="1" kern="0" dirty="0">
              <a:solidFill>
                <a:srgbClr val="FF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959225" y="2066564"/>
            <a:ext cx="3430747" cy="5728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能够完成二分查找的代码实现</a:t>
            </a:r>
            <a:endParaRPr lang="en-US" altLang="zh-CN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755576" y="-1028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400" b="1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二分查找</a:t>
            </a:r>
            <a:r>
              <a:rPr lang="en-US" altLang="zh-CN" sz="2400" b="1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</a:t>
            </a:r>
            <a:r>
              <a:rPr lang="zh-CN" altLang="en-US" sz="2400" b="1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递归版本</a:t>
            </a:r>
            <a:endParaRPr lang="en-US" altLang="zh-CN" sz="2400" b="1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62026" y="799345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b="1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什么是二分查找</a:t>
            </a:r>
            <a:endParaRPr kumimoji="1" lang="zh-CN" altLang="en-US" b="1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2026" y="1371265"/>
            <a:ext cx="38779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二分查找又称</a:t>
            </a:r>
            <a:r>
              <a:rPr lang="zh-CN" altLang="en-US" sz="1200" dirty="0">
                <a:solidFill>
                  <a:srgbClr val="FF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折半查找</a:t>
            </a: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，它是一种效率较高的</a:t>
            </a:r>
            <a:r>
              <a:rPr lang="zh-CN" altLang="en-US" sz="1200" dirty="0">
                <a:solidFill>
                  <a:srgbClr val="FF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查找方法</a:t>
            </a:r>
            <a:endParaRPr kumimoji="1" lang="zh-CN" altLang="en-US" sz="1200" dirty="0">
              <a:solidFill>
                <a:srgbClr val="FF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2026" y="4299942"/>
            <a:ext cx="7792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原理：将数组分为三部分，依次是</a:t>
            </a:r>
            <a:r>
              <a:rPr lang="zh-CN" altLang="en-US" sz="1200" dirty="0">
                <a:solidFill>
                  <a:srgbClr val="FF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中值前，中值，中值后</a:t>
            </a:r>
            <a:endParaRPr lang="en-US" altLang="zh-CN" sz="1200" dirty="0">
              <a:solidFill>
                <a:srgbClr val="FF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将要</a:t>
            </a:r>
            <a:r>
              <a:rPr lang="zh-CN" altLang="en-US" sz="1200" dirty="0">
                <a:solidFill>
                  <a:srgbClr val="FF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查找的值与中值进行比较</a:t>
            </a: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，若小于中值则在中值前面找，若大于中值则在中值后面找，等于中值时直接返回</a:t>
            </a:r>
            <a:endParaRPr kumimoji="1" lang="zh-CN" altLang="en-US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84" y="1850852"/>
            <a:ext cx="2880320" cy="230878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755576" y="-1028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400" b="1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二分查找</a:t>
            </a:r>
            <a:r>
              <a:rPr lang="en-US" altLang="zh-CN" sz="2400" b="1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</a:t>
            </a:r>
            <a:r>
              <a:rPr lang="zh-CN" altLang="en-US" sz="2400" b="1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递归版本</a:t>
            </a:r>
            <a:endParaRPr lang="en-US" altLang="zh-CN" sz="2400" b="1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62026" y="79934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b="1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二分查找过程</a:t>
            </a:r>
            <a:endParaRPr kumimoji="1" lang="zh-CN" altLang="en-US" b="1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123726" y="2139702"/>
            <a:ext cx="432048" cy="432048"/>
          </a:xfrm>
          <a:prstGeom prst="rect">
            <a:avLst/>
          </a:prstGeom>
          <a:solidFill>
            <a:schemeClr val="accent1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endParaRPr kumimoji="1" lang="zh-CN" altLang="en-US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771799" y="2139702"/>
            <a:ext cx="432048" cy="432048"/>
          </a:xfrm>
          <a:prstGeom prst="rect">
            <a:avLst/>
          </a:prstGeom>
          <a:solidFill>
            <a:schemeClr val="accent1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endParaRPr kumimoji="1" lang="zh-CN" altLang="en-US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419872" y="2139702"/>
            <a:ext cx="432048" cy="432048"/>
          </a:xfrm>
          <a:prstGeom prst="rect">
            <a:avLst/>
          </a:prstGeom>
          <a:solidFill>
            <a:schemeClr val="accent1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endParaRPr kumimoji="1" lang="zh-CN" altLang="en-US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067945" y="2139702"/>
            <a:ext cx="432048" cy="432048"/>
          </a:xfrm>
          <a:prstGeom prst="rect">
            <a:avLst/>
          </a:prstGeom>
          <a:solidFill>
            <a:schemeClr val="accent1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5</a:t>
            </a:r>
            <a:endParaRPr kumimoji="1" lang="zh-CN" altLang="en-US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692234" y="2139702"/>
            <a:ext cx="432048" cy="432048"/>
          </a:xfrm>
          <a:prstGeom prst="rect">
            <a:avLst/>
          </a:prstGeom>
          <a:solidFill>
            <a:schemeClr val="accent1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7</a:t>
            </a:r>
            <a:endParaRPr kumimoji="1" lang="zh-CN" altLang="en-US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316523" y="2139702"/>
            <a:ext cx="432048" cy="432048"/>
          </a:xfrm>
          <a:prstGeom prst="rect">
            <a:avLst/>
          </a:prstGeom>
          <a:solidFill>
            <a:schemeClr val="accent1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8</a:t>
            </a:r>
            <a:endParaRPr kumimoji="1" lang="zh-CN" altLang="en-US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002055" y="2139702"/>
            <a:ext cx="432048" cy="432048"/>
          </a:xfrm>
          <a:prstGeom prst="rect">
            <a:avLst/>
          </a:prstGeom>
          <a:solidFill>
            <a:schemeClr val="accent1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10</a:t>
            </a:r>
            <a:endParaRPr kumimoji="1" lang="zh-CN" altLang="en-US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62026" y="1344110"/>
            <a:ext cx="9717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查找数字</a:t>
            </a:r>
            <a:r>
              <a:rPr kumimoji="1" lang="en-US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r>
              <a:rPr kumimoji="1"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endParaRPr kumimoji="1" lang="zh-CN" altLang="en-US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6" name="上箭头 15"/>
          <p:cNvSpPr/>
          <p:nvPr/>
        </p:nvSpPr>
        <p:spPr>
          <a:xfrm>
            <a:off x="2316890" y="2807566"/>
            <a:ext cx="45719" cy="610985"/>
          </a:xfrm>
          <a:prstGeom prst="upArrow">
            <a:avLst/>
          </a:pr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8" name="上箭头 17"/>
          <p:cNvSpPr/>
          <p:nvPr/>
        </p:nvSpPr>
        <p:spPr>
          <a:xfrm>
            <a:off x="6225990" y="2807565"/>
            <a:ext cx="45719" cy="610985"/>
          </a:xfrm>
          <a:prstGeom prst="upArrow">
            <a:avLst/>
          </a:pr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9" name="上箭头 18"/>
          <p:cNvSpPr/>
          <p:nvPr/>
        </p:nvSpPr>
        <p:spPr>
          <a:xfrm>
            <a:off x="4271440" y="2807564"/>
            <a:ext cx="45719" cy="610985"/>
          </a:xfrm>
          <a:prstGeom prst="upArrow">
            <a:avLst/>
          </a:pr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079902" y="3546260"/>
            <a:ext cx="5196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start</a:t>
            </a:r>
            <a:endParaRPr kumimoji="1" lang="zh-CN" altLang="en-US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057608" y="3546259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end</a:t>
            </a:r>
            <a:endParaRPr kumimoji="1" lang="zh-CN" altLang="en-US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094403" y="3546259"/>
            <a:ext cx="468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mid</a:t>
            </a:r>
            <a:endParaRPr kumimoji="1" lang="zh-CN" altLang="en-US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55576" y="4027497"/>
            <a:ext cx="60692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第一步</a:t>
            </a:r>
            <a:r>
              <a:rPr kumimoji="1" lang="en-US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r>
              <a:rPr kumimoji="1"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找到中值</a:t>
            </a:r>
            <a:r>
              <a:rPr kumimoji="1" lang="en-US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kumimoji="1"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取整数</a:t>
            </a:r>
            <a:r>
              <a:rPr kumimoji="1" lang="en-US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endParaRPr kumimoji="1" lang="en-US" altLang="zh-CN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第二步</a:t>
            </a:r>
            <a:r>
              <a:rPr kumimoji="1" lang="en-US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r>
              <a:rPr kumimoji="1"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要查找的数和中值比较</a:t>
            </a:r>
            <a:endParaRPr kumimoji="1" lang="en-US" altLang="zh-CN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第三步</a:t>
            </a:r>
            <a:r>
              <a:rPr kumimoji="1" lang="en-US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r>
              <a:rPr kumimoji="1"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若小于中值则在中值前面找，若大于中值则在中值后面找，等于中值时直接返回</a:t>
            </a:r>
            <a:endParaRPr kumimoji="1" lang="zh-CN" altLang="en-US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755576" y="-1028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二分查找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递归版本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实现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755576" y="774905"/>
            <a:ext cx="4680520" cy="378565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def </a:t>
            </a:r>
            <a:r>
              <a:rPr lang="en-GB" altLang="zh-CN" sz="1200" dirty="0" err="1">
                <a:solidFill>
                  <a:srgbClr val="00627A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binary_search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alist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item):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"""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二分查找</a:t>
            </a:r>
            <a:r>
              <a:rPr lang="en-US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"""</a:t>
            </a:r>
            <a:br>
              <a:rPr lang="en-US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US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US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#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数列的长度</a:t>
            </a:r>
            <a:b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 = </a:t>
            </a:r>
            <a:r>
              <a:rPr lang="en-GB" altLang="zh-CN" sz="1200" dirty="0" err="1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len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alist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递归的结束条件</a:t>
            </a:r>
            <a:b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if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 == 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return False</a:t>
            </a:r>
            <a:b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中间值下标 对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进行整数</a:t>
            </a:r>
            <a:b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mid = n//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b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if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item ==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alist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[mid]: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return True</a:t>
            </a:r>
            <a:b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 err="1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elif</a:t>
            </a: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item &lt;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alist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[mid]: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return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binary_search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alist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[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:mid], item)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 err="1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elif</a:t>
            </a: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item &gt;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alist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[mid]: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    </a:t>
            </a:r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return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binary_search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alist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[mid + 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:], item)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63022" y="771550"/>
            <a:ext cx="3329458" cy="120032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if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__name__ == 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'__main__'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测试</a:t>
            </a:r>
            <a:r>
              <a:rPr lang="en-US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1: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要查找的数字</a:t>
            </a:r>
            <a:r>
              <a:rPr lang="en-US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70</a:t>
            </a:r>
            <a:br>
              <a:rPr lang="en-US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US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alist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[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8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22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31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32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44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55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56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70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78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]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result =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binary_search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alist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70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(result)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755576" y="-1028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二分查找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非递归版本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–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实现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" name="TextBox 3"/>
          <p:cNvSpPr txBox="1"/>
          <p:nvPr/>
        </p:nvSpPr>
        <p:spPr>
          <a:xfrm>
            <a:off x="539552" y="774905"/>
            <a:ext cx="4896544" cy="396938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en-GB" sz="1200" dirty="0" err="1">
                <a:solidFill>
                  <a:srgbClr val="0033B3"/>
                </a:solidFill>
                <a:effectLst/>
              </a:rPr>
              <a:t>d</a:t>
            </a:r>
            <a:r>
              <a:rPr lang="en-GB" altLang="zh-CN" sz="1200" dirty="0" err="1">
                <a:solidFill>
                  <a:srgbClr val="0033B3"/>
                </a:solidFill>
                <a:effectLst/>
              </a:rPr>
              <a:t>ef</a:t>
            </a:r>
            <a:r>
              <a:rPr lang="en-GB" altLang="zh-CN" sz="1200" dirty="0">
                <a:solidFill>
                  <a:srgbClr val="0033B3"/>
                </a:solidFill>
                <a:effectLst/>
              </a:rPr>
              <a:t> </a:t>
            </a:r>
            <a:r>
              <a:rPr lang="en-GB" altLang="zh-CN" sz="1200" dirty="0" err="1">
                <a:solidFill>
                  <a:srgbClr val="00627A"/>
                </a:solidFill>
                <a:effectLst/>
              </a:rPr>
              <a:t>binary_search</a:t>
            </a:r>
            <a:r>
              <a:rPr lang="en-GB" altLang="zh-CN" sz="1200" dirty="0"/>
              <a:t>(</a:t>
            </a:r>
            <a:r>
              <a:rPr lang="en-GB" altLang="zh-CN" sz="1200" dirty="0" err="1"/>
              <a:t>alist</a:t>
            </a:r>
            <a:r>
              <a:rPr lang="en-GB" altLang="zh-CN" sz="1200" dirty="0"/>
              <a:t>, item):</a:t>
            </a:r>
            <a:br>
              <a:rPr lang="en-GB" altLang="zh-CN" sz="1200" dirty="0"/>
            </a:br>
            <a:r>
              <a:rPr lang="en-GB" altLang="zh-CN" sz="1200" dirty="0"/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# 1 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设置初始化搜素空间 起始位置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start 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结束位置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end</a:t>
            </a:r>
            <a:br>
              <a:rPr lang="en-GB" altLang="zh-CN" sz="1200" i="1" dirty="0">
                <a:solidFill>
                  <a:srgbClr val="8C8C8C"/>
                </a:solidFill>
                <a:effectLst/>
              </a:rPr>
            </a:br>
            <a:r>
              <a:rPr lang="en-GB" altLang="zh-CN" sz="12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200" dirty="0"/>
              <a:t>start = </a:t>
            </a:r>
            <a:r>
              <a:rPr lang="en-GB" altLang="zh-CN" sz="1200" dirty="0">
                <a:solidFill>
                  <a:srgbClr val="1750EB"/>
                </a:solidFill>
                <a:effectLst/>
              </a:rPr>
              <a:t>0</a:t>
            </a:r>
            <a:br>
              <a:rPr lang="en-GB" altLang="zh-CN" sz="1200" dirty="0">
                <a:solidFill>
                  <a:srgbClr val="1750EB"/>
                </a:solidFill>
                <a:effectLst/>
              </a:rPr>
            </a:br>
            <a:r>
              <a:rPr lang="en-GB" altLang="zh-CN" sz="1200" dirty="0">
                <a:solidFill>
                  <a:srgbClr val="1750EB"/>
                </a:solidFill>
                <a:effectLst/>
              </a:rPr>
              <a:t>    </a:t>
            </a:r>
            <a:r>
              <a:rPr lang="en-GB" altLang="zh-CN" sz="1200" dirty="0"/>
              <a:t>end = </a:t>
            </a:r>
            <a:r>
              <a:rPr lang="en-GB" altLang="zh-CN" sz="1200" dirty="0" err="1">
                <a:solidFill>
                  <a:srgbClr val="000080"/>
                </a:solidFill>
                <a:effectLst/>
              </a:rPr>
              <a:t>len</a:t>
            </a:r>
            <a:r>
              <a:rPr lang="en-GB" altLang="zh-CN" sz="1200" dirty="0"/>
              <a:t>(</a:t>
            </a:r>
            <a:r>
              <a:rPr lang="en-GB" altLang="zh-CN" sz="1200" dirty="0" err="1"/>
              <a:t>alist</a:t>
            </a:r>
            <a:r>
              <a:rPr lang="en-GB" altLang="zh-CN" sz="1200" dirty="0"/>
              <a:t>)-</a:t>
            </a:r>
            <a:r>
              <a:rPr lang="en-GB" altLang="zh-CN" sz="1200" dirty="0">
                <a:solidFill>
                  <a:srgbClr val="1750EB"/>
                </a:solidFill>
                <a:effectLst/>
              </a:rPr>
              <a:t>1</a:t>
            </a:r>
            <a:br>
              <a:rPr lang="en-GB" altLang="zh-CN" sz="1200" dirty="0">
                <a:solidFill>
                  <a:srgbClr val="1750EB"/>
                </a:solidFill>
                <a:effectLst/>
              </a:rPr>
            </a:br>
            <a:br>
              <a:rPr lang="en-GB" altLang="zh-CN" sz="1200" dirty="0">
                <a:solidFill>
                  <a:srgbClr val="1750EB"/>
                </a:solidFill>
                <a:effectLst/>
              </a:rPr>
            </a:br>
            <a:r>
              <a:rPr lang="en-GB" altLang="zh-CN" sz="1200" dirty="0">
                <a:solidFill>
                  <a:srgbClr val="1750EB"/>
                </a:solidFill>
                <a:effectLst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# 2 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循环检索</a:t>
            </a:r>
            <a:br>
              <a:rPr lang="zh-CN" altLang="en-US" sz="1200" i="1" dirty="0">
                <a:solidFill>
                  <a:srgbClr val="8C8C8C"/>
                </a:solidFill>
                <a:effectLst/>
              </a:rPr>
            </a:br>
            <a:r>
              <a:rPr lang="zh-CN" altLang="en-US" sz="1200" i="1" dirty="0">
                <a:solidFill>
                  <a:srgbClr val="8C8C8C"/>
                </a:solidFill>
                <a:effectLst/>
              </a:rPr>
              <a:t>    </a:t>
            </a:r>
            <a:r>
              <a:rPr lang="en-US" altLang="zh-CN" sz="1200" i="1" dirty="0">
                <a:solidFill>
                  <a:srgbClr val="8C8C8C"/>
                </a:solidFill>
                <a:effectLst/>
              </a:rPr>
              <a:t># 2-1 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获取中间值索引 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mid / (</a:t>
            </a:r>
            <a:r>
              <a:rPr lang="en-GB" altLang="zh-CN" sz="1200" i="1" dirty="0" err="1">
                <a:solidFill>
                  <a:srgbClr val="8C8C8C"/>
                </a:solidFill>
                <a:effectLst/>
              </a:rPr>
              <a:t>start+end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)//2</a:t>
            </a:r>
            <a:br>
              <a:rPr lang="en-GB" altLang="zh-CN" sz="1200" i="1" dirty="0">
                <a:solidFill>
                  <a:srgbClr val="8C8C8C"/>
                </a:solidFill>
                <a:effectLst/>
              </a:rPr>
            </a:br>
            <a:r>
              <a:rPr lang="en-GB" altLang="zh-CN" sz="1200" i="1" dirty="0">
                <a:solidFill>
                  <a:srgbClr val="8C8C8C"/>
                </a:solidFill>
                <a:effectLst/>
              </a:rPr>
              <a:t>    # 2-2 item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等于中间值 返回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True</a:t>
            </a:r>
            <a:br>
              <a:rPr lang="en-GB" altLang="zh-CN" sz="1200" i="1" dirty="0">
                <a:solidFill>
                  <a:srgbClr val="8C8C8C"/>
                </a:solidFill>
                <a:effectLst/>
              </a:rPr>
            </a:br>
            <a:r>
              <a:rPr lang="en-GB" altLang="zh-CN" sz="1200" i="1" dirty="0">
                <a:solidFill>
                  <a:srgbClr val="8C8C8C"/>
                </a:solidFill>
                <a:effectLst/>
              </a:rPr>
              <a:t>    # 2-3 item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小于中间值 在前半部空间搜索 修改搜索空间 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end /mid - 1</a:t>
            </a:r>
            <a:br>
              <a:rPr lang="en-GB" altLang="zh-CN" sz="1200" i="1" dirty="0">
                <a:solidFill>
                  <a:srgbClr val="8C8C8C"/>
                </a:solidFill>
                <a:effectLst/>
              </a:rPr>
            </a:br>
            <a:r>
              <a:rPr lang="en-GB" altLang="zh-CN" sz="1200" i="1" dirty="0">
                <a:solidFill>
                  <a:srgbClr val="8C8C8C"/>
                </a:solidFill>
                <a:effectLst/>
              </a:rPr>
              <a:t>    # 2-4 item</a:t>
            </a:r>
            <a:r>
              <a:rPr lang="zh-CN" altLang="en-US" sz="1200" i="1" dirty="0">
                <a:solidFill>
                  <a:srgbClr val="8C8C8C"/>
                </a:solidFill>
                <a:effectLst/>
              </a:rPr>
              <a:t>大于中间值 在后半部空间搜索 修改搜索空间 </a:t>
            </a:r>
            <a:r>
              <a:rPr lang="en-GB" altLang="zh-CN" sz="1200" i="1" dirty="0">
                <a:solidFill>
                  <a:srgbClr val="8C8C8C"/>
                </a:solidFill>
                <a:effectLst/>
              </a:rPr>
              <a:t>start /mid + 1</a:t>
            </a:r>
            <a:br>
              <a:rPr lang="en-GB" altLang="zh-CN" sz="1200" i="1" dirty="0">
                <a:solidFill>
                  <a:srgbClr val="8C8C8C"/>
                </a:solidFill>
                <a:effectLst/>
              </a:rPr>
            </a:br>
            <a:r>
              <a:rPr lang="en-GB" altLang="zh-CN" sz="1200" i="1" dirty="0">
                <a:solidFill>
                  <a:srgbClr val="8C8C8C"/>
                </a:solidFill>
                <a:effectLst/>
              </a:rPr>
              <a:t>    </a:t>
            </a:r>
            <a:r>
              <a:rPr lang="en-GB" altLang="zh-CN" sz="1200" dirty="0">
                <a:solidFill>
                  <a:srgbClr val="0033B3"/>
                </a:solidFill>
                <a:effectLst/>
              </a:rPr>
              <a:t>while </a:t>
            </a:r>
            <a:r>
              <a:rPr lang="en-GB" altLang="zh-CN" sz="1200" dirty="0"/>
              <a:t>start &lt;= end:</a:t>
            </a:r>
            <a:br>
              <a:rPr lang="en-GB" altLang="zh-CN" sz="1200" dirty="0"/>
            </a:br>
            <a:r>
              <a:rPr lang="en-GB" altLang="zh-CN" sz="1200" dirty="0"/>
              <a:t>        mid = (</a:t>
            </a:r>
            <a:r>
              <a:rPr lang="en-GB" altLang="zh-CN" sz="1200" dirty="0" err="1"/>
              <a:t>start+end</a:t>
            </a:r>
            <a:r>
              <a:rPr lang="en-GB" altLang="zh-CN" sz="1200" dirty="0"/>
              <a:t>) // </a:t>
            </a:r>
            <a:r>
              <a:rPr lang="en-GB" altLang="zh-CN" sz="1200" dirty="0">
                <a:solidFill>
                  <a:srgbClr val="1750EB"/>
                </a:solidFill>
                <a:effectLst/>
              </a:rPr>
              <a:t>2</a:t>
            </a:r>
            <a:br>
              <a:rPr lang="en-GB" altLang="zh-CN" sz="1200" dirty="0">
                <a:solidFill>
                  <a:srgbClr val="1750EB"/>
                </a:solidFill>
                <a:effectLst/>
              </a:rPr>
            </a:br>
            <a:br>
              <a:rPr lang="en-GB" altLang="zh-CN" sz="1200" dirty="0">
                <a:solidFill>
                  <a:srgbClr val="1750EB"/>
                </a:solidFill>
                <a:effectLst/>
              </a:rPr>
            </a:br>
            <a:r>
              <a:rPr lang="en-GB" altLang="zh-CN" sz="1200" dirty="0">
                <a:solidFill>
                  <a:srgbClr val="1750EB"/>
                </a:solidFill>
                <a:effectLst/>
              </a:rPr>
              <a:t>        </a:t>
            </a:r>
            <a:r>
              <a:rPr lang="en-GB" altLang="zh-CN" sz="1200" dirty="0">
                <a:solidFill>
                  <a:srgbClr val="0033B3"/>
                </a:solidFill>
                <a:effectLst/>
              </a:rPr>
              <a:t>if </a:t>
            </a:r>
            <a:r>
              <a:rPr lang="en-GB" altLang="zh-CN" sz="1200" dirty="0"/>
              <a:t>item == </a:t>
            </a:r>
            <a:r>
              <a:rPr lang="en-GB" altLang="zh-CN" sz="1200" dirty="0" err="1"/>
              <a:t>alist</a:t>
            </a:r>
            <a:r>
              <a:rPr lang="en-GB" altLang="zh-CN" sz="1200" dirty="0"/>
              <a:t>[mid]:</a:t>
            </a:r>
            <a:br>
              <a:rPr lang="en-GB" altLang="zh-CN" sz="1200" dirty="0"/>
            </a:br>
            <a:r>
              <a:rPr lang="en-GB" altLang="zh-CN" sz="1200" dirty="0"/>
              <a:t>            </a:t>
            </a:r>
            <a:r>
              <a:rPr lang="en-GB" altLang="zh-CN" sz="1200" dirty="0">
                <a:solidFill>
                  <a:srgbClr val="0033B3"/>
                </a:solidFill>
                <a:effectLst/>
              </a:rPr>
              <a:t>return True</a:t>
            </a:r>
            <a:br>
              <a:rPr lang="en-GB" altLang="zh-CN" sz="1200" dirty="0">
                <a:solidFill>
                  <a:srgbClr val="0033B3"/>
                </a:solidFill>
                <a:effectLst/>
              </a:rPr>
            </a:br>
            <a:r>
              <a:rPr lang="en-GB" altLang="zh-CN" sz="1200" dirty="0">
                <a:solidFill>
                  <a:srgbClr val="0033B3"/>
                </a:solidFill>
                <a:effectLst/>
              </a:rPr>
              <a:t>        </a:t>
            </a:r>
            <a:r>
              <a:rPr lang="en-GB" altLang="zh-CN" sz="1200" dirty="0" err="1">
                <a:solidFill>
                  <a:srgbClr val="0033B3"/>
                </a:solidFill>
                <a:effectLst/>
              </a:rPr>
              <a:t>elif</a:t>
            </a:r>
            <a:r>
              <a:rPr lang="en-GB" altLang="zh-CN" sz="1200" dirty="0">
                <a:solidFill>
                  <a:srgbClr val="0033B3"/>
                </a:solidFill>
                <a:effectLst/>
              </a:rPr>
              <a:t> </a:t>
            </a:r>
            <a:r>
              <a:rPr lang="en-GB" altLang="zh-CN" sz="1200" dirty="0"/>
              <a:t>item &lt; </a:t>
            </a:r>
            <a:r>
              <a:rPr lang="en-GB" altLang="zh-CN" sz="1200" dirty="0" err="1"/>
              <a:t>alist</a:t>
            </a:r>
            <a:r>
              <a:rPr lang="en-GB" altLang="zh-CN" sz="1200" dirty="0"/>
              <a:t>[mid]:</a:t>
            </a:r>
            <a:br>
              <a:rPr lang="en-GB" altLang="zh-CN" sz="1200" dirty="0"/>
            </a:br>
            <a:r>
              <a:rPr lang="en-GB" altLang="zh-CN" sz="1200" dirty="0"/>
              <a:t>            end = mid - </a:t>
            </a:r>
            <a:r>
              <a:rPr lang="en-GB" altLang="zh-CN" sz="1200" dirty="0">
                <a:solidFill>
                  <a:srgbClr val="1750EB"/>
                </a:solidFill>
                <a:effectLst/>
              </a:rPr>
              <a:t>1</a:t>
            </a:r>
            <a:br>
              <a:rPr lang="en-GB" altLang="zh-CN" sz="1200" dirty="0">
                <a:solidFill>
                  <a:srgbClr val="1750EB"/>
                </a:solidFill>
                <a:effectLst/>
              </a:rPr>
            </a:br>
            <a:r>
              <a:rPr lang="en-GB" altLang="zh-CN" sz="1200" dirty="0">
                <a:solidFill>
                  <a:srgbClr val="1750EB"/>
                </a:solidFill>
                <a:effectLst/>
              </a:rPr>
              <a:t>        </a:t>
            </a:r>
            <a:r>
              <a:rPr lang="en-GB" altLang="zh-CN" sz="1200" dirty="0" err="1">
                <a:solidFill>
                  <a:srgbClr val="0033B3"/>
                </a:solidFill>
                <a:effectLst/>
              </a:rPr>
              <a:t>elif</a:t>
            </a:r>
            <a:r>
              <a:rPr lang="en-GB" altLang="zh-CN" sz="1200" dirty="0">
                <a:solidFill>
                  <a:srgbClr val="0033B3"/>
                </a:solidFill>
                <a:effectLst/>
              </a:rPr>
              <a:t> </a:t>
            </a:r>
            <a:r>
              <a:rPr lang="en-GB" altLang="zh-CN" sz="1200" dirty="0"/>
              <a:t>item &gt; </a:t>
            </a:r>
            <a:r>
              <a:rPr lang="en-GB" altLang="zh-CN" sz="1200" dirty="0" err="1"/>
              <a:t>alist</a:t>
            </a:r>
            <a:r>
              <a:rPr lang="en-GB" altLang="zh-CN" sz="1200" dirty="0"/>
              <a:t>[mid]:</a:t>
            </a:r>
            <a:br>
              <a:rPr lang="en-GB" altLang="zh-CN" sz="1200" dirty="0"/>
            </a:br>
            <a:r>
              <a:rPr lang="en-GB" altLang="zh-CN" sz="1200" dirty="0"/>
              <a:t>            start = mid + </a:t>
            </a:r>
            <a:r>
              <a:rPr lang="en-GB" altLang="zh-CN" sz="1200" dirty="0">
                <a:solidFill>
                  <a:srgbClr val="1750EB"/>
                </a:solidFill>
                <a:effectLst/>
              </a:rPr>
              <a:t>1</a:t>
            </a:r>
            <a:br>
              <a:rPr lang="en-GB" altLang="zh-CN" sz="1200" dirty="0">
                <a:solidFill>
                  <a:srgbClr val="1750EB"/>
                </a:solidFill>
                <a:effectLst/>
              </a:rPr>
            </a:br>
            <a:br>
              <a:rPr lang="en-GB" altLang="zh-CN" sz="1200" dirty="0">
                <a:solidFill>
                  <a:srgbClr val="1750EB"/>
                </a:solidFill>
                <a:effectLst/>
              </a:rPr>
            </a:br>
            <a:r>
              <a:rPr lang="en-GB" altLang="zh-CN" sz="1200" dirty="0">
                <a:solidFill>
                  <a:srgbClr val="1750EB"/>
                </a:solidFill>
                <a:effectLst/>
              </a:rPr>
              <a:t>    </a:t>
            </a:r>
            <a:r>
              <a:rPr lang="en-GB" altLang="zh-CN" sz="1200" dirty="0">
                <a:solidFill>
                  <a:srgbClr val="0033B3"/>
                </a:solidFill>
                <a:effectLst/>
              </a:rPr>
              <a:t>return False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63022" y="771550"/>
            <a:ext cx="3257450" cy="120032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GB" altLang="zh-CN" sz="1200" dirty="0">
                <a:solidFill>
                  <a:srgbClr val="0033B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if 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__name__ == </a:t>
            </a:r>
            <a:r>
              <a:rPr lang="en-GB" altLang="zh-CN" sz="1200" dirty="0">
                <a:solidFill>
                  <a:srgbClr val="067D17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'__main__'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测试</a:t>
            </a:r>
            <a:r>
              <a:rPr lang="en-US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1: </a:t>
            </a:r>
            <a:r>
              <a:rPr lang="zh-CN" altLang="en-US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要查找的数字</a:t>
            </a:r>
            <a:r>
              <a:rPr lang="en-US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70</a:t>
            </a:r>
            <a:br>
              <a:rPr lang="en-US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US" altLang="zh-CN" sz="1200" i="1" dirty="0">
                <a:solidFill>
                  <a:srgbClr val="8C8C8C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alist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[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8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22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31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32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44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55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56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70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78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]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result = 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binary_search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2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alist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200" dirty="0">
                <a:solidFill>
                  <a:srgbClr val="1750EB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70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2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(result)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libaba PuHuiTi" pitchFamily="18" charset="-122"/>
              <a:ea typeface="Alibaba PuHuiTi" pitchFamily="18" charset="-122"/>
              <a:cs typeface="Alibaba PuHuiTi" pitchFamily="18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标题占位符 1"/>
          <p:cNvSpPr txBox="1">
            <a:spLocks noChangeArrowheads="1"/>
          </p:cNvSpPr>
          <p:nvPr/>
        </p:nvSpPr>
        <p:spPr bwMode="auto">
          <a:xfrm>
            <a:off x="755576" y="-10280"/>
            <a:ext cx="5383213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</a:pPr>
            <a:r>
              <a:rPr lang="zh-CN" altLang="en-US" sz="2400" b="1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二分查找</a:t>
            </a:r>
            <a:r>
              <a:rPr lang="en-US" altLang="zh-CN" sz="2400" b="1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</a:t>
            </a:r>
            <a:r>
              <a:rPr lang="zh-CN" altLang="en-US" sz="2400" b="1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递归版本</a:t>
            </a:r>
            <a:endParaRPr lang="en-US" altLang="zh-CN" sz="2400" b="1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62026" y="799345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b="1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为什么用顺序表</a:t>
            </a:r>
            <a:endParaRPr kumimoji="1" lang="zh-CN" altLang="en-US" b="1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027275" y="1540284"/>
            <a:ext cx="432048" cy="432048"/>
          </a:xfrm>
          <a:prstGeom prst="rect">
            <a:avLst/>
          </a:prstGeom>
          <a:solidFill>
            <a:schemeClr val="accent1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endParaRPr kumimoji="1" lang="zh-CN" altLang="en-US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675348" y="1540284"/>
            <a:ext cx="432048" cy="432048"/>
          </a:xfrm>
          <a:prstGeom prst="rect">
            <a:avLst/>
          </a:prstGeom>
          <a:solidFill>
            <a:schemeClr val="accent1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endParaRPr kumimoji="1" lang="zh-CN" altLang="en-US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323421" y="1540284"/>
            <a:ext cx="432048" cy="432048"/>
          </a:xfrm>
          <a:prstGeom prst="rect">
            <a:avLst/>
          </a:prstGeom>
          <a:solidFill>
            <a:schemeClr val="accent1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</a:t>
            </a:r>
            <a:endParaRPr kumimoji="1" lang="zh-CN" altLang="en-US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971494" y="1540284"/>
            <a:ext cx="432048" cy="432048"/>
          </a:xfrm>
          <a:prstGeom prst="rect">
            <a:avLst/>
          </a:prstGeom>
          <a:solidFill>
            <a:schemeClr val="accent1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5</a:t>
            </a:r>
            <a:endParaRPr kumimoji="1" lang="zh-CN" altLang="en-US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595783" y="1540284"/>
            <a:ext cx="432048" cy="432048"/>
          </a:xfrm>
          <a:prstGeom prst="rect">
            <a:avLst/>
          </a:prstGeom>
          <a:solidFill>
            <a:schemeClr val="accent1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7</a:t>
            </a:r>
            <a:endParaRPr kumimoji="1" lang="zh-CN" altLang="en-US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220072" y="1540284"/>
            <a:ext cx="432048" cy="432048"/>
          </a:xfrm>
          <a:prstGeom prst="rect">
            <a:avLst/>
          </a:prstGeom>
          <a:solidFill>
            <a:schemeClr val="accent1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8</a:t>
            </a:r>
            <a:endParaRPr kumimoji="1" lang="zh-CN" altLang="en-US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905604" y="1540284"/>
            <a:ext cx="432048" cy="432048"/>
          </a:xfrm>
          <a:prstGeom prst="rect">
            <a:avLst/>
          </a:prstGeom>
          <a:solidFill>
            <a:schemeClr val="accent1"/>
          </a:solidFill>
          <a:ln w="889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10</a:t>
            </a:r>
            <a:endParaRPr kumimoji="1" lang="zh-CN" altLang="en-US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6" name="上箭头 15"/>
          <p:cNvSpPr/>
          <p:nvPr/>
        </p:nvSpPr>
        <p:spPr>
          <a:xfrm>
            <a:off x="2220439" y="2208148"/>
            <a:ext cx="45719" cy="610985"/>
          </a:xfrm>
          <a:prstGeom prst="upArrow">
            <a:avLst/>
          </a:pr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8" name="上箭头 17"/>
          <p:cNvSpPr/>
          <p:nvPr/>
        </p:nvSpPr>
        <p:spPr>
          <a:xfrm>
            <a:off x="6129539" y="2208147"/>
            <a:ext cx="45719" cy="610985"/>
          </a:xfrm>
          <a:prstGeom prst="upArrow">
            <a:avLst/>
          </a:pr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9" name="上箭头 18"/>
          <p:cNvSpPr/>
          <p:nvPr/>
        </p:nvSpPr>
        <p:spPr>
          <a:xfrm>
            <a:off x="4174989" y="2208146"/>
            <a:ext cx="45719" cy="610985"/>
          </a:xfrm>
          <a:prstGeom prst="upArrow">
            <a:avLst/>
          </a:prstGeom>
          <a:noFill/>
          <a:ln w="889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983451" y="2946842"/>
            <a:ext cx="5196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start</a:t>
            </a:r>
            <a:endParaRPr kumimoji="1" lang="zh-CN" altLang="en-US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961157" y="2946841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end</a:t>
            </a:r>
            <a:endParaRPr kumimoji="1" lang="zh-CN" altLang="en-US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997952" y="2946841"/>
            <a:ext cx="468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mid</a:t>
            </a:r>
            <a:endParaRPr kumimoji="1" lang="zh-CN" altLang="en-US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2026" y="3967518"/>
            <a:ext cx="45736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①必须采用</a:t>
            </a:r>
            <a:r>
              <a:rPr lang="zh-CN" altLang="en-US" sz="1200" dirty="0">
                <a:solidFill>
                  <a:srgbClr val="FF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顺序存储结构  </a:t>
            </a: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（直接地址偏移就可以检索到数值 </a:t>
            </a:r>
            <a:r>
              <a:rPr lang="en-US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O(1)</a:t>
            </a: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endParaRPr lang="en-US" altLang="zh-CN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②必须按关键字大小</a:t>
            </a:r>
            <a:r>
              <a:rPr lang="zh-CN" altLang="en-US" sz="1200" dirty="0">
                <a:solidFill>
                  <a:srgbClr val="FF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有序排列</a:t>
            </a:r>
            <a:endParaRPr kumimoji="1" lang="zh-CN" altLang="en-US" sz="1200" dirty="0">
              <a:solidFill>
                <a:srgbClr val="FF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 txBox="1">
            <a:spLocks noChangeArrowheads="1"/>
          </p:cNvSpPr>
          <p:nvPr/>
        </p:nvSpPr>
        <p:spPr bwMode="auto">
          <a:xfrm>
            <a:off x="628650" y="-19050"/>
            <a:ext cx="394335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>
              <a:defRPr/>
            </a:pPr>
            <a:r>
              <a:rPr lang="zh-CN" altLang="en-US" sz="2400" b="1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总结</a:t>
            </a:r>
            <a:endParaRPr lang="zh-TW" altLang="zh-CN" sz="2400" b="1" kern="0" dirty="0">
              <a:solidFill>
                <a:schemeClr val="tx1">
                  <a:lumMod val="65000"/>
                  <a:lumOff val="3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" name="矩形 2"/>
          <p:cNvSpPr/>
          <p:nvPr/>
        </p:nvSpPr>
        <p:spPr>
          <a:xfrm rot="2700000">
            <a:off x="1363663" y="1519238"/>
            <a:ext cx="1544637" cy="1544637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4" name="矩形 3"/>
          <p:cNvSpPr/>
          <p:nvPr/>
        </p:nvSpPr>
        <p:spPr>
          <a:xfrm rot="2700000">
            <a:off x="1147763" y="1511300"/>
            <a:ext cx="1544638" cy="154463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5" name="标题占位符 1"/>
          <p:cNvSpPr txBox="1">
            <a:spLocks noChangeArrowheads="1"/>
          </p:cNvSpPr>
          <p:nvPr/>
        </p:nvSpPr>
        <p:spPr bwMode="auto">
          <a:xfrm>
            <a:off x="22225" y="1924050"/>
            <a:ext cx="3829050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3600" kern="0" dirty="0">
                <a:solidFill>
                  <a:schemeClr val="bg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总结</a:t>
            </a:r>
            <a:endParaRPr lang="zh-TW" altLang="zh-CN" sz="3600" kern="0" dirty="0">
              <a:solidFill>
                <a:schemeClr val="bg1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635896" y="1605766"/>
            <a:ext cx="38779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二分查找又称</a:t>
            </a:r>
            <a:r>
              <a:rPr lang="zh-CN" altLang="en-US" sz="1200" dirty="0">
                <a:solidFill>
                  <a:srgbClr val="FF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折半查找</a:t>
            </a: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，它是一种效率较高的</a:t>
            </a:r>
            <a:r>
              <a:rPr lang="zh-CN" altLang="en-US" sz="1200" dirty="0">
                <a:solidFill>
                  <a:srgbClr val="FF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查找方法</a:t>
            </a:r>
            <a:endParaRPr kumimoji="1" lang="zh-CN" altLang="en-US" sz="1200" dirty="0">
              <a:solidFill>
                <a:srgbClr val="FF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635896" y="2283618"/>
            <a:ext cx="2185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二分查找要求：</a:t>
            </a:r>
            <a:endParaRPr lang="en-US" altLang="zh-CN" sz="12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①必须采用</a:t>
            </a:r>
            <a:r>
              <a:rPr lang="zh-CN" altLang="en-US" sz="1200" dirty="0">
                <a:solidFill>
                  <a:srgbClr val="FF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顺序存储结构 </a:t>
            </a:r>
            <a:endParaRPr lang="en-US" altLang="zh-CN" sz="1200" dirty="0">
              <a:solidFill>
                <a:srgbClr val="FF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②必须按关键字大小</a:t>
            </a:r>
            <a:r>
              <a:rPr lang="zh-CN" altLang="en-US" sz="1200" dirty="0">
                <a:solidFill>
                  <a:srgbClr val="FF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有序排列</a:t>
            </a:r>
            <a:endParaRPr kumimoji="1" lang="zh-CN" altLang="en-US" sz="1200" dirty="0">
              <a:solidFill>
                <a:srgbClr val="FF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635896" y="3235498"/>
            <a:ext cx="19303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最差时间复杂度</a:t>
            </a:r>
            <a:r>
              <a:rPr kumimoji="1" lang="en-US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r>
              <a:rPr kumimoji="1"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sz="1200" dirty="0">
                <a:solidFill>
                  <a:srgbClr val="FF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O(log</a:t>
            </a:r>
            <a:r>
              <a:rPr kumimoji="1" lang="zh-CN" altLang="en-US" sz="1200" dirty="0">
                <a:solidFill>
                  <a:srgbClr val="FF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sz="1200" dirty="0">
                <a:solidFill>
                  <a:srgbClr val="FF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n)</a:t>
            </a:r>
            <a:endParaRPr kumimoji="1" lang="en-US" altLang="zh-CN" sz="1200" dirty="0">
              <a:solidFill>
                <a:srgbClr val="FF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最优时间复杂度</a:t>
            </a:r>
            <a:r>
              <a:rPr kumimoji="1" lang="en-US" altLang="zh-CN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r>
              <a:rPr kumimoji="1" lang="zh-CN" altLang="en-US" sz="12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sz="1200" dirty="0">
                <a:solidFill>
                  <a:srgbClr val="FF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O(1)</a:t>
            </a:r>
            <a:endParaRPr kumimoji="1" lang="zh-CN" altLang="en-US" sz="1200" dirty="0">
              <a:solidFill>
                <a:srgbClr val="FF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ags/tag2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ags/tag3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8890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 fontAlgn="auto">
          <a:spcBef>
            <a:spcPts val="0"/>
          </a:spcBef>
          <a:spcAft>
            <a:spcPts val="0"/>
          </a:spcAft>
          <a:defRPr kumimoji="1" sz="1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1686</Words>
  <Application>WPS 演示</Application>
  <PresentationFormat>全屏显示(16:9)</PresentationFormat>
  <Paragraphs>108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</vt:lpstr>
      <vt:lpstr>宋体</vt:lpstr>
      <vt:lpstr>Wingdings</vt:lpstr>
      <vt:lpstr>Calibri</vt:lpstr>
      <vt:lpstr>黑体</vt:lpstr>
      <vt:lpstr>微软雅黑</vt:lpstr>
      <vt:lpstr>Segoe UI</vt:lpstr>
      <vt:lpstr>Alibaba PuHuiTi</vt:lpstr>
      <vt:lpstr>Segoe UI Light</vt:lpstr>
      <vt:lpstr>微软雅黑 Light</vt:lpstr>
      <vt:lpstr>Arial Unicode MS</vt:lpstr>
      <vt:lpstr>1_自定义设计方案</vt:lpstr>
      <vt:lpstr>自定义设计方案</vt:lpstr>
      <vt:lpstr>3_自定义设计方案</vt:lpstr>
      <vt:lpstr>2_自定义设计方案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</dc:creator>
  <cp:lastModifiedBy>老酒</cp:lastModifiedBy>
  <cp:revision>985</cp:revision>
  <dcterms:created xsi:type="dcterms:W3CDTF">2015-06-29T07:19:00Z</dcterms:created>
  <dcterms:modified xsi:type="dcterms:W3CDTF">2025-03-20T13:00:41Z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F8EFE0BB061B435094F96DB37FC5874B_12</vt:lpwstr>
  </property>
</Properties>
</file>