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0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59" r:id="rId5"/>
    <p:sldMasterId id="2147483662" r:id="rId6"/>
    <p:sldMasterId id="2147483664" r:id="rId7"/>
    <p:sldMasterId id="2147483681" r:id="rId8"/>
    <p:sldMasterId id="2147483683" r:id="rId9"/>
    <p:sldMasterId id="2147483701" r:id="rId10"/>
    <p:sldMasterId id="2147483719" r:id="rId11"/>
    <p:sldMasterId id="2147483722" r:id="rId12"/>
    <p:sldMasterId id="2147483725" r:id="rId13"/>
    <p:sldMasterId id="2147483728" r:id="rId14"/>
    <p:sldMasterId id="2147483731" r:id="rId15"/>
    <p:sldMasterId id="2147483734" r:id="rId16"/>
    <p:sldMasterId id="2147483737" r:id="rId17"/>
  </p:sldMasterIdLst>
  <p:notesMasterIdLst>
    <p:notesMasterId r:id="rId42"/>
  </p:notesMasterIdLst>
  <p:handoutMasterIdLst>
    <p:handoutMasterId r:id="rId71"/>
  </p:handoutMasterIdLst>
  <p:sldIdLst>
    <p:sldId id="1095" r:id="rId18"/>
    <p:sldId id="1935" r:id="rId19"/>
    <p:sldId id="1909" r:id="rId20"/>
    <p:sldId id="1910" r:id="rId21"/>
    <p:sldId id="1911" r:id="rId22"/>
    <p:sldId id="1913" r:id="rId23"/>
    <p:sldId id="1914" r:id="rId24"/>
    <p:sldId id="1912" r:id="rId25"/>
    <p:sldId id="1520" r:id="rId26"/>
    <p:sldId id="1521" r:id="rId27"/>
    <p:sldId id="1793" r:id="rId28"/>
    <p:sldId id="1697" r:id="rId29"/>
    <p:sldId id="1789" r:id="rId30"/>
    <p:sldId id="1915" r:id="rId31"/>
    <p:sldId id="1790" r:id="rId32"/>
    <p:sldId id="1916" r:id="rId33"/>
    <p:sldId id="1794" r:id="rId34"/>
    <p:sldId id="1917" r:id="rId35"/>
    <p:sldId id="1866" r:id="rId36"/>
    <p:sldId id="1695" r:id="rId37"/>
    <p:sldId id="1867" r:id="rId38"/>
    <p:sldId id="1796" r:id="rId39"/>
    <p:sldId id="1919" r:id="rId40"/>
    <p:sldId id="1797" r:id="rId41"/>
    <p:sldId id="1701" r:id="rId43"/>
    <p:sldId id="1715" r:id="rId44"/>
    <p:sldId id="1703" r:id="rId45"/>
    <p:sldId id="1920" r:id="rId46"/>
    <p:sldId id="1921" r:id="rId47"/>
    <p:sldId id="1870" r:id="rId48"/>
    <p:sldId id="1798" r:id="rId49"/>
    <p:sldId id="1705" r:id="rId50"/>
    <p:sldId id="1716" r:id="rId51"/>
    <p:sldId id="1707" r:id="rId52"/>
    <p:sldId id="1922" r:id="rId53"/>
    <p:sldId id="1927" r:id="rId54"/>
    <p:sldId id="1929" r:id="rId55"/>
    <p:sldId id="1928" r:id="rId56"/>
    <p:sldId id="1930" r:id="rId57"/>
    <p:sldId id="1931" r:id="rId58"/>
    <p:sldId id="1932" r:id="rId59"/>
    <p:sldId id="1933" r:id="rId60"/>
    <p:sldId id="1724" r:id="rId61"/>
    <p:sldId id="1934" r:id="rId62"/>
    <p:sldId id="1717" r:id="rId63"/>
    <p:sldId id="1711" r:id="rId64"/>
    <p:sldId id="1897" r:id="rId65"/>
    <p:sldId id="1898" r:id="rId66"/>
    <p:sldId id="1720" r:id="rId67"/>
    <p:sldId id="1802" r:id="rId68"/>
    <p:sldId id="1721" r:id="rId69"/>
    <p:sldId id="1696" r:id="rId70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400"/>
    <a:srgbClr val="49504F"/>
    <a:srgbClr val="B60206"/>
    <a:srgbClr val="AD2B2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5" autoAdjust="0"/>
    <p:restoredTop sz="95377" autoAdjust="0"/>
  </p:normalViewPr>
  <p:slideViewPr>
    <p:cSldViewPr snapToGrid="0">
      <p:cViewPr varScale="1">
        <p:scale>
          <a:sx n="119" d="100"/>
          <a:sy n="119" d="100"/>
        </p:scale>
        <p:origin x="21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5" Type="http://schemas.openxmlformats.org/officeDocument/2006/relationships/tags" Target="tags/tag3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handoutMaster" Target="handoutMasters/handoutMaster1.xml"/><Relationship Id="rId70" Type="http://schemas.openxmlformats.org/officeDocument/2006/relationships/slide" Target="slides/slide52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1.xml"/><Relationship Id="rId68" Type="http://schemas.openxmlformats.org/officeDocument/2006/relationships/slide" Target="slides/slide50.xml"/><Relationship Id="rId67" Type="http://schemas.openxmlformats.org/officeDocument/2006/relationships/slide" Target="slides/slide49.xml"/><Relationship Id="rId66" Type="http://schemas.openxmlformats.org/officeDocument/2006/relationships/slide" Target="slides/slide48.xml"/><Relationship Id="rId65" Type="http://schemas.openxmlformats.org/officeDocument/2006/relationships/slide" Target="slides/slide47.xml"/><Relationship Id="rId64" Type="http://schemas.openxmlformats.org/officeDocument/2006/relationships/slide" Target="slides/slide46.xml"/><Relationship Id="rId63" Type="http://schemas.openxmlformats.org/officeDocument/2006/relationships/slide" Target="slides/slide45.xml"/><Relationship Id="rId62" Type="http://schemas.openxmlformats.org/officeDocument/2006/relationships/slide" Target="slides/slide44.xml"/><Relationship Id="rId61" Type="http://schemas.openxmlformats.org/officeDocument/2006/relationships/slide" Target="slides/slide43.xml"/><Relationship Id="rId60" Type="http://schemas.openxmlformats.org/officeDocument/2006/relationships/slide" Target="slides/slide42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1.xml"/><Relationship Id="rId58" Type="http://schemas.openxmlformats.org/officeDocument/2006/relationships/slide" Target="slides/slide40.xml"/><Relationship Id="rId57" Type="http://schemas.openxmlformats.org/officeDocument/2006/relationships/slide" Target="slides/slide39.xml"/><Relationship Id="rId56" Type="http://schemas.openxmlformats.org/officeDocument/2006/relationships/slide" Target="slides/slide38.xml"/><Relationship Id="rId55" Type="http://schemas.openxmlformats.org/officeDocument/2006/relationships/slide" Target="slides/slide37.xml"/><Relationship Id="rId54" Type="http://schemas.openxmlformats.org/officeDocument/2006/relationships/slide" Target="slides/slide36.xml"/><Relationship Id="rId53" Type="http://schemas.openxmlformats.org/officeDocument/2006/relationships/slide" Target="slides/slide35.xml"/><Relationship Id="rId52" Type="http://schemas.openxmlformats.org/officeDocument/2006/relationships/slide" Target="slides/slide34.xml"/><Relationship Id="rId51" Type="http://schemas.openxmlformats.org/officeDocument/2006/relationships/slide" Target="slides/slide33.xml"/><Relationship Id="rId50" Type="http://schemas.openxmlformats.org/officeDocument/2006/relationships/slide" Target="slides/slide3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1.xml"/><Relationship Id="rId48" Type="http://schemas.openxmlformats.org/officeDocument/2006/relationships/slide" Target="slides/slide30.xml"/><Relationship Id="rId47" Type="http://schemas.openxmlformats.org/officeDocument/2006/relationships/slide" Target="slides/slide29.xml"/><Relationship Id="rId46" Type="http://schemas.openxmlformats.org/officeDocument/2006/relationships/slide" Target="slides/slide28.xml"/><Relationship Id="rId45" Type="http://schemas.openxmlformats.org/officeDocument/2006/relationships/slide" Target="slides/slide27.xml"/><Relationship Id="rId44" Type="http://schemas.openxmlformats.org/officeDocument/2006/relationships/slide" Target="slides/slide26.xml"/><Relationship Id="rId43" Type="http://schemas.openxmlformats.org/officeDocument/2006/relationships/slide" Target="slides/slide25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24.xml"/><Relationship Id="rId40" Type="http://schemas.openxmlformats.org/officeDocument/2006/relationships/slide" Target="slides/slide2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5" Type="http://schemas.openxmlformats.org/officeDocument/2006/relationships/slide" Target="slides/slide18.xml"/><Relationship Id="rId34" Type="http://schemas.openxmlformats.org/officeDocument/2006/relationships/slide" Target="slides/slide17.xml"/><Relationship Id="rId33" Type="http://schemas.openxmlformats.org/officeDocument/2006/relationships/slide" Target="slides/slide16.xml"/><Relationship Id="rId32" Type="http://schemas.openxmlformats.org/officeDocument/2006/relationships/slide" Target="slides/slide15.xml"/><Relationship Id="rId31" Type="http://schemas.openxmlformats.org/officeDocument/2006/relationships/slide" Target="slides/slide14.xml"/><Relationship Id="rId30" Type="http://schemas.openxmlformats.org/officeDocument/2006/relationships/slide" Target="slides/slide1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2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24" Type="http://schemas.openxmlformats.org/officeDocument/2006/relationships/slide" Target="slides/slide7.xml"/><Relationship Id="rId23" Type="http://schemas.openxmlformats.org/officeDocument/2006/relationships/slide" Target="slides/slide6.xml"/><Relationship Id="rId22" Type="http://schemas.openxmlformats.org/officeDocument/2006/relationships/slide" Target="slides/slide5.xml"/><Relationship Id="rId21" Type="http://schemas.openxmlformats.org/officeDocument/2006/relationships/slide" Target="slides/slide4.xml"/><Relationship Id="rId20" Type="http://schemas.openxmlformats.org/officeDocument/2006/relationships/slide" Target="slides/slide3.xml"/><Relationship Id="rId2" Type="http://schemas.openxmlformats.org/officeDocument/2006/relationships/theme" Target="theme/theme1.xml"/><Relationship Id="rId19" Type="http://schemas.openxmlformats.org/officeDocument/2006/relationships/slide" Target="slides/slide2.xml"/><Relationship Id="rId18" Type="http://schemas.openxmlformats.org/officeDocument/2006/relationships/slide" Target="slides/slide1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accent1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彩</a:t>
            </a:r>
            <a:r>
              <a:rPr lang="zh-CN" altLang="en-US" sz="3600" b="1" dirty="0">
                <a:solidFill>
                  <a:schemeClr val="accent3"/>
                </a:solidFill>
                <a:latin typeface="纤黑体" panose="02000000000000000000" charset="-122"/>
                <a:ea typeface="纤黑体" panose="02000000000000000000" charset="-122"/>
                <a:cs typeface="阿里巴巴普惠体" panose="00020600040101010101" pitchFamily="18" charset="-122"/>
              </a:rPr>
              <a:t>蛋</a:t>
            </a:r>
            <a:endParaRPr lang="zh-CN" altLang="en-US" sz="3600" b="1" dirty="0">
              <a:solidFill>
                <a:schemeClr val="accent3"/>
              </a:solidFill>
              <a:latin typeface="纤黑体" panose="02000000000000000000" charset="-122"/>
              <a:ea typeface="纤黑体" panose="02000000000000000000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9" Type="http://schemas.openxmlformats.org/officeDocument/2006/relationships/theme" Target="../theme/theme8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9" Type="http://schemas.openxmlformats.org/officeDocument/2006/relationships/theme" Target="../theme/theme9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15.xml.rels><?xml version="1.0" encoding="UTF-8" standalone="yes"?>
<Relationships xmlns="http://schemas.openxmlformats.org/package/2006/relationships"><Relationship Id="rId5" Type="http://schemas.openxmlformats.org/officeDocument/2006/relationships/theme" Target="../theme/theme15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7.xml"/><Relationship Id="rId22" Type="http://schemas.openxmlformats.org/officeDocument/2006/relationships/theme" Target="../theme/theme16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94.xml"/><Relationship Id="rId2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sv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8.png"/><Relationship Id="rId1" Type="http://schemas.openxmlformats.org/officeDocument/2006/relationships/tags" Target="../tags/tag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880745" y="2849245"/>
            <a:ext cx="10541000" cy="115887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Python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面向对象高级</a:t>
            </a:r>
            <a:endParaRPr kumimoji="1"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0304" y="821521"/>
            <a:ext cx="6451383" cy="5470638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定义类的几种语法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中的继承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         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概念、单继承、多继承、</a:t>
            </a:r>
            <a:r>
              <a:rPr lang="en-GB" altLang="zh-CN" sz="1600" dirty="0">
                <a:solidFill>
                  <a:schemeClr val="tx1"/>
                </a:solidFill>
                <a:sym typeface="+mn-ea"/>
              </a:rPr>
              <a:t>super</a:t>
            </a:r>
            <a:r>
              <a:rPr lang="zh-CN" altLang="en-GB" sz="1600" dirty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多层继承</a:t>
            </a:r>
            <a:endParaRPr lang="en-US" altLang="zh-CN" sz="1600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中的封装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          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概念、私有属性、私有方法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中的多态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</a:t>
            </a:r>
            <a:r>
              <a:rPr lang="zh-CN" altLang="en-US" sz="1600" dirty="0">
                <a:solidFill>
                  <a:schemeClr val="tx1"/>
                </a:solidFill>
              </a:rPr>
              <a:t>概念、成立条件、好处、抽象类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面向对象的其他特性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</a:t>
            </a:r>
            <a:r>
              <a:rPr lang="zh-CN" altLang="en-US" sz="1600" dirty="0">
                <a:solidFill>
                  <a:schemeClr val="tx1"/>
                </a:solidFill>
              </a:rPr>
              <a:t>对象属性、类属性、类方法、静态方法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147445"/>
            <a:ext cx="5973761" cy="4256405"/>
          </a:xfrm>
        </p:spPr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</a:rPr>
              <a:t>定义类的几种语法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          旧方法、新方法</a:t>
            </a:r>
            <a:endParaRPr lang="zh-CN" altLang="en-US" sz="1600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中的继承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中的封装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中的多态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面向对象的其他特性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9401" y="169768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/>
              <a:t>了解定义类的几种语法</a:t>
            </a:r>
            <a:endParaRPr lang="zh-CN" altLang="en-US" dirty="0"/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重点掌握定义类名(object)的语法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60782" y="1605223"/>
            <a:ext cx="7615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在</a:t>
            </a:r>
            <a:r>
              <a:rPr lang="zh-CN" sz="1600" dirty="0" err="1">
                <a:solidFill>
                  <a:srgbClr val="262626"/>
                </a:solidFill>
                <a:ea typeface="Alibaba PuHuiTi R" pitchFamily="18" charset="-122"/>
              </a:rPr>
              <a:t>之前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的学习过程中，我们都使用了这种定义类的语法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(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旧式类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)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：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方式1：类名</a:t>
            </a:r>
          </a:p>
        </p:txBody>
      </p:sp>
      <p:sp>
        <p:nvSpPr>
          <p:cNvPr id="19" name="TextBox 3"/>
          <p:cNvSpPr txBox="1"/>
          <p:nvPr/>
        </p:nvSpPr>
        <p:spPr>
          <a:xfrm>
            <a:off x="4668559" y="2175470"/>
            <a:ext cx="2154555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20141" y="3327357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13711" y="3327357"/>
            <a:ext cx="8218805" cy="4271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使用该方式来定义一个老师类。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2702454" y="4223304"/>
            <a:ext cx="4105784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定义教师类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Teacher: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10880" y="1548103"/>
            <a:ext cx="7615555" cy="426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在编写类时，也可以写成如下格式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(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旧式类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) 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：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方式</a:t>
            </a:r>
            <a:r>
              <a:rPr lang="en-US" altLang="zh-CN"/>
              <a:t>2</a:t>
            </a:r>
            <a:r>
              <a:t>：类名</a:t>
            </a:r>
            <a:r>
              <a:rPr lang="en-US" altLang="zh-CN"/>
              <a:t>()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820141" y="3327357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13711" y="3327357"/>
            <a:ext cx="8218805" cy="4271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使用该方式来定义一个老师类。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2713711" y="4342166"/>
            <a:ext cx="3346569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定义教师类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Teacher():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668559" y="2175470"/>
            <a:ext cx="2154555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10880" y="1645285"/>
            <a:ext cx="7615555" cy="426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此外，还有一种更为常见的定义类的语法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(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新式类</a:t>
            </a:r>
            <a:r>
              <a:rPr lang="en-US" altLang="zh-CN" sz="1600" dirty="0">
                <a:solidFill>
                  <a:srgbClr val="262626"/>
                </a:solidFill>
                <a:ea typeface="Alibaba PuHuiTi R" pitchFamily="18" charset="-122"/>
              </a:rPr>
              <a:t>) 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，如下：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方式</a:t>
            </a:r>
            <a:r>
              <a:rPr lang="en-US" altLang="zh-CN"/>
              <a:t>3</a:t>
            </a:r>
            <a:r>
              <a:t>：类名</a:t>
            </a:r>
            <a:r>
              <a:rPr lang="en-US" altLang="zh-CN"/>
              <a:t>(object)</a:t>
            </a:r>
            <a:endParaRPr lang="en-US" altLang="zh-CN"/>
          </a:p>
        </p:txBody>
      </p:sp>
      <p:sp>
        <p:nvSpPr>
          <p:cNvPr id="7" name="TextBox 3"/>
          <p:cNvSpPr txBox="1"/>
          <p:nvPr/>
        </p:nvSpPr>
        <p:spPr>
          <a:xfrm>
            <a:off x="2849409" y="4273124"/>
            <a:ext cx="3558297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定义教师类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Teacher(object):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20141" y="3327357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3711" y="3327357"/>
            <a:ext cx="8218805" cy="4271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使用该方式来定义一个老师类。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668559" y="2175470"/>
            <a:ext cx="2154555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782820" y="2080895"/>
            <a:ext cx="6506210" cy="2696210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dirty="0"/>
              <a:t>定义类的</a:t>
            </a:r>
            <a:r>
              <a:rPr lang="zh-CN" altLang="en-US" dirty="0"/>
              <a:t>三</a:t>
            </a:r>
            <a:r>
              <a:rPr lang="zh-CN" dirty="0"/>
              <a:t>种语法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2. 【</a:t>
            </a:r>
            <a:r>
              <a:rPr lang="zh-CN" altLang="en-US" dirty="0"/>
              <a:t>重点</a:t>
            </a:r>
            <a:r>
              <a:rPr lang="en-US" altLang="zh-CN" dirty="0"/>
              <a:t>】</a:t>
            </a:r>
            <a:r>
              <a:rPr lang="zh-CN" dirty="0"/>
              <a:t>类名</a:t>
            </a:r>
            <a:r>
              <a:rPr lang="en-US" altLang="zh-CN" dirty="0"/>
              <a:t>(object)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以后采用这种方式定义类</a:t>
            </a:r>
            <a:endParaRPr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4883028" y="2263152"/>
            <a:ext cx="2154555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1.class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类名：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lass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类名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Wingdings" panose="05000000000000000000" pitchFamily="2" charset="2"/>
              </a:rPr>
              <a:t>():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sz="16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230630"/>
            <a:ext cx="5973761" cy="4256405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定义类的几种语法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Python</a:t>
            </a:r>
            <a:r>
              <a:rPr lang="zh-CN" altLang="en-US" b="1" dirty="0">
                <a:solidFill>
                  <a:srgbClr val="C00000"/>
                </a:solidFill>
              </a:rPr>
              <a:t>中的继承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         概念、单继承、多继承、</a:t>
            </a:r>
            <a:r>
              <a:rPr lang="en-US" altLang="zh-CN" dirty="0">
                <a:solidFill>
                  <a:srgbClr val="C00000"/>
                </a:solidFill>
              </a:rPr>
              <a:t>super</a:t>
            </a:r>
            <a:r>
              <a:rPr lang="zh-CN" altLang="en-US" dirty="0">
                <a:solidFill>
                  <a:srgbClr val="C00000"/>
                </a:solidFill>
              </a:rPr>
              <a:t>、多层继承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中的封装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中的多态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面向对象的其他特性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9448" y="2376762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85073" y="1928069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/>
              <a:t>了解什么是继承</a:t>
            </a:r>
            <a:endParaRPr lang="zh-CN" altLang="en-US" dirty="0"/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知道什么是单继承和多继承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知道子类如何重写父类同名方法和属性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知道子类如何调用父类方法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/>
              <a:t>了解什么是多层继承</a:t>
            </a:r>
            <a:endParaRPr lang="zh-CN" altLang="en-US" dirty="0"/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什么是继承</a:t>
            </a:r>
          </a:p>
        </p:txBody>
      </p:sp>
      <p:pic>
        <p:nvPicPr>
          <p:cNvPr id="2" name="图片 1" descr="image-1614080158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06340" y="2088515"/>
            <a:ext cx="2619375" cy="1952625"/>
          </a:xfrm>
          <a:prstGeom prst="rect">
            <a:avLst/>
          </a:prstGeom>
        </p:spPr>
      </p:pic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31522" y="1457271"/>
            <a:ext cx="10749598" cy="48701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生活中的继承：一般指的是子女继承父辈的</a:t>
            </a:r>
            <a:r>
              <a:rPr lang="zh-CN" altLang="en-US" dirty="0">
                <a:solidFill>
                  <a:srgbClr val="FF0000"/>
                </a:solidFill>
              </a:rPr>
              <a:t>财产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面向对象代码中的“继承”：指子类继承父类的</a:t>
            </a:r>
            <a:r>
              <a:rPr lang="zh-CN" altLang="en-US" dirty="0">
                <a:solidFill>
                  <a:srgbClr val="FF0000"/>
                </a:solidFill>
              </a:rPr>
              <a:t>属性和方法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类是用来描述现实世界中同一组事务的共有特性的抽象模型，但是类也有上下级和范围之分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比如：</a:t>
            </a:r>
            <a:r>
              <a:rPr lang="zh-CN" altLang="en-US" dirty="0">
                <a:solidFill>
                  <a:srgbClr val="FF0000"/>
                </a:solidFill>
              </a:rPr>
              <a:t>生物 </a:t>
            </a:r>
            <a:r>
              <a:rPr lang="en-US" altLang="zh-CN" dirty="0">
                <a:solidFill>
                  <a:srgbClr val="FF0000"/>
                </a:solidFill>
              </a:rPr>
              <a:t>=&gt; </a:t>
            </a:r>
            <a:r>
              <a:rPr lang="zh-CN" altLang="en-US" dirty="0">
                <a:solidFill>
                  <a:srgbClr val="FF0000"/>
                </a:solidFill>
              </a:rPr>
              <a:t>动物 </a:t>
            </a:r>
            <a:r>
              <a:rPr lang="en-US" altLang="zh-CN" dirty="0">
                <a:solidFill>
                  <a:srgbClr val="FF0000"/>
                </a:solidFill>
              </a:rPr>
              <a:t>=&gt; </a:t>
            </a:r>
            <a:r>
              <a:rPr lang="zh-CN" altLang="en-US" dirty="0">
                <a:solidFill>
                  <a:srgbClr val="FF0000"/>
                </a:solidFill>
              </a:rPr>
              <a:t>哺乳动物 </a:t>
            </a:r>
            <a:r>
              <a:rPr lang="en-US" altLang="zh-CN" dirty="0">
                <a:solidFill>
                  <a:srgbClr val="FF0000"/>
                </a:solidFill>
              </a:rPr>
              <a:t>=&gt; </a:t>
            </a:r>
            <a:r>
              <a:rPr lang="zh-CN" altLang="en-US" dirty="0">
                <a:solidFill>
                  <a:srgbClr val="FF0000"/>
                </a:solidFill>
              </a:rPr>
              <a:t>灵长类动物 </a:t>
            </a:r>
            <a:r>
              <a:rPr lang="en-US" altLang="zh-CN" dirty="0">
                <a:solidFill>
                  <a:srgbClr val="FF0000"/>
                </a:solidFill>
              </a:rPr>
              <a:t>=&gt; </a:t>
            </a:r>
            <a:r>
              <a:rPr lang="zh-CN" altLang="en-US" dirty="0">
                <a:solidFill>
                  <a:srgbClr val="FF0000"/>
                </a:solidFill>
              </a:rPr>
              <a:t>人类 </a:t>
            </a:r>
            <a:r>
              <a:rPr lang="en-US" altLang="zh-CN" dirty="0">
                <a:solidFill>
                  <a:srgbClr val="FF0000"/>
                </a:solidFill>
              </a:rPr>
              <a:t>=&gt; </a:t>
            </a:r>
            <a:r>
              <a:rPr lang="zh-CN" altLang="en-US" dirty="0">
                <a:solidFill>
                  <a:srgbClr val="FF0000"/>
                </a:solidFill>
              </a:rPr>
              <a:t>黄种人 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dirty="0">
                <a:solidFill>
                  <a:schemeClr val="tx1"/>
                </a:solidFill>
              </a:rPr>
              <a:t>注意： 继承指的是</a:t>
            </a:r>
            <a:r>
              <a:rPr lang="zh-CN" altLang="en-US" dirty="0">
                <a:solidFill>
                  <a:srgbClr val="C00000"/>
                </a:solidFill>
              </a:rPr>
              <a:t>类的继承</a:t>
            </a:r>
            <a:r>
              <a:rPr lang="zh-CN" altLang="en-US" dirty="0">
                <a:solidFill>
                  <a:schemeClr val="tx1"/>
                </a:solidFill>
              </a:rPr>
              <a:t>，而不是对象的继承 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什么是继承</a:t>
            </a:r>
          </a:p>
        </p:txBody>
      </p:sp>
      <p:sp>
        <p:nvSpPr>
          <p:cNvPr id="10" name="三角形 9"/>
          <p:cNvSpPr/>
          <p:nvPr/>
        </p:nvSpPr>
        <p:spPr>
          <a:xfrm rot="2651319">
            <a:off x="851566" y="1954774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44880" y="1598191"/>
            <a:ext cx="10302240" cy="172656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44952" y="1670661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继承语法</a:t>
            </a:r>
            <a:endParaRPr kumimoji="1"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410970" y="2231286"/>
            <a:ext cx="35591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在Python中，继承形式：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5135880" y="1793771"/>
            <a:ext cx="5930265" cy="5835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父类名(object): 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...(省略)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135880" y="2525926"/>
            <a:ext cx="5930265" cy="5835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子类名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(父类名)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...(省略)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三角形 9"/>
          <p:cNvSpPr/>
          <p:nvPr/>
        </p:nvSpPr>
        <p:spPr>
          <a:xfrm rot="2651319">
            <a:off x="851566" y="434295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TextBox 6"/>
          <p:cNvSpPr txBox="1"/>
          <p:nvPr/>
        </p:nvSpPr>
        <p:spPr>
          <a:xfrm>
            <a:off x="1219517" y="4374417"/>
            <a:ext cx="9773285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在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中，所有类默认继承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object</a:t>
            </a: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object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类是</a:t>
            </a: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顶级类或基类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；其他子类叫做派生类。</a:t>
            </a:r>
            <a:endParaRPr lang="en-US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5040" y="3957851"/>
            <a:ext cx="10302240" cy="1022952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44952" y="405883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240044" y="3035685"/>
            <a:ext cx="3863738" cy="2273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当子类继承父类时，子类Son拥有和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父</a:t>
            </a:r>
            <a:r>
              <a:rPr lang="en-US" altLang="zh-CN"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类Father</a:t>
            </a:r>
            <a:r>
              <a:rPr lang="en-US" altLang="zh-CN" sz="1600" b="1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完全一样</a:t>
            </a:r>
            <a:r>
              <a:rPr lang="en-US" altLang="zh-CN"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的功能，但是却不用再写大量重复代码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继承的作用：</a:t>
            </a:r>
            <a:r>
              <a:rPr lang="zh-CN" altLang="en-US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提高代码的复用率</a:t>
            </a:r>
            <a:r>
              <a:rPr lang="en-US" altLang="zh-CN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</a:t>
            </a:r>
            <a:r>
              <a:rPr lang="zh-CN" altLang="en-US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减少重复代码的书写。</a:t>
            </a:r>
            <a:endParaRPr lang="en-US" altLang="zh-CN" sz="1600" b="1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什么是继承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782320" y="163126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75890" y="1457271"/>
            <a:ext cx="8218805" cy="82994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例如，Father类有一个默认性别为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男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，且爱好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散步行走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，那么，Son类也想要拥有这些属性和行为，该怎么做呢？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80" y="2303586"/>
            <a:ext cx="5930265" cy="45243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Father(object):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def __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男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walk(self): 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喜欢散步行走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...")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Son(Father):  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Father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继承下来的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son = Son()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son.sex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son.walk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什么是继承</a:t>
            </a:r>
            <a:endParaRPr dirty="0"/>
          </a:p>
        </p:txBody>
      </p:sp>
      <p:sp>
        <p:nvSpPr>
          <p:cNvPr id="8" name="文本框 7"/>
          <p:cNvSpPr txBox="1"/>
          <p:nvPr/>
        </p:nvSpPr>
        <p:spPr>
          <a:xfrm>
            <a:off x="1061609" y="2169007"/>
            <a:ext cx="8359592" cy="2519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继承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：一个类从另一个已有的类获得其成员的相关特性，就叫作继承！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站在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子类角度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派生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：从一个已有的类产生一个新的类，称为派生！ （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站在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父类角度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很显然，继承和派生其实就是从不同的方向来描述的相同的概念而已，本质上是一样的！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父类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：也叫作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基类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，就是指已有被继承的类！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子类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：也叫作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派生类或扩展类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单继承和多继承</a:t>
            </a:r>
          </a:p>
        </p:txBody>
      </p:sp>
      <p:sp>
        <p:nvSpPr>
          <p:cNvPr id="59" name="矩形 58"/>
          <p:cNvSpPr/>
          <p:nvPr/>
        </p:nvSpPr>
        <p:spPr>
          <a:xfrm>
            <a:off x="887631" y="1520147"/>
            <a:ext cx="1736668" cy="411380"/>
          </a:xfrm>
          <a:prstGeom prst="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单继承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887631" y="2265198"/>
            <a:ext cx="9539110" cy="520065"/>
          </a:xfrm>
        </p:spPr>
        <p:txBody>
          <a:bodyPr/>
          <a:lstStyle/>
          <a:p>
            <a:r>
              <a:rPr lang="zh-CN" altLang="en-US" dirty="0"/>
              <a:t>单继承就是</a:t>
            </a:r>
            <a:r>
              <a:rPr lang="zh-CN" altLang="en-US" dirty="0">
                <a:solidFill>
                  <a:srgbClr val="C00000"/>
                </a:solidFill>
              </a:rPr>
              <a:t>一个子类只能继承自一个父类，不能继承多个类。这个子类会有具有父类的属性和方法。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887631" y="3730976"/>
            <a:ext cx="8820040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Father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Father(object):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Son(Father):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87631" y="3017620"/>
            <a:ext cx="1736668" cy="411380"/>
          </a:xfrm>
          <a:prstGeom prst="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基本语法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单继承</a:t>
            </a:r>
            <a:r>
              <a:rPr lang="en-US" dirty="0" err="1"/>
              <a:t>和多继承</a:t>
            </a:r>
            <a:endParaRPr dirty="0"/>
          </a:p>
        </p:txBody>
      </p:sp>
      <p:pic>
        <p:nvPicPr>
          <p:cNvPr id="5" name="图片 4" descr="image-161501096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012" y="2668615"/>
            <a:ext cx="3392170" cy="29883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圆角矩形 1"/>
          <p:cNvSpPr/>
          <p:nvPr/>
        </p:nvSpPr>
        <p:spPr>
          <a:xfrm>
            <a:off x="710880" y="1483333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50559" y="1201075"/>
            <a:ext cx="8218805" cy="82994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一个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摊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煎饼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老师傅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，在煎饼果子界摸爬滚打多年，研发了一套精湛的摊煎饼技术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 师父要把这套技术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传授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给他的唯一的最得意的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徒弟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lang="en-US" altLang="zh-CN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673322" y="2143755"/>
            <a:ext cx="6011380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  <a:effectLst/>
              </a:rPr>
              <a:t># 1.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师父类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400" dirty="0"/>
              <a:t>(object):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属性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r>
              <a:rPr lang="en-US" altLang="zh-CN" sz="1400" dirty="0">
                <a:solidFill>
                  <a:srgbClr val="067D17"/>
                </a:solidFill>
                <a:effectLst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2.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定义徒弟类，继承师父类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400" dirty="0"/>
              <a:t>(Master):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pass</a:t>
            </a:r>
            <a:br>
              <a:rPr lang="en-GB" altLang="zh-CN" sz="1400" dirty="0">
                <a:solidFill>
                  <a:srgbClr val="0033B3"/>
                </a:solidFill>
                <a:effectLst/>
              </a:rPr>
            </a:br>
            <a:br>
              <a:rPr lang="en-GB" altLang="zh-CN" sz="1400" dirty="0">
                <a:solidFill>
                  <a:srgbClr val="0033B3"/>
                </a:solidFill>
                <a:effectLst/>
              </a:rPr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用徒弟类创建对象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 err="1"/>
              <a:t>xiaoming</a:t>
            </a:r>
            <a:r>
              <a:rPr lang="en-GB" altLang="zh-CN" sz="1400" dirty="0"/>
              <a:t> = Prentice()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调用属性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/>
              <a:t>print(</a:t>
            </a:r>
            <a:r>
              <a:rPr lang="en-GB" altLang="zh-CN" sz="1400" dirty="0" err="1"/>
              <a:t>xiaoming.kongfu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调用方法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 err="1"/>
              <a:t>xiaoming.make_cake</a:t>
            </a:r>
            <a:r>
              <a:rPr lang="en-GB" altLang="zh-CN" sz="1400" dirty="0"/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87631" y="2041414"/>
            <a:ext cx="9856641" cy="78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多继承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就是</a:t>
            </a:r>
            <a:r>
              <a:rPr lang="zh-CN" altLang="en-US" sz="1600" dirty="0">
                <a:solidFill>
                  <a:srgbClr val="49504F"/>
                </a:solidFill>
              </a:rPr>
              <a:t>一个类同时</a:t>
            </a:r>
            <a:r>
              <a:rPr lang="zh-CN" altLang="en-US" sz="1600" dirty="0">
                <a:solidFill>
                  <a:srgbClr val="C00000"/>
                </a:solidFill>
              </a:rPr>
              <a:t>继承了多个父类</a:t>
            </a:r>
            <a:r>
              <a:rPr lang="zh-CN" altLang="en-US" sz="1600" dirty="0">
                <a:solidFill>
                  <a:srgbClr val="49504F"/>
                </a:solidFill>
              </a:rPr>
              <a:t>，并且同时具有</a:t>
            </a:r>
            <a:r>
              <a:rPr lang="zh-CN" altLang="en-US" sz="1600" dirty="0">
                <a:solidFill>
                  <a:srgbClr val="C00000"/>
                </a:solidFill>
              </a:rPr>
              <a:t>所有父类的属性和方法</a:t>
            </a:r>
            <a:r>
              <a:rPr lang="zh-CN" altLang="en-US" sz="1600" dirty="0">
                <a:solidFill>
                  <a:srgbClr val="49504F"/>
                </a:solidFill>
              </a:rPr>
              <a:t>。例如：孩子会继承父亲和母亲的方法和属性</a:t>
            </a:r>
            <a:endParaRPr sz="1600" b="1" dirty="0">
              <a:solidFill>
                <a:srgbClr val="C00000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单继承和多继承</a:t>
            </a:r>
          </a:p>
        </p:txBody>
      </p:sp>
      <p:sp>
        <p:nvSpPr>
          <p:cNvPr id="59" name="矩形 58"/>
          <p:cNvSpPr/>
          <p:nvPr/>
        </p:nvSpPr>
        <p:spPr>
          <a:xfrm>
            <a:off x="887631" y="1457517"/>
            <a:ext cx="1736668" cy="4113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多继承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887631" y="3730976"/>
            <a:ext cx="8820040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1Father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Father(object):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2Mother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Mother(object):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Son(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Father,Mother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87631" y="3017620"/>
            <a:ext cx="1736668" cy="411380"/>
          </a:xfrm>
          <a:prstGeom prst="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基本语法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单继承和多继承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82320" y="1494895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5890" y="1320905"/>
            <a:ext cx="8218805" cy="7874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小明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是个爱学习的好孩子，想学习更多的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摊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煎饼果子技术，于是，在百度搜索到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黑马程序员</a:t>
            </a:r>
            <a:r>
              <a:rPr 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学校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，报班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来培训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学习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摊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煎饼果子技术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782320" y="2259274"/>
            <a:ext cx="4253143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  <a:effectLst/>
              </a:rPr>
              <a:t># 1.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师父类，属性和方法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400" dirty="0"/>
              <a:t>(object):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r>
              <a:rPr lang="en-US" altLang="zh-CN" sz="14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为了验证多继承，添加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School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父类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400" dirty="0"/>
              <a:t>(object):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r>
              <a:rPr lang="en-US" altLang="zh-CN" sz="14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br>
              <a:rPr lang="en-US" altLang="zh-CN" sz="1400" dirty="0"/>
            </a:br>
            <a:br>
              <a:rPr lang="en-US" altLang="zh-CN" sz="1400" dirty="0"/>
            </a:br>
            <a:br>
              <a:rPr lang="en-GB" altLang="zh-CN" sz="1400" dirty="0"/>
            </a:b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569350" y="2259274"/>
            <a:ext cx="3862749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  <a:effectLst/>
              </a:rPr>
              <a:t># 2.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定义徒弟类，继承师父类 和 学校类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400" dirty="0"/>
              <a:t>(School, Master):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pass</a:t>
            </a:r>
            <a:br>
              <a:rPr lang="en-GB" altLang="zh-CN" sz="1400" dirty="0">
                <a:solidFill>
                  <a:srgbClr val="0033B3"/>
                </a:solidFill>
                <a:effectLst/>
              </a:rPr>
            </a:br>
            <a:br>
              <a:rPr lang="en-GB" altLang="zh-CN" sz="1400" dirty="0">
                <a:solidFill>
                  <a:srgbClr val="0033B3"/>
                </a:solidFill>
                <a:effectLst/>
              </a:rPr>
            </a:br>
            <a:br>
              <a:rPr lang="en-GB" altLang="zh-CN" sz="1400" dirty="0">
                <a:solidFill>
                  <a:srgbClr val="0033B3"/>
                </a:solidFill>
                <a:effectLst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用徒弟类创建对象，调用实例属性和方法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 err="1"/>
              <a:t>xiaoming</a:t>
            </a:r>
            <a:r>
              <a:rPr lang="en-GB" altLang="zh-CN" sz="1400" dirty="0"/>
              <a:t> = Prentice()</a:t>
            </a:r>
            <a:br>
              <a:rPr lang="en-GB" altLang="zh-CN" sz="1400" dirty="0"/>
            </a:br>
            <a:r>
              <a:rPr lang="en-GB" altLang="zh-CN" sz="1400" dirty="0"/>
              <a:t>print(</a:t>
            </a:r>
            <a:r>
              <a:rPr lang="en-GB" altLang="zh-CN" sz="1400" dirty="0" err="1"/>
              <a:t>xiaoming.kongfu</a:t>
            </a:r>
            <a:r>
              <a:rPr lang="en-GB" altLang="zh-CN" sz="1400" dirty="0"/>
              <a:t>)</a:t>
            </a:r>
            <a:r>
              <a:rPr lang="zh-CN" altLang="en-US" sz="1400" dirty="0"/>
              <a:t> </a:t>
            </a:r>
            <a:br>
              <a:rPr lang="en-GB" altLang="zh-CN" sz="1400" dirty="0"/>
            </a:br>
            <a:r>
              <a:rPr lang="en-GB" altLang="zh-CN" sz="1400" dirty="0" err="1"/>
              <a:t>xiaoming.make_cake</a:t>
            </a:r>
            <a:r>
              <a:rPr lang="en-GB" altLang="zh-CN" sz="1400" dirty="0"/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09506" y="4687597"/>
            <a:ext cx="61001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ea typeface="Alibaba PuHuiTi R" pitchFamily="18" charset="-122"/>
              </a:rPr>
              <a:t>思考一下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：徒弟类继承了师傅类和学校类，它的属性和方法会使用哪个父类的呢？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结论：如果一个类继承多个父类，</a:t>
            </a:r>
            <a:r>
              <a:rPr lang="zh-CN" altLang="en-US" sz="1600" dirty="0">
                <a:solidFill>
                  <a:srgbClr val="C00000"/>
                </a:solidFill>
                <a:ea typeface="Alibaba PuHuiTi R" pitchFamily="18" charset="-122"/>
              </a:rPr>
              <a:t>优先继承第一个父类的同名属性和方法</a:t>
            </a:r>
            <a:endParaRPr lang="zh-CN" altLang="en-US" sz="1600" dirty="0">
              <a:solidFill>
                <a:srgbClr val="C00000"/>
              </a:solidFill>
              <a:ea typeface="Alibaba PuHuiTi R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单继承和多继承</a:t>
            </a:r>
          </a:p>
        </p:txBody>
      </p:sp>
      <p:sp>
        <p:nvSpPr>
          <p:cNvPr id="59" name="矩形 58"/>
          <p:cNvSpPr/>
          <p:nvPr/>
        </p:nvSpPr>
        <p:spPr>
          <a:xfrm>
            <a:off x="887631" y="1457517"/>
            <a:ext cx="1736668" cy="41138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sz="1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多继承</a:t>
            </a:r>
            <a:endParaRPr lang="zh-CN" sz="1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71296" y="2163688"/>
            <a:ext cx="8607425" cy="116576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当一个类有多个父类时，默认使用第一个父类的同名属性和方法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，可以使用</a:t>
            </a:r>
            <a:r>
              <a:rPr 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类名</a:t>
            </a:r>
            <a:r>
              <a:rPr lang="en-US" altLang="zh-CN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.__mro__</a:t>
            </a:r>
            <a:r>
              <a:rPr lang="zh-CN" altLang="en-US"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属性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或</a:t>
            </a:r>
            <a:r>
              <a:rPr 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类名</a:t>
            </a:r>
            <a:r>
              <a:rPr lang="en-US" altLang="zh-CN"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.mro()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方法查看调用的先后顺序。</a:t>
            </a:r>
            <a:endParaRPr lang="en-US" altLang="zh-CN"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C00000"/>
                </a:solidFill>
              </a:rPr>
              <a:t>注：</a:t>
            </a:r>
            <a:r>
              <a:rPr lang="en-US" altLang="zh-CN" sz="1600" dirty="0">
                <a:solidFill>
                  <a:srgbClr val="C00000"/>
                </a:solidFill>
              </a:rPr>
              <a:t>MRO(Method Resolution Order)</a:t>
            </a:r>
            <a:r>
              <a:rPr lang="zh-CN" altLang="en-US" sz="1600" dirty="0">
                <a:solidFill>
                  <a:srgbClr val="C00000"/>
                </a:solidFill>
              </a:rPr>
              <a:t>：方法解析顺序</a:t>
            </a:r>
            <a:endParaRPr lang="zh-CN" altLang="en-US" sz="16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887631" y="2474943"/>
            <a:ext cx="1278255" cy="575310"/>
          </a:xfrm>
          <a:prstGeom prst="ellipse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  <a:endParaRPr lang="zh-CN" altLang="en-US"/>
          </a:p>
        </p:txBody>
      </p:sp>
      <p:sp>
        <p:nvSpPr>
          <p:cNvPr id="8" name="TextBox 3"/>
          <p:cNvSpPr txBox="1"/>
          <p:nvPr/>
        </p:nvSpPr>
        <p:spPr>
          <a:xfrm>
            <a:off x="2271296" y="3920483"/>
            <a:ext cx="3862749" cy="120032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/>
              <a:t># </a:t>
            </a:r>
            <a:r>
              <a:rPr lang="zh-CN" altLang="en-US" i="1" dirty="0"/>
              <a:t>通过属性查看引用顺序</a:t>
            </a:r>
            <a:br>
              <a:rPr lang="zh-CN" altLang="en-US" i="1" dirty="0"/>
            </a:br>
            <a:r>
              <a:rPr lang="en-GB" altLang="zh-CN" dirty="0"/>
              <a:t>print(Prentice.__</a:t>
            </a:r>
            <a:r>
              <a:rPr lang="en-GB" altLang="zh-CN" dirty="0" err="1"/>
              <a:t>mro</a:t>
            </a:r>
            <a:r>
              <a:rPr lang="en-GB" altLang="zh-CN" dirty="0"/>
              <a:t>__)</a:t>
            </a:r>
            <a:br>
              <a:rPr lang="en-GB" altLang="zh-CN" dirty="0"/>
            </a:br>
            <a:r>
              <a:rPr lang="en-GB" altLang="zh-CN" i="1" dirty="0"/>
              <a:t># </a:t>
            </a:r>
            <a:r>
              <a:rPr lang="zh-CN" altLang="en-US" i="1" dirty="0"/>
              <a:t>通过方法查看引用顺序</a:t>
            </a:r>
            <a:br>
              <a:rPr lang="zh-CN" altLang="en-US" i="1" dirty="0"/>
            </a:br>
            <a:r>
              <a:rPr lang="en-GB" altLang="zh-CN" dirty="0"/>
              <a:t>print(</a:t>
            </a:r>
            <a:r>
              <a:rPr lang="en-GB" altLang="zh-CN" dirty="0" err="1"/>
              <a:t>Prentice.mro</a:t>
            </a:r>
            <a:r>
              <a:rPr lang="en-GB" altLang="zh-CN" dirty="0"/>
              <a:t>())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799965" y="2699385"/>
            <a:ext cx="6506210" cy="2696210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dirty="0" err="1"/>
              <a:t>继承</a:t>
            </a:r>
            <a:r>
              <a:rPr lang="zh-CN" altLang="en-US" dirty="0"/>
              <a:t>是什么？</a:t>
            </a:r>
            <a:r>
              <a:rPr lang="en-US" altLang="zh-CN" dirty="0"/>
              <a:t>Python</a:t>
            </a:r>
            <a:r>
              <a:rPr lang="zh-CN" altLang="en-US" dirty="0"/>
              <a:t>中怎么实现？</a:t>
            </a:r>
            <a:r>
              <a:rPr lang="en-US" dirty="0"/>
              <a:t>	</a:t>
            </a:r>
            <a:endParaRPr 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sz="1600" dirty="0" err="1"/>
              <a:t>子类继承了</a:t>
            </a:r>
            <a:r>
              <a:rPr sz="1600" dirty="0" err="1">
                <a:solidFill>
                  <a:srgbClr val="C00000"/>
                </a:solidFill>
              </a:rPr>
              <a:t>父类的属性与方法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2. </a:t>
            </a:r>
            <a:r>
              <a:rPr dirty="0" err="1"/>
              <a:t>单继承</a:t>
            </a:r>
            <a:r>
              <a:rPr lang="zh-CN" altLang="en-US" dirty="0"/>
              <a:t>是什么？</a:t>
            </a:r>
            <a:endParaRPr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lang="en-US" sz="1600" dirty="0" err="1"/>
              <a:t>一个类只继承</a:t>
            </a:r>
            <a:r>
              <a:rPr lang="en-US" sz="1600" dirty="0" err="1">
                <a:solidFill>
                  <a:srgbClr val="C00000"/>
                </a:solidFill>
              </a:rPr>
              <a:t>一个</a:t>
            </a:r>
            <a:r>
              <a:rPr lang="en-US" sz="1600" dirty="0" err="1"/>
              <a:t>父类</a:t>
            </a:r>
            <a:endParaRPr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3. </a:t>
            </a:r>
            <a:r>
              <a:rPr dirty="0" err="1"/>
              <a:t>多继承</a:t>
            </a:r>
            <a:r>
              <a:rPr lang="zh-CN" altLang="en-US" dirty="0"/>
              <a:t>是什么？</a:t>
            </a:r>
            <a:endParaRPr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en-US" altLang="zh-CN" sz="1600" dirty="0" err="1">
                <a:sym typeface="+mn-ea"/>
              </a:rPr>
              <a:t>一个类继承了</a:t>
            </a:r>
            <a:r>
              <a:rPr lang="en-US" altLang="zh-CN" sz="1600" dirty="0" err="1">
                <a:solidFill>
                  <a:srgbClr val="C00000"/>
                </a:solidFill>
                <a:sym typeface="+mn-ea"/>
              </a:rPr>
              <a:t>多个</a:t>
            </a:r>
            <a:r>
              <a:rPr lang="en-US" altLang="zh-CN" sz="1600" dirty="0" err="1">
                <a:sym typeface="+mn-ea"/>
              </a:rPr>
              <a:t>父类</a:t>
            </a:r>
            <a:endParaRPr lang="en-US" altLang="zh-CN" sz="1600" dirty="0">
              <a:sym typeface="+mn-ea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ym typeface="+mn-ea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735389" y="2699385"/>
            <a:ext cx="3193929" cy="58356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子类名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(父类名)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...(省略)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641032" y="78515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子类重写父类同名方法和属性</a:t>
            </a:r>
            <a:endParaRPr dirty="0"/>
          </a:p>
        </p:txBody>
      </p:sp>
      <p:sp>
        <p:nvSpPr>
          <p:cNvPr id="6" name="圆角矩形 5"/>
          <p:cNvSpPr/>
          <p:nvPr/>
        </p:nvSpPr>
        <p:spPr>
          <a:xfrm>
            <a:off x="710880" y="228432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42218" y="2284321"/>
            <a:ext cx="8218805" cy="5847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小明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掌握了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老师傅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和黑马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的技术后，自己潜心钻研出一套自己的</a:t>
            </a:r>
            <a:r>
              <a:rPr sz="1600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独门配方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的全新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摊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煎饼果子技术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1032" y="1352169"/>
            <a:ext cx="10457274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重写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也叫作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覆盖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，就是当子类属性或方法与父类的属性或方法名字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相同时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，从父类继承下来的成员可以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重新定义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！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子类重写父类的属性和方法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优先会调用子类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的属性和方法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41032" y="2924152"/>
            <a:ext cx="4612286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  <a:effectLst/>
              </a:rPr>
              <a:t># 1.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师父类，属性和方法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400" dirty="0"/>
              <a:t>(object):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r>
              <a:rPr lang="en-US" altLang="zh-CN" sz="14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为了验证多继承，添加</a:t>
            </a:r>
            <a:r>
              <a:rPr lang="en-GB" altLang="zh-CN" sz="1400" i="1" dirty="0">
                <a:solidFill>
                  <a:srgbClr val="8C8C8C"/>
                </a:solidFill>
                <a:effectLst/>
              </a:rPr>
              <a:t>School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父类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400" dirty="0"/>
              <a:t>(object):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r>
              <a:rPr lang="en-US" altLang="zh-CN" sz="14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5726234" y="2924152"/>
            <a:ext cx="4612286" cy="310854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  <a:effectLst/>
              </a:rPr>
              <a:t># 2.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定义徒弟类，继承师父类 和 学校类， 添加和父类同名的属性和方法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400" dirty="0"/>
              <a:t>(School, Master):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‘[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独创煎饼果子技术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]’</a:t>
            </a: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br>
              <a:rPr lang="en-US" altLang="zh-CN" sz="1400" dirty="0">
                <a:solidFill>
                  <a:srgbClr val="067D17"/>
                </a:solidFill>
                <a:effectLst/>
              </a:rPr>
            </a:br>
            <a:r>
              <a:rPr lang="en-US" altLang="zh-CN" sz="14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    print(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f‘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4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4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400" dirty="0" err="1"/>
              <a:t>.kongfu</a:t>
            </a:r>
            <a:r>
              <a:rPr lang="en-GB" altLang="zh-CN" sz="14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’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400" i="1" dirty="0">
                <a:solidFill>
                  <a:srgbClr val="8C8C8C"/>
                </a:solidFill>
                <a:effectLst/>
              </a:rPr>
              <a:t>用徒弟类创建对象，调用实例属性和方法</a:t>
            </a:r>
            <a:br>
              <a:rPr lang="zh-CN" altLang="en-US" sz="1400" i="1" dirty="0">
                <a:solidFill>
                  <a:srgbClr val="8C8C8C"/>
                </a:solidFill>
                <a:effectLst/>
              </a:rPr>
            </a:br>
            <a:r>
              <a:rPr lang="en-GB" altLang="zh-CN" sz="1400" dirty="0" err="1"/>
              <a:t>xiaoming</a:t>
            </a:r>
            <a:r>
              <a:rPr lang="en-GB" altLang="zh-CN" sz="1400" dirty="0"/>
              <a:t> = Prentice()</a:t>
            </a:r>
            <a:br>
              <a:rPr lang="en-GB" altLang="zh-CN" sz="1400" dirty="0"/>
            </a:br>
            <a:r>
              <a:rPr lang="en-GB" altLang="zh-CN" sz="1400" dirty="0"/>
              <a:t>print(</a:t>
            </a:r>
            <a:r>
              <a:rPr lang="en-GB" altLang="zh-CN" sz="1400" dirty="0" err="1"/>
              <a:t>xiaoming.kongfu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 err="1"/>
              <a:t>xiaoming.make_cake</a:t>
            </a:r>
            <a:r>
              <a:rPr lang="en-GB" altLang="zh-CN" sz="1400" dirty="0"/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26234" y="6087751"/>
            <a:ext cx="5824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effectLst/>
              </a:rPr>
              <a:t>如果子类和父类拥有同名属性和方法，子类创建对象调用属性和方法的时候，调用到的是</a:t>
            </a:r>
            <a:r>
              <a:rPr lang="zh-CN" altLang="en-US" sz="1600" b="1" dirty="0">
                <a:solidFill>
                  <a:srgbClr val="C00000"/>
                </a:solidFill>
                <a:effectLst/>
              </a:rPr>
              <a:t>子类里面的同名属性和方法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417435" y="615834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子类</a:t>
            </a:r>
            <a:r>
              <a:rPr dirty="0"/>
              <a:t>调用父类方法</a:t>
            </a:r>
            <a:endParaRPr dirty="0"/>
          </a:p>
        </p:txBody>
      </p:sp>
      <p:sp>
        <p:nvSpPr>
          <p:cNvPr id="6" name="圆角矩形 5"/>
          <p:cNvSpPr/>
          <p:nvPr/>
        </p:nvSpPr>
        <p:spPr>
          <a:xfrm>
            <a:off x="710880" y="204281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4450" y="1868821"/>
            <a:ext cx="8218805" cy="82994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很多顾客都希望能吃到徒弟做出的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有自己独立品牌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的煎饼果子，也有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黑马配方技术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的煎饼果子味道。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435" y="1149427"/>
            <a:ext cx="8511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子类中</a:t>
            </a:r>
            <a:r>
              <a:rPr lang="en-US" altLang="zh-CN" sz="1800" dirty="0" err="1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仍想要</a:t>
            </a:r>
            <a:r>
              <a:rPr lang="en-US" altLang="zh-CN" sz="1800" b="1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保留父类的行为</a:t>
            </a:r>
            <a:r>
              <a:rPr lang="zh-CN" altLang="en-US" sz="18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，则需要在子类中</a:t>
            </a:r>
            <a:r>
              <a:rPr lang="zh-CN" altLang="en-US" sz="18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调用父类方法</a:t>
            </a:r>
            <a:r>
              <a:rPr lang="en-US" altLang="zh-CN" sz="18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 sz="18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可以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直接使用父类名来进行调用，使用的方法</a:t>
            </a:r>
            <a:r>
              <a:rPr lang="zh-CN" altLang="en-US" dirty="0">
                <a:solidFill>
                  <a:srgbClr val="444444"/>
                </a:solidFill>
                <a:latin typeface="Arial" panose="020B0604020202020204" pitchFamily="34" charset="0"/>
              </a:rPr>
              <a:t>：</a:t>
            </a:r>
            <a:endParaRPr lang="zh-CN" altLang="en-US" dirty="0"/>
          </a:p>
        </p:txBody>
      </p:sp>
      <p:sp>
        <p:nvSpPr>
          <p:cNvPr id="13" name="TextBox 3"/>
          <p:cNvSpPr txBox="1"/>
          <p:nvPr/>
        </p:nvSpPr>
        <p:spPr>
          <a:xfrm>
            <a:off x="3246491" y="1474026"/>
            <a:ext cx="3467361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父类名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父类方法名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GB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self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)”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3"/>
          <p:cNvSpPr txBox="1"/>
          <p:nvPr/>
        </p:nvSpPr>
        <p:spPr>
          <a:xfrm>
            <a:off x="70478" y="2732409"/>
            <a:ext cx="3962584" cy="40318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师父类，属性和方法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添加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School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父类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3"/>
          <p:cNvSpPr txBox="1"/>
          <p:nvPr/>
        </p:nvSpPr>
        <p:spPr>
          <a:xfrm>
            <a:off x="4098033" y="2776844"/>
            <a:ext cx="4282806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 2.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徒弟类，添加和父类同名的属性和方法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600" dirty="0"/>
              <a:t>(School, Master):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‘[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独创煎饼果子技术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]’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()</a:t>
            </a:r>
            <a:r>
              <a:rPr lang="zh-CN" altLang="en-US" sz="1600" dirty="0"/>
              <a:t>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子类初始化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f‘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’</a:t>
            </a:r>
            <a:r>
              <a:rPr lang="en-US" altLang="zh-CN" sz="1600" dirty="0"/>
              <a:t>)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make_master_cake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父类类名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函数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()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/>
              <a:t>Master.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r>
              <a:rPr lang="zh-CN" altLang="en-US" sz="1600" dirty="0"/>
              <a:t>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父类初始化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/>
              <a:t>Master.make_cake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make_school_cake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School.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 # </a:t>
            </a:r>
            <a:r>
              <a:rPr lang="zh-CN" altLang="en-US" sz="1600" i="1" dirty="0">
                <a:solidFill>
                  <a:srgbClr val="8C8C8C"/>
                </a:solidFill>
              </a:rPr>
              <a:t>父类初始化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/>
              <a:t>School.make_cake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TextBox 3"/>
          <p:cNvSpPr txBox="1"/>
          <p:nvPr/>
        </p:nvSpPr>
        <p:spPr>
          <a:xfrm>
            <a:off x="8445810" y="2776844"/>
            <a:ext cx="3550024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用徒弟类创建对象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xiaoming</a:t>
            </a:r>
            <a:r>
              <a:rPr lang="en-GB" altLang="zh-CN" sz="1600" dirty="0"/>
              <a:t> = Prentice()</a:t>
            </a:r>
            <a:br>
              <a:rPr lang="en-GB" altLang="zh-CN" sz="1600" dirty="0"/>
            </a:br>
            <a:r>
              <a:rPr lang="en-GB" altLang="zh-CN" sz="1600" dirty="0" err="1"/>
              <a:t>xiaoming.make_cake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 err="1"/>
              <a:t>xiaoming.make_master_cake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 err="1"/>
              <a:t>xiaoming.make_school_cake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 err="1"/>
              <a:t>xiaoming.make_cake</a:t>
            </a:r>
            <a:r>
              <a:rPr lang="en-GB" altLang="zh-CN" sz="1600" dirty="0"/>
              <a:t>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子类</a:t>
            </a:r>
            <a:r>
              <a:rPr dirty="0"/>
              <a:t>调用父类方法</a:t>
            </a:r>
            <a:endParaRPr dirty="0"/>
          </a:p>
        </p:txBody>
      </p:sp>
      <p:sp>
        <p:nvSpPr>
          <p:cNvPr id="6" name="圆角矩形 5"/>
          <p:cNvSpPr/>
          <p:nvPr/>
        </p:nvSpPr>
        <p:spPr>
          <a:xfrm>
            <a:off x="710880" y="204281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4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4450" y="1868821"/>
            <a:ext cx="8218805" cy="82994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很多顾客都希望能吃到徒弟做出的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有自己独立品牌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的煎饼果子，也有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黑马配方技术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的煎饼果子味道。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2320" y="1457271"/>
            <a:ext cx="545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使用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super()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调用父类方法，使用的方法</a:t>
            </a:r>
            <a:r>
              <a:rPr lang="zh-CN" altLang="en-US" dirty="0">
                <a:solidFill>
                  <a:srgbClr val="444444"/>
                </a:solidFill>
                <a:latin typeface="Arial" panose="020B0604020202020204" pitchFamily="34" charset="0"/>
              </a:rPr>
              <a:t>：</a:t>
            </a:r>
            <a:endParaRPr lang="zh-CN" altLang="en-US" dirty="0"/>
          </a:p>
        </p:txBody>
      </p:sp>
      <p:sp>
        <p:nvSpPr>
          <p:cNvPr id="13" name="TextBox 3"/>
          <p:cNvSpPr txBox="1"/>
          <p:nvPr/>
        </p:nvSpPr>
        <p:spPr>
          <a:xfrm>
            <a:off x="5174615" y="1452189"/>
            <a:ext cx="3467361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444444"/>
                </a:solidFill>
                <a:latin typeface="Arial" panose="020B0604020202020204" pitchFamily="34" charset="0"/>
              </a:rPr>
              <a:t>super()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父类方法名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GB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self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)”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3"/>
          <p:cNvSpPr txBox="1"/>
          <p:nvPr/>
        </p:nvSpPr>
        <p:spPr>
          <a:xfrm>
            <a:off x="0" y="2820062"/>
            <a:ext cx="3962584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定义学校父类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3"/>
          <p:cNvSpPr txBox="1"/>
          <p:nvPr/>
        </p:nvSpPr>
        <p:spPr>
          <a:xfrm>
            <a:off x="4098033" y="2776844"/>
            <a:ext cx="4282806" cy="40318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2.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定义徒弟子类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600" dirty="0"/>
              <a:t>(School):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‘[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独创煎饼果子技术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]’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f‘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’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需求：调用父类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School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的方法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make_old_cake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方法一：类名修改，比较麻烦，有冗余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School.__</a:t>
            </a:r>
            <a:r>
              <a:rPr lang="en-GB" altLang="zh-CN" sz="1600" i="1" dirty="0" err="1">
                <a:solidFill>
                  <a:srgbClr val="8C8C8C"/>
                </a:solidFill>
                <a:effectLst/>
              </a:rPr>
              <a:t>init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__(self)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    # </a:t>
            </a:r>
            <a:r>
              <a:rPr lang="en-GB" altLang="zh-CN" sz="1600" i="1" dirty="0" err="1">
                <a:solidFill>
                  <a:srgbClr val="8C8C8C"/>
                </a:solidFill>
                <a:effectLst/>
              </a:rPr>
              <a:t>School.make_cake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(self)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    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方法二：使用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super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实现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super</a:t>
            </a:r>
            <a:r>
              <a:rPr lang="en-GB" altLang="zh-CN" sz="1600" dirty="0"/>
              <a:t>().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super</a:t>
            </a:r>
            <a:r>
              <a:rPr lang="en-GB" altLang="zh-CN" sz="1600" dirty="0"/>
              <a:t>().</a:t>
            </a:r>
            <a:r>
              <a:rPr lang="en-GB" altLang="zh-CN" sz="1600" dirty="0" err="1"/>
              <a:t>make_cake</a:t>
            </a:r>
            <a:r>
              <a:rPr lang="en-GB" altLang="zh-CN" sz="1600" dirty="0"/>
              <a:t>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TextBox 3"/>
          <p:cNvSpPr txBox="1"/>
          <p:nvPr/>
        </p:nvSpPr>
        <p:spPr>
          <a:xfrm>
            <a:off x="8445810" y="2776844"/>
            <a:ext cx="3550024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3.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用徒弟类创建对象</a:t>
            </a:r>
            <a:r>
              <a:rPr lang="zh-CN" altLang="en-US" sz="1600" i="1" dirty="0">
                <a:solidFill>
                  <a:srgbClr val="8C8C8C"/>
                </a:solidFill>
              </a:rPr>
              <a:t>，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调用父类方法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 err="1"/>
              <a:t>xiaoming</a:t>
            </a:r>
            <a:r>
              <a:rPr lang="en-GB" altLang="zh-CN" sz="1600" dirty="0"/>
              <a:t> = Prentice()</a:t>
            </a:r>
            <a:br>
              <a:rPr lang="en-GB" altLang="zh-CN" sz="1600" dirty="0"/>
            </a:br>
            <a:r>
              <a:rPr lang="en-GB" altLang="zh-CN" sz="1600" dirty="0" err="1"/>
              <a:t>xiaoming.make_old_cake</a:t>
            </a:r>
            <a:r>
              <a:rPr lang="en-GB" altLang="zh-CN" sz="1600" dirty="0"/>
              <a:t>()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45810" y="4541634"/>
            <a:ext cx="35500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注意：使⽤</a:t>
            </a:r>
            <a:r>
              <a:rPr lang="en-GB" altLang="zh-C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super() </a:t>
            </a:r>
            <a:r>
              <a:rPr lang="zh-CN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可以⾃动查找⽗类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适合单继承使</a:t>
            </a:r>
            <a:r>
              <a:rPr lang="zh-CN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⽤，多继承不建议使用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多层继承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82320" y="145727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5890" y="1283281"/>
            <a:ext cx="8218805" cy="7874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N年后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，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小明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老了，想要把“</a:t>
            </a:r>
            <a:r>
              <a:rPr sz="1600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有自己的独立品牌，也有黑马配方技术的煎饼果子味道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”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的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所有技术</a:t>
            </a:r>
            <a:r>
              <a:rPr lang="zh-CN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传授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给自己的</a:t>
            </a:r>
            <a:r>
              <a:rPr sz="1600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徒弟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251012" y="2246320"/>
            <a:ext cx="3962584" cy="427809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1.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师父类，属性和方法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为了验证多继承，添加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School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父类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213596" y="2246320"/>
            <a:ext cx="3962584" cy="427809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8C8C8C"/>
                </a:solidFill>
                <a:effectLst/>
              </a:rPr>
              <a:t># 2.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定义徒弟类，继承师父类 和 学校类，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600" dirty="0"/>
              <a:t>(School, Master):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独创煎饼果子技术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子类调用父类的同名方法和属性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make_master_cake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Master.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/>
              <a:t>Master.make_cake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make_school_cake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School.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/>
              <a:t>School.make_cake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8229416" y="2246320"/>
            <a:ext cx="3962584" cy="329320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en-US" altLang="zh-CN" sz="1600" i="1" dirty="0">
                <a:solidFill>
                  <a:srgbClr val="8C8C8C"/>
                </a:solidFill>
              </a:rPr>
              <a:t>3.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定义类</a:t>
            </a:r>
            <a:r>
              <a:rPr lang="en-GB" altLang="zh-CN" sz="1600" i="1" dirty="0" err="1">
                <a:solidFill>
                  <a:srgbClr val="8C8C8C"/>
                </a:solidFill>
                <a:effectLst/>
              </a:rPr>
              <a:t>Tusun</a:t>
            </a:r>
            <a:r>
              <a:rPr lang="zh-CN" altLang="en-US" sz="1600" i="1" dirty="0">
                <a:solidFill>
                  <a:srgbClr val="8C8C8C"/>
                </a:solidFill>
              </a:rPr>
              <a:t>，继承自徒弟类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  <a:effectLst/>
              </a:rPr>
              <a:t>Tusun</a:t>
            </a:r>
            <a:r>
              <a:rPr lang="en-GB" altLang="zh-CN" sz="1600" dirty="0"/>
              <a:t>(Prentice):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pass</a:t>
            </a:r>
            <a:endParaRPr lang="en-GB" altLang="zh-CN" sz="1600" dirty="0">
              <a:solidFill>
                <a:srgbClr val="0033B3"/>
              </a:solidFill>
              <a:effectLst/>
            </a:endParaRPr>
          </a:p>
          <a:p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#</a:t>
            </a:r>
            <a:r>
              <a:rPr lang="en-US" altLang="zh-CN" sz="1600" i="1" dirty="0">
                <a:solidFill>
                  <a:srgbClr val="8C8C8C"/>
                </a:solidFill>
                <a:effectLst/>
              </a:rPr>
              <a:t>.4.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创建徒孙对象，调用父类方法看能否成功</a:t>
            </a:r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r>
              <a:rPr lang="en-GB" altLang="zh-CN" sz="1600" dirty="0"/>
              <a:t>xiao</a:t>
            </a:r>
            <a:r>
              <a:rPr lang="en-US" altLang="zh-CN" sz="1600" dirty="0" err="1"/>
              <a:t>hei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Tusun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xiao</a:t>
            </a:r>
            <a:r>
              <a:rPr lang="en-US" altLang="zh-CN" sz="1600" dirty="0" err="1"/>
              <a:t>hei</a:t>
            </a:r>
            <a:r>
              <a:rPr lang="en-GB" altLang="zh-CN" sz="1600" dirty="0"/>
              <a:t>.</a:t>
            </a:r>
            <a:r>
              <a:rPr lang="en-GB" altLang="zh-CN" sz="1600" dirty="0" err="1"/>
              <a:t>make_cake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xiao</a:t>
            </a:r>
            <a:r>
              <a:rPr lang="en-US" altLang="zh-CN" sz="1600" dirty="0" err="1"/>
              <a:t>hei</a:t>
            </a:r>
            <a:r>
              <a:rPr lang="en-GB" altLang="zh-CN" sz="1600" dirty="0"/>
              <a:t>.</a:t>
            </a:r>
            <a:r>
              <a:rPr lang="en-GB" altLang="zh-CN" sz="1600" dirty="0" err="1"/>
              <a:t>make_master_cake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xiao</a:t>
            </a:r>
            <a:r>
              <a:rPr lang="en-US" altLang="zh-CN" sz="1600" dirty="0" err="1"/>
              <a:t>hei</a:t>
            </a:r>
            <a:r>
              <a:rPr lang="en-GB" altLang="zh-CN" sz="1600" dirty="0"/>
              <a:t>.</a:t>
            </a:r>
            <a:r>
              <a:rPr lang="en-GB" altLang="zh-CN" sz="1600" dirty="0" err="1"/>
              <a:t>make_school_cake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br>
              <a:rPr lang="en-US" altLang="zh-CN" sz="1600" dirty="0"/>
            </a:b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3682562" y="1171028"/>
            <a:ext cx="7077075" cy="4150995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dirty="0" err="1"/>
              <a:t>子类重写父类的同名方法或属性后</a:t>
            </a:r>
            <a:r>
              <a:rPr lang="zh-CN" altLang="en-US" dirty="0"/>
              <a:t>会优先调用子类方法吗？</a:t>
            </a:r>
            <a:endParaRPr 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	</a:t>
            </a:r>
            <a:r>
              <a:rPr lang="zh-CN" altLang="en-US" sz="1600" dirty="0">
                <a:solidFill>
                  <a:srgbClr val="C00000"/>
                </a:solidFill>
              </a:rPr>
              <a:t>会</a:t>
            </a:r>
            <a:r>
              <a:rPr lang="zh-CN" altLang="en-US" sz="1600" dirty="0"/>
              <a:t>。</a:t>
            </a:r>
            <a:r>
              <a:rPr sz="1600" dirty="0" err="1"/>
              <a:t>子类的同名方法或属性会</a:t>
            </a:r>
            <a:r>
              <a:rPr sz="1600" dirty="0" err="1">
                <a:solidFill>
                  <a:srgbClr val="C00000"/>
                </a:solidFill>
              </a:rPr>
              <a:t>覆盖</a:t>
            </a:r>
            <a:r>
              <a:rPr sz="1600" dirty="0" err="1"/>
              <a:t>父类的同名方法或属性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2. </a:t>
            </a:r>
            <a:r>
              <a:rPr lang="zh-CN" altLang="en-US" dirty="0"/>
              <a:t>子类</a:t>
            </a:r>
            <a:r>
              <a:rPr dirty="0" err="1"/>
              <a:t>调用父类方法</a:t>
            </a:r>
            <a:r>
              <a:rPr lang="zh-CN" altLang="en-US" dirty="0"/>
              <a:t>有几种？</a:t>
            </a: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	</a:t>
            </a:r>
            <a:r>
              <a:rPr lang="en-US" altLang="zh-CN" sz="1600" dirty="0"/>
              <a:t>a.</a:t>
            </a:r>
            <a:r>
              <a:rPr lang="zh-CN" altLang="en-US" sz="1600" dirty="0"/>
              <a:t>直接通过</a:t>
            </a:r>
            <a:r>
              <a:rPr lang="zh-CN" altLang="en-US" sz="1600" dirty="0">
                <a:solidFill>
                  <a:srgbClr val="C00000"/>
                </a:solidFill>
              </a:rPr>
              <a:t>父类名称</a:t>
            </a:r>
            <a:r>
              <a:rPr lang="zh-CN" altLang="en-US" sz="1600" dirty="0"/>
              <a:t>调用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/>
              <a:t>	b.</a:t>
            </a:r>
            <a:r>
              <a:rPr lang="zh-CN" altLang="en-US" sz="1600" dirty="0"/>
              <a:t>通过</a:t>
            </a:r>
            <a:r>
              <a:rPr lang="en-US" altLang="zh-CN" sz="1600" dirty="0">
                <a:solidFill>
                  <a:srgbClr val="C00000"/>
                </a:solidFill>
              </a:rPr>
              <a:t>super()</a:t>
            </a:r>
            <a:r>
              <a:rPr lang="zh-CN" altLang="en-US" sz="1600" dirty="0"/>
              <a:t>进行调用</a:t>
            </a:r>
            <a:endParaRPr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3. </a:t>
            </a:r>
            <a:r>
              <a:rPr dirty="0" err="1"/>
              <a:t>多层继承</a:t>
            </a:r>
            <a:r>
              <a:rPr lang="zh-CN" altLang="en-US" dirty="0"/>
              <a:t>是什么？</a:t>
            </a:r>
            <a:endParaRPr 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sz="1600" dirty="0" err="1">
                <a:solidFill>
                  <a:srgbClr val="C00000"/>
                </a:solidFill>
              </a:rPr>
              <a:t>C继承了B</a:t>
            </a:r>
            <a:r>
              <a:rPr sz="1600" dirty="0">
                <a:solidFill>
                  <a:srgbClr val="C00000"/>
                </a:solidFill>
              </a:rPr>
              <a:t>, </a:t>
            </a:r>
            <a:r>
              <a:rPr sz="1600" dirty="0" err="1">
                <a:solidFill>
                  <a:srgbClr val="C00000"/>
                </a:solidFill>
              </a:rPr>
              <a:t>B继承了A</a:t>
            </a:r>
            <a:r>
              <a:rPr sz="1600" dirty="0" err="1"/>
              <a:t>这样结构的多层级继承关系</a:t>
            </a:r>
            <a:endParaRPr sz="1600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138" y="2128016"/>
            <a:ext cx="3679124" cy="2055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5611484" y="987309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定义类的几种语法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中的继承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en-US" altLang="zh-CN" b="1" dirty="0">
                <a:solidFill>
                  <a:srgbClr val="AD2B26"/>
                </a:solidFill>
              </a:rPr>
              <a:t>Python</a:t>
            </a:r>
            <a:r>
              <a:rPr lang="zh-CN" altLang="en-US" b="1" dirty="0">
                <a:solidFill>
                  <a:srgbClr val="AD2B26"/>
                </a:solidFill>
              </a:rPr>
              <a:t>中的封装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rgbClr val="AD2B26"/>
                </a:solidFill>
              </a:rPr>
              <a:t> </a:t>
            </a:r>
            <a:r>
              <a:rPr lang="zh-CN" altLang="en-US" dirty="0">
                <a:solidFill>
                  <a:srgbClr val="AD2B26"/>
                </a:solidFill>
              </a:rPr>
              <a:t>       概念、私有属性、私有方法</a:t>
            </a:r>
            <a:endParaRPr lang="zh-CN" altLang="en-US" dirty="0">
              <a:solidFill>
                <a:srgbClr val="AD2B26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中的多态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面向对象的其他特性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6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8977" y="2705301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了解什么是封装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知道什么是私有属性和私有方法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知道如何设置和获取私有属性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知道如何定义和获取私有方法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什么是封装？</a:t>
            </a:r>
            <a:endParaRPr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1821" y="1819993"/>
            <a:ext cx="4096086" cy="252066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0880" y="2204446"/>
            <a:ext cx="6120226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在软件编程中，将</a:t>
            </a:r>
            <a:r>
              <a:rPr lang="zh-CN" altLang="en-US" dirty="0">
                <a:solidFill>
                  <a:srgbClr val="FF0000"/>
                </a:solidFill>
              </a:rPr>
              <a:t>属性和方法</a:t>
            </a:r>
            <a:r>
              <a:rPr lang="zh-CN" altLang="en-US" dirty="0"/>
              <a:t>书写到类的里面的操作即为封装，封装可以为属性和方法添加</a:t>
            </a:r>
            <a:r>
              <a:rPr lang="zh-CN" altLang="en-US" dirty="0">
                <a:solidFill>
                  <a:srgbClr val="FF0000"/>
                </a:solidFill>
              </a:rPr>
              <a:t>私有权限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71070" y="1712712"/>
            <a:ext cx="9272345" cy="79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在</a:t>
            </a:r>
            <a:r>
              <a:rPr lang="en-GB" altLang="zh-CN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Python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中，可以为属性和⽅法设置私有权限，即设置某个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属性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或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Helvetica Neue" panose="02000503000000020004" pitchFamily="2" charset="0"/>
              </a:rPr>
              <a:t>⽅法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不继承给⼦类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。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设置私有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属性和方法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的方式：在属性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或方法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</a:rPr>
              <a:t>名前面加上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 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</a:rPr>
              <a:t>__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</a:rPr>
              <a:t>，格式：</a:t>
            </a:r>
            <a:endParaRPr sz="1600" dirty="0">
              <a:solidFill>
                <a:srgbClr val="262626"/>
              </a:solidFill>
              <a:ea typeface="Alibaba PuHuiTi R" pitchFamily="18" charset="-122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私有属性</a:t>
            </a:r>
            <a:r>
              <a:rPr lang="zh-CN" altLang="en-US" dirty="0"/>
              <a:t>和私有方法</a:t>
            </a:r>
            <a:endParaRPr dirty="0"/>
          </a:p>
        </p:txBody>
      </p:sp>
      <p:sp>
        <p:nvSpPr>
          <p:cNvPr id="21" name="TextBox 3"/>
          <p:cNvSpPr txBox="1"/>
          <p:nvPr/>
        </p:nvSpPr>
        <p:spPr>
          <a:xfrm>
            <a:off x="2017011" y="3078128"/>
            <a:ext cx="6244590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私有属性</a:t>
            </a:r>
            <a:endParaRPr lang="en-US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__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属性名</a:t>
            </a:r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endParaRPr lang="en-US" altLang="zh-CN"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私有方法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def 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__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方法名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()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...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algn="ctr"/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17011" y="5145288"/>
            <a:ext cx="7262901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私有属性和方法使用规则：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只能在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类的内部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使用，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不能在类的外部使用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60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如果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想在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类的外部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使用通过公共接口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定义和获取私有属性</a:t>
            </a:r>
            <a:endParaRPr dirty="0"/>
          </a:p>
        </p:txBody>
      </p:sp>
      <p:sp>
        <p:nvSpPr>
          <p:cNvPr id="6" name="圆角矩形 5"/>
          <p:cNvSpPr/>
          <p:nvPr/>
        </p:nvSpPr>
        <p:spPr>
          <a:xfrm>
            <a:off x="782320" y="163126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6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5890" y="1457271"/>
            <a:ext cx="8218805" cy="79162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小明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把技术传承给徒弟的同时，不想把自己的私房钱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(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$5000000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)继承给徒弟，这时就要为</a:t>
            </a:r>
            <a:r>
              <a:rPr sz="1600" b="1" dirty="0">
                <a:solidFill>
                  <a:srgbClr val="C00000"/>
                </a:solidFill>
                <a:ea typeface="Alibaba PuHuiTi R" pitchFamily="18" charset="-122"/>
                <a:sym typeface="+mn-ea"/>
              </a:rPr>
              <a:t>钱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这个属性设置私有权限。</a:t>
            </a:r>
            <a:endParaRPr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0" y="2443231"/>
            <a:ext cx="3949869" cy="40318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33B3"/>
                </a:solidFill>
                <a:effectLst/>
              </a:rPr>
              <a:t>#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 </a:t>
            </a:r>
            <a:r>
              <a:rPr lang="en-US" altLang="zh-CN" sz="1600" dirty="0">
                <a:solidFill>
                  <a:srgbClr val="0033B3"/>
                </a:solidFill>
                <a:effectLst/>
              </a:rPr>
              <a:t>1.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师傅</a:t>
            </a:r>
            <a:r>
              <a:rPr lang="zh-CN" altLang="en-US" sz="1600" dirty="0">
                <a:solidFill>
                  <a:srgbClr val="0033B3"/>
                </a:solidFill>
              </a:rPr>
              <a:t>类和学校类的定义</a:t>
            </a:r>
            <a:endParaRPr lang="en-GB" altLang="zh-CN" sz="1600" dirty="0">
              <a:solidFill>
                <a:srgbClr val="0033B3"/>
              </a:solidFill>
              <a:effectLst/>
            </a:endParaRPr>
          </a:p>
          <a:p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8042619" y="4166780"/>
            <a:ext cx="3640309" cy="23083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33B3"/>
                </a:solidFill>
                <a:effectLst/>
              </a:rPr>
              <a:t>#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 </a:t>
            </a:r>
            <a:r>
              <a:rPr lang="en-US" altLang="zh-CN" sz="1600" dirty="0">
                <a:solidFill>
                  <a:srgbClr val="0033B3"/>
                </a:solidFill>
                <a:effectLst/>
              </a:rPr>
              <a:t>3.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定义类徒孙</a:t>
            </a:r>
            <a:endParaRPr lang="en-GB" altLang="zh-CN" sz="1600" dirty="0">
              <a:solidFill>
                <a:srgbClr val="0033B3"/>
              </a:solidFill>
              <a:effectLst/>
            </a:endParaRPr>
          </a:p>
          <a:p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  <a:effectLst/>
              </a:rPr>
              <a:t>Tusun</a:t>
            </a:r>
            <a:r>
              <a:rPr lang="en-GB" altLang="zh-CN" sz="1600" dirty="0"/>
              <a:t>(Prentice):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pass</a:t>
            </a:r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r>
              <a:rPr lang="en-GB" altLang="zh-CN" sz="1600" dirty="0" err="1"/>
              <a:t>xiaoqiu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Tusun</a:t>
            </a:r>
            <a:r>
              <a:rPr lang="en-GB" altLang="zh-CN" sz="1600" dirty="0"/>
              <a:t>()</a:t>
            </a:r>
            <a:endParaRPr lang="en-GB" altLang="zh-CN" sz="1600" dirty="0"/>
          </a:p>
          <a:p>
            <a:r>
              <a:rPr lang="en-GB" altLang="zh-CN" sz="1600" dirty="0"/>
              <a:t>Print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xiaoqiu</a:t>
            </a:r>
            <a:r>
              <a:rPr lang="en-US" altLang="zh-CN" sz="1600" dirty="0"/>
              <a:t>._money)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xiaoqiu.get_money</a:t>
            </a:r>
            <a:r>
              <a:rPr lang="en-GB" altLang="zh-CN" sz="1600" dirty="0"/>
              <a:t>())</a:t>
            </a:r>
            <a:br>
              <a:rPr lang="en-GB" altLang="zh-CN" sz="1600" dirty="0"/>
            </a:br>
            <a:r>
              <a:rPr lang="en-GB" altLang="zh-CN" sz="1600" dirty="0" err="1"/>
              <a:t>xiaoqiu.set_money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 err="1"/>
              <a:t>xiaoqiu.get_money</a:t>
            </a:r>
            <a:r>
              <a:rPr lang="en-GB" altLang="zh-CN" sz="1600" dirty="0"/>
              <a:t>())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021310" y="2689452"/>
            <a:ext cx="3949868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#</a:t>
            </a:r>
            <a:r>
              <a:rPr lang="zh-CN" altLang="en-US" sz="1600" dirty="0"/>
              <a:t> </a:t>
            </a:r>
            <a:r>
              <a:rPr lang="en-US" altLang="zh-CN" sz="1600" dirty="0"/>
              <a:t>2.</a:t>
            </a:r>
            <a:r>
              <a:rPr lang="zh-CN" altLang="en-US" sz="1600" dirty="0"/>
              <a:t>徒弟类的定义</a:t>
            </a:r>
            <a:br>
              <a:rPr lang="en-US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600" dirty="0"/>
              <a:t>(School, Master):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独创煎饼果子技术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zh-CN" altLang="en-US" sz="1600" i="1" dirty="0">
                <a:solidFill>
                  <a:srgbClr val="8C8C8C"/>
                </a:solidFill>
                <a:effectLst/>
              </a:rPr>
            </a:br>
            <a:r>
              <a:rPr lang="zh-CN" altLang="en-US" sz="1600" i="1" dirty="0">
                <a:solidFill>
                  <a:srgbClr val="8C8C8C"/>
                </a:solidFill>
                <a:effectLst/>
              </a:rPr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.__money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2000000</a:t>
            </a:r>
            <a:br>
              <a:rPr lang="en-GB" altLang="zh-CN" sz="1600" dirty="0">
                <a:solidFill>
                  <a:srgbClr val="1750EB"/>
                </a:solidFill>
                <a:effectLst/>
              </a:rPr>
            </a:br>
            <a:r>
              <a:rPr lang="en-GB" altLang="zh-CN" sz="16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定义函数：获取私有属性值 </a:t>
            </a:r>
            <a:r>
              <a:rPr lang="en-GB" altLang="zh-CN" sz="1600" i="1" dirty="0" err="1">
                <a:solidFill>
                  <a:srgbClr val="8C8C8C"/>
                </a:solidFill>
                <a:effectLst/>
              </a:rPr>
              <a:t>get_xx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get_money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return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.__money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  <a:effectLst/>
              </a:rPr>
              <a:t>定义函数：修改私有属性值 </a:t>
            </a:r>
            <a:r>
              <a:rPr lang="en-GB" altLang="zh-CN" sz="1600" i="1" dirty="0" err="1">
                <a:solidFill>
                  <a:srgbClr val="8C8C8C"/>
                </a:solidFill>
                <a:effectLst/>
              </a:rPr>
              <a:t>set_xx</a:t>
            </a:r>
            <a:br>
              <a:rPr lang="en-GB" altLang="zh-CN" sz="1600" i="1" dirty="0">
                <a:solidFill>
                  <a:srgbClr val="8C8C8C"/>
                </a:solidFill>
                <a:effectLst/>
              </a:rPr>
            </a:br>
            <a:r>
              <a:rPr lang="en-GB" altLang="zh-CN" sz="16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set_money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.__money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1750EB"/>
                </a:solidFill>
                <a:effectLst/>
              </a:rPr>
              <a:t>500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42619" y="2766088"/>
            <a:ext cx="39498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私有属性不能直接访问，</a:t>
            </a: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中，一般定义方法名</a:t>
            </a:r>
            <a:r>
              <a:rPr lang="en-US" altLang="zh-CN" dirty="0">
                <a:solidFill>
                  <a:srgbClr val="AD2B26"/>
                </a:solidFill>
              </a:rPr>
              <a:t>' </a:t>
            </a:r>
            <a:r>
              <a:rPr lang="en-US" altLang="zh-CN" dirty="0" err="1">
                <a:solidFill>
                  <a:srgbClr val="AD2B26"/>
                </a:solidFill>
              </a:rPr>
              <a:t>get_xx</a:t>
            </a:r>
            <a:r>
              <a:rPr lang="en-US" altLang="zh-CN" dirty="0">
                <a:solidFill>
                  <a:srgbClr val="AD2B26"/>
                </a:solidFill>
              </a:rPr>
              <a:t> '</a:t>
            </a:r>
            <a:r>
              <a:rPr lang="zh-CN" altLang="en-US" dirty="0"/>
              <a:t>用来获取私有属性，定义</a:t>
            </a:r>
            <a:r>
              <a:rPr lang="en-US" altLang="zh-CN" dirty="0">
                <a:solidFill>
                  <a:srgbClr val="AD2B26"/>
                </a:solidFill>
              </a:rPr>
              <a:t>' </a:t>
            </a:r>
            <a:r>
              <a:rPr lang="en-US" altLang="zh-CN" dirty="0" err="1">
                <a:solidFill>
                  <a:srgbClr val="AD2B26"/>
                </a:solidFill>
              </a:rPr>
              <a:t>set_xx</a:t>
            </a:r>
            <a:r>
              <a:rPr lang="en-US" altLang="zh-CN" dirty="0">
                <a:solidFill>
                  <a:srgbClr val="AD2B26"/>
                </a:solidFill>
              </a:rPr>
              <a:t> '</a:t>
            </a:r>
            <a:r>
              <a:rPr lang="zh-CN" altLang="en-US" dirty="0"/>
              <a:t>用来修改私有属性值。</a:t>
            </a:r>
            <a:endParaRPr lang="en-US" altLang="zh-CN" dirty="0">
              <a:solidFill>
                <a:srgbClr val="B6020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定义和获取私有方法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82320" y="145727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故事</a:t>
            </a:r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7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15250" y="1332528"/>
            <a:ext cx="8218805" cy="79162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小明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把煎饼果子技术传承给徒弟的同时，</a:t>
            </a:r>
            <a:r>
              <a:rPr sz="1600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不想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把自己的独创配方制作过程继承给徒弟，这时就要为</a:t>
            </a:r>
            <a:r>
              <a:rPr sz="1600" b="1" dirty="0" err="1">
                <a:solidFill>
                  <a:srgbClr val="C00000"/>
                </a:solidFill>
                <a:ea typeface="Alibaba PuHuiTi R" pitchFamily="18" charset="-122"/>
                <a:sym typeface="+mn-ea"/>
              </a:rPr>
              <a:t>制作独创配方</a:t>
            </a:r>
            <a:r>
              <a:rPr sz="1600" dirty="0" err="1">
                <a:solidFill>
                  <a:srgbClr val="262626"/>
                </a:solidFill>
                <a:ea typeface="Alibaba PuHuiTi R" pitchFamily="18" charset="-122"/>
                <a:sym typeface="+mn-ea"/>
              </a:rPr>
              <a:t>这个方法设置私有权限</a:t>
            </a:r>
            <a:r>
              <a:rPr sz="1600" dirty="0">
                <a:solidFill>
                  <a:srgbClr val="262626"/>
                </a:solidFill>
                <a:ea typeface="Alibaba PuHuiTi R" pitchFamily="18" charset="-122"/>
                <a:sym typeface="+mn-ea"/>
              </a:rPr>
              <a:t>。</a:t>
            </a:r>
            <a:endParaRPr sz="1600" dirty="0">
              <a:solidFill>
                <a:srgbClr val="262626"/>
              </a:solidFill>
              <a:ea typeface="Alibaba PuHuiTi R" pitchFamily="18" charset="-122"/>
              <a:sym typeface="+mn-ea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0" y="2443231"/>
            <a:ext cx="3949869" cy="403187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33B3"/>
                </a:solidFill>
                <a:effectLst/>
              </a:rPr>
              <a:t>#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 </a:t>
            </a:r>
            <a:r>
              <a:rPr lang="en-US" altLang="zh-CN" sz="1600" dirty="0">
                <a:solidFill>
                  <a:srgbClr val="0033B3"/>
                </a:solidFill>
                <a:effectLst/>
              </a:rPr>
              <a:t>1.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师傅</a:t>
            </a:r>
            <a:r>
              <a:rPr lang="zh-CN" altLang="en-US" sz="1600" dirty="0">
                <a:solidFill>
                  <a:srgbClr val="0033B3"/>
                </a:solidFill>
              </a:rPr>
              <a:t>类和学校类的定义</a:t>
            </a:r>
            <a:endParaRPr lang="en-GB" altLang="zh-CN" sz="1600" dirty="0">
              <a:solidFill>
                <a:srgbClr val="0033B3"/>
              </a:solidFill>
              <a:effectLst/>
            </a:endParaRPr>
          </a:p>
          <a:p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Master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古法煎饼果子配方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School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'[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黑马煎饼果子配方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]'</a:t>
            </a: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br>
              <a:rPr lang="en-US" altLang="zh-CN" sz="1600" dirty="0">
                <a:solidFill>
                  <a:srgbClr val="067D17"/>
                </a:solidFill>
                <a:effectLst/>
              </a:rPr>
            </a:br>
            <a:r>
              <a:rPr lang="en-US" altLang="zh-CN" sz="1600" dirty="0">
                <a:solidFill>
                  <a:srgbClr val="067D17"/>
                </a:solidFill>
                <a:effectLst/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8061669" y="4905444"/>
            <a:ext cx="3640309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33B3"/>
                </a:solidFill>
                <a:effectLst/>
              </a:rPr>
              <a:t>#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 </a:t>
            </a:r>
            <a:r>
              <a:rPr lang="en-US" altLang="zh-CN" sz="1600" dirty="0">
                <a:solidFill>
                  <a:srgbClr val="0033B3"/>
                </a:solidFill>
                <a:effectLst/>
              </a:rPr>
              <a:t>3.</a:t>
            </a:r>
            <a:r>
              <a:rPr lang="zh-CN" altLang="en-US" sz="1600" dirty="0">
                <a:solidFill>
                  <a:srgbClr val="0033B3"/>
                </a:solidFill>
                <a:effectLst/>
              </a:rPr>
              <a:t>定义类徒孙</a:t>
            </a:r>
            <a:endParaRPr lang="en-GB" altLang="zh-CN" sz="1600" dirty="0">
              <a:solidFill>
                <a:srgbClr val="0033B3"/>
              </a:solidFill>
              <a:effectLst/>
            </a:endParaRPr>
          </a:p>
          <a:p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  <a:effectLst/>
              </a:rPr>
              <a:t>Tusun</a:t>
            </a:r>
            <a:r>
              <a:rPr lang="en-GB" altLang="zh-CN" sz="1600" dirty="0"/>
              <a:t>(Prentice):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pass</a:t>
            </a:r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br>
              <a:rPr lang="en-GB" altLang="zh-CN" sz="1600" dirty="0">
                <a:solidFill>
                  <a:srgbClr val="0033B3"/>
                </a:solidFill>
                <a:effectLst/>
              </a:rPr>
            </a:br>
            <a:r>
              <a:rPr lang="en-GB" altLang="zh-CN" sz="1600" dirty="0"/>
              <a:t>xiao</a:t>
            </a:r>
            <a:r>
              <a:rPr lang="en-US" altLang="zh-CN" sz="1600" dirty="0" err="1"/>
              <a:t>hei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Tusun</a:t>
            </a:r>
            <a:r>
              <a:rPr lang="en-GB" altLang="zh-CN" sz="1600" dirty="0"/>
              <a:t>()</a:t>
            </a:r>
            <a:endParaRPr lang="en-GB" altLang="zh-CN" sz="1600" dirty="0"/>
          </a:p>
          <a:p>
            <a:r>
              <a:rPr lang="en-GB" altLang="zh-CN" sz="1600" dirty="0"/>
              <a:t>Print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xiaohei.make</a:t>
            </a:r>
            <a:r>
              <a:rPr lang="en-US" altLang="zh-CN" sz="1600" dirty="0"/>
              <a:t>())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3949869" y="3185297"/>
            <a:ext cx="3949868" cy="329320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#</a:t>
            </a:r>
            <a:r>
              <a:rPr lang="zh-CN" altLang="en-US" sz="1600" dirty="0"/>
              <a:t> </a:t>
            </a:r>
            <a:r>
              <a:rPr lang="en-US" altLang="zh-CN" sz="1600" dirty="0"/>
              <a:t>2.</a:t>
            </a:r>
            <a:r>
              <a:rPr lang="zh-CN" altLang="en-US" sz="1600" dirty="0"/>
              <a:t>徒弟类的定义</a:t>
            </a:r>
            <a:br>
              <a:rPr lang="en-US" altLang="zh-CN" sz="1600" dirty="0"/>
            </a:br>
            <a:r>
              <a:rPr lang="en-GB" altLang="zh-CN" sz="1600" dirty="0">
                <a:solidFill>
                  <a:srgbClr val="0033B3"/>
                </a:solidFill>
                <a:effectLst/>
              </a:rPr>
              <a:t>class </a:t>
            </a:r>
            <a:r>
              <a:rPr lang="en-GB" altLang="zh-CN" sz="1600" dirty="0">
                <a:solidFill>
                  <a:srgbClr val="000000"/>
                </a:solidFill>
                <a:effectLst/>
              </a:rPr>
              <a:t>Prentice</a:t>
            </a:r>
            <a:r>
              <a:rPr lang="en-GB" altLang="zh-CN" sz="1600" dirty="0"/>
              <a:t>(School, Master):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/>
              <a:t> = 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‘[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独创煎饼果子技术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]</a:t>
            </a:r>
            <a:br>
              <a:rPr lang="en-US" altLang="zh-CN" sz="1600" dirty="0"/>
            </a:br>
            <a:r>
              <a:rPr lang="zh-CN" altLang="en-US" sz="1600" dirty="0"/>
              <a:t>  </a:t>
            </a:r>
            <a:endParaRPr lang="en-US" altLang="zh-CN" sz="1600" dirty="0"/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#</a:t>
            </a:r>
            <a:r>
              <a:rPr lang="zh-CN" altLang="en-US" sz="1600" dirty="0"/>
              <a:t> 私有方法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  <a:effectLst/>
              </a:rPr>
              <a:t>def </a:t>
            </a:r>
            <a:r>
              <a:rPr lang="en-US" altLang="zh-CN" sz="1600" dirty="0">
                <a:solidFill>
                  <a:srgbClr val="0033B3"/>
                </a:solidFill>
              </a:rPr>
              <a:t>__</a:t>
            </a:r>
            <a:r>
              <a:rPr lang="en-GB" altLang="zh-CN" sz="1600" dirty="0" err="1">
                <a:solidFill>
                  <a:srgbClr val="00627A"/>
                </a:solidFill>
                <a:effectLst/>
              </a:rPr>
              <a:t>make_cake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  <a:effectLst/>
              </a:rPr>
              <a:t>f'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运用</a:t>
            </a:r>
            <a:r>
              <a:rPr lang="en-US" altLang="zh-CN" sz="1600" dirty="0">
                <a:solidFill>
                  <a:srgbClr val="0037A6"/>
                </a:solidFill>
                <a:effectLst/>
              </a:rPr>
              <a:t>{</a:t>
            </a:r>
            <a:r>
              <a:rPr lang="en-GB" altLang="zh-CN" sz="1600" dirty="0" err="1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 err="1"/>
              <a:t>.kongfu</a:t>
            </a:r>
            <a:r>
              <a:rPr lang="en-GB" altLang="zh-CN" sz="1600" dirty="0">
                <a:solidFill>
                  <a:srgbClr val="0037A6"/>
                </a:solidFill>
                <a:effectLst/>
              </a:rPr>
              <a:t>}</a:t>
            </a:r>
            <a:r>
              <a:rPr lang="zh-CN" altLang="en-US" sz="1600" dirty="0">
                <a:solidFill>
                  <a:srgbClr val="067D17"/>
                </a:solidFill>
                <a:effectLst/>
              </a:rPr>
              <a:t>制作煎饼果子</a:t>
            </a:r>
            <a:r>
              <a:rPr lang="en-US" altLang="zh-CN" sz="1600" dirty="0">
                <a:solidFill>
                  <a:srgbClr val="067D17"/>
                </a:solidFill>
                <a:effectLst/>
              </a:rPr>
              <a:t>’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     </a:t>
            </a:r>
            <a:r>
              <a:rPr lang="en-US" altLang="zh-CN" sz="1600" dirty="0"/>
              <a:t>def</a:t>
            </a:r>
            <a:r>
              <a:rPr lang="zh-CN" altLang="en-US" sz="1600" dirty="0"/>
              <a:t> </a:t>
            </a:r>
            <a:r>
              <a:rPr lang="en-US" altLang="zh-CN" sz="1600" dirty="0"/>
              <a:t>make(self):</a:t>
            </a:r>
            <a:endParaRPr lang="en-US" altLang="zh-CN" sz="1600" dirty="0"/>
          </a:p>
          <a:p>
            <a:r>
              <a:rPr lang="zh-CN" altLang="en-US" sz="1600" dirty="0"/>
              <a:t>         </a:t>
            </a:r>
            <a:r>
              <a:rPr lang="en-US" altLang="zh-CN" sz="1600" dirty="0"/>
              <a:t>self.__</a:t>
            </a:r>
            <a:r>
              <a:rPr lang="en-US" altLang="zh-CN" sz="1600" dirty="0" err="1"/>
              <a:t>make_cake</a:t>
            </a:r>
            <a:r>
              <a:rPr lang="en-US" altLang="zh-CN" sz="1600" dirty="0"/>
              <a:t>()</a:t>
            </a:r>
            <a:endParaRPr lang="en-US" altLang="zh-CN" sz="1600" dirty="0"/>
          </a:p>
          <a:p>
            <a:r>
              <a:rPr lang="zh-CN" altLang="en-US" sz="1600" dirty="0"/>
              <a:t>    </a:t>
            </a:r>
            <a:br>
              <a:rPr lang="en-US" altLang="zh-CN" sz="1600" dirty="0"/>
            </a:b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91985" y="3280285"/>
            <a:ext cx="3217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访问私有方法,可以使用重新设置一个公有方法来访问。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043219" y="839054"/>
            <a:ext cx="5615787" cy="443208"/>
          </a:xfrm>
        </p:spPr>
        <p:txBody>
          <a:bodyPr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什么是封装</a:t>
            </a:r>
            <a:r>
              <a:rPr lang="zh-CN" altLang="en-US" dirty="0"/>
              <a:t>？</a:t>
            </a:r>
            <a:endParaRPr lang="en-US" sz="1600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文本占位符 4"/>
          <p:cNvSpPr txBox="1"/>
          <p:nvPr/>
        </p:nvSpPr>
        <p:spPr>
          <a:xfrm>
            <a:off x="4043219" y="3069021"/>
            <a:ext cx="4711898" cy="46418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dirty="0"/>
              <a:t>3.</a:t>
            </a:r>
            <a:r>
              <a:rPr lang="zh-CN" altLang="en-US" dirty="0"/>
              <a:t>获取私有属性的方式？</a:t>
            </a:r>
            <a:endParaRPr lang="zh-CN" altLang="en-US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4773688" y="1282262"/>
            <a:ext cx="5032463" cy="3223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/>
              <a:t>将</a:t>
            </a:r>
            <a:r>
              <a:rPr lang="zh-CN" altLang="en-US" sz="1600" dirty="0">
                <a:solidFill>
                  <a:srgbClr val="C00000"/>
                </a:solidFill>
              </a:rPr>
              <a:t>属性和方法</a:t>
            </a:r>
            <a:r>
              <a:rPr lang="zh-CN" altLang="en-US" sz="1600" dirty="0"/>
              <a:t>书写到类的里面的操作</a:t>
            </a:r>
            <a:endParaRPr lang="en-US" sz="1600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4773688" y="2428766"/>
            <a:ext cx="5764925" cy="64025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>
                <a:solidFill>
                  <a:srgbClr val="C00000"/>
                </a:solidFill>
                <a:latin typeface="Helvetica Neue" panose="02000503000000020004" pitchFamily="2" charset="0"/>
              </a:rPr>
              <a:t>私有属性</a:t>
            </a:r>
            <a:r>
              <a:rPr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或私有</a:t>
            </a:r>
            <a:r>
              <a:rPr lang="zh-CN" altLang="en-US" sz="1600" dirty="0">
                <a:solidFill>
                  <a:srgbClr val="C00000"/>
                </a:solidFill>
                <a:latin typeface="Helvetica Neue" panose="02000503000000020004" pitchFamily="2" charset="0"/>
              </a:rPr>
              <a:t>⽅法</a:t>
            </a:r>
            <a:r>
              <a:rPr lang="zh-CN" altLang="en-US" sz="1600" dirty="0">
                <a:solidFill>
                  <a:srgbClr val="333333"/>
                </a:solidFill>
                <a:latin typeface="Helvetica Neue" panose="02000503000000020004" pitchFamily="2" charset="0"/>
              </a:rPr>
              <a:t>不继承给⼦类</a:t>
            </a:r>
            <a:endParaRPr lang="zh-CN" altLang="en-US" sz="1600" dirty="0">
              <a:solidFill>
                <a:srgbClr val="262626"/>
              </a:solidFill>
              <a:ea typeface="Alibaba PuHuiTi R" pitchFamily="18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 在属性或方法名前面加上 </a:t>
            </a:r>
            <a:r>
              <a:rPr lang="en-US" altLang="zh-CN" sz="1600" b="1" dirty="0">
                <a:solidFill>
                  <a:srgbClr val="C00000"/>
                </a:solidFill>
                <a:ea typeface="Alibaba PuHuiTi R" pitchFamily="18" charset="-122"/>
              </a:rPr>
              <a:t>__</a:t>
            </a:r>
            <a:r>
              <a:rPr lang="zh-CN" altLang="en-US" sz="1600" dirty="0">
                <a:solidFill>
                  <a:srgbClr val="262626"/>
                </a:solidFill>
                <a:ea typeface="Alibaba PuHuiTi R" pitchFamily="18" charset="-122"/>
              </a:rPr>
              <a:t>，就可设置私有属性或方法</a:t>
            </a:r>
            <a:endParaRPr lang="zh-CN" altLang="en-US" sz="1600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占位符 4"/>
          <p:cNvSpPr txBox="1"/>
          <p:nvPr/>
        </p:nvSpPr>
        <p:spPr>
          <a:xfrm>
            <a:off x="4043219" y="1855514"/>
            <a:ext cx="5764925" cy="3223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dirty="0"/>
              <a:t>2.</a:t>
            </a:r>
            <a:r>
              <a:rPr lang="zh-CN" altLang="en-US" dirty="0"/>
              <a:t>什么是私有属性和私有方法？</a:t>
            </a:r>
            <a:endParaRPr lang="zh-CN" altLang="en-US" dirty="0"/>
          </a:p>
        </p:txBody>
      </p:sp>
      <p:sp>
        <p:nvSpPr>
          <p:cNvPr id="7" name="文本占位符 4"/>
          <p:cNvSpPr txBox="1"/>
          <p:nvPr/>
        </p:nvSpPr>
        <p:spPr>
          <a:xfrm>
            <a:off x="4043219" y="4554056"/>
            <a:ext cx="4428118" cy="3450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dirty="0"/>
              <a:t>4. </a:t>
            </a:r>
            <a:r>
              <a:rPr lang="zh-CN" altLang="en-US" dirty="0">
                <a:sym typeface="+mn-ea"/>
              </a:rPr>
              <a:t>获取私有方法的方式？</a:t>
            </a:r>
            <a:r>
              <a:rPr lang="zh-CN" altLang="en-US" dirty="0"/>
              <a:t>	</a:t>
            </a:r>
            <a:endParaRPr lang="zh-CN" altLang="en-US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占位符 4"/>
          <p:cNvSpPr txBox="1"/>
          <p:nvPr/>
        </p:nvSpPr>
        <p:spPr>
          <a:xfrm>
            <a:off x="4773688" y="3548107"/>
            <a:ext cx="5141826" cy="82416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/>
              <a:t>定义方法名</a:t>
            </a:r>
            <a:r>
              <a:rPr lang="en-US" altLang="zh-CN" sz="1600" dirty="0">
                <a:solidFill>
                  <a:srgbClr val="AD2B26"/>
                </a:solidFill>
              </a:rPr>
              <a:t>' </a:t>
            </a:r>
            <a:r>
              <a:rPr lang="en-US" altLang="zh-CN" sz="1600" dirty="0" err="1">
                <a:solidFill>
                  <a:srgbClr val="C00000"/>
                </a:solidFill>
              </a:rPr>
              <a:t>get_xx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AD2B26"/>
                </a:solidFill>
              </a:rPr>
              <a:t>'</a:t>
            </a:r>
            <a:r>
              <a:rPr lang="zh-CN" altLang="en-US" sz="1600" dirty="0"/>
              <a:t>用来获取私有属性，</a:t>
            </a:r>
            <a:endParaRPr lang="zh-CN" altLang="en-US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/>
              <a:t>定义</a:t>
            </a:r>
            <a:r>
              <a:rPr lang="en-US" altLang="zh-CN" sz="1600" dirty="0">
                <a:solidFill>
                  <a:srgbClr val="AD2B26"/>
                </a:solidFill>
              </a:rPr>
              <a:t>' </a:t>
            </a:r>
            <a:r>
              <a:rPr lang="en-US" altLang="zh-CN" sz="1600" dirty="0" err="1">
                <a:solidFill>
                  <a:srgbClr val="C00000"/>
                </a:solidFill>
              </a:rPr>
              <a:t>set_xx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AD2B26"/>
                </a:solidFill>
              </a:rPr>
              <a:t>'</a:t>
            </a:r>
            <a:r>
              <a:rPr lang="zh-CN" altLang="en-US" sz="1600" dirty="0"/>
              <a:t>用来修改私有属性值。</a:t>
            </a:r>
            <a:endParaRPr lang="zh-CN" altLang="en-US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4773688" y="4946460"/>
            <a:ext cx="7040575" cy="12585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/>
              <a:t>设置一个</a:t>
            </a:r>
            <a:r>
              <a:rPr lang="zh-CN" altLang="en-US" sz="1600" dirty="0">
                <a:solidFill>
                  <a:srgbClr val="C00000"/>
                </a:solidFill>
              </a:rPr>
              <a:t>公有方法</a:t>
            </a:r>
            <a:r>
              <a:rPr lang="zh-CN" altLang="en-US" sz="1600" dirty="0"/>
              <a:t>来访问私有方法</a:t>
            </a:r>
            <a:endParaRPr lang="zh-CN" altLang="en-US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/>
              <a:t>总之一句话， 私有属性和方法，只能在</a:t>
            </a:r>
            <a:r>
              <a:rPr lang="zh-CN" altLang="en-US" sz="1600" dirty="0">
                <a:solidFill>
                  <a:srgbClr val="C00000"/>
                </a:solidFill>
              </a:rPr>
              <a:t>类的内部</a:t>
            </a:r>
            <a:r>
              <a:rPr lang="zh-CN" altLang="en-US" sz="1600" dirty="0"/>
              <a:t>使用，</a:t>
            </a:r>
            <a:r>
              <a:rPr lang="zh-CN" altLang="en-US" sz="1600" dirty="0">
                <a:solidFill>
                  <a:srgbClr val="C00000"/>
                </a:solidFill>
              </a:rPr>
              <a:t>不能在类的外部使用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1600" dirty="0"/>
              <a:t>如果想在</a:t>
            </a:r>
            <a:r>
              <a:rPr lang="zh-CN" altLang="en-US" sz="1600" dirty="0">
                <a:solidFill>
                  <a:srgbClr val="C00000"/>
                </a:solidFill>
              </a:rPr>
              <a:t>类的外部</a:t>
            </a:r>
            <a:r>
              <a:rPr lang="zh-CN" altLang="en-US" sz="1600" dirty="0"/>
              <a:t>使用通过公共接口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571" y="3646431"/>
            <a:ext cx="410210" cy="410210"/>
          </a:xfrm>
          <a:prstGeom prst="rect">
            <a:avLst/>
          </a:prstGeom>
        </p:spPr>
      </p:pic>
      <p:sp>
        <p:nvSpPr>
          <p:cNvPr id="6" name="文本占位符 1"/>
          <p:cNvSpPr txBox="1"/>
          <p:nvPr/>
        </p:nvSpPr>
        <p:spPr>
          <a:xfrm>
            <a:off x="5401934" y="1300797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定义类的几种语法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中的继承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中的封装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en-US" altLang="zh-CN" b="1" dirty="0">
                <a:solidFill>
                  <a:srgbClr val="AD2B26"/>
                </a:solidFill>
              </a:rPr>
              <a:t>Python</a:t>
            </a:r>
            <a:r>
              <a:rPr lang="zh-CN" altLang="en-US" b="1" dirty="0">
                <a:solidFill>
                  <a:srgbClr val="AD2B26"/>
                </a:solidFill>
              </a:rPr>
              <a:t>中的多态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        </a:t>
            </a:r>
            <a:r>
              <a:rPr lang="zh-CN" altLang="en-US" dirty="0">
                <a:solidFill>
                  <a:srgbClr val="AD2B26"/>
                </a:solidFill>
              </a:rPr>
              <a:t>概念、成立条件、好处、抽象类</a:t>
            </a:r>
            <a:endParaRPr lang="zh-CN" altLang="en-US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面向对象的其他特性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能说出什么是多态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能说出多态实现的步骤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能说出多态的好处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能说出抽象类的好处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什么是多态？</a:t>
            </a:r>
            <a:endParaRPr dirty="0"/>
          </a:p>
        </p:txBody>
      </p:sp>
      <p:sp>
        <p:nvSpPr>
          <p:cNvPr id="7" name="文本框 6"/>
          <p:cNvSpPr txBox="1"/>
          <p:nvPr/>
        </p:nvSpPr>
        <p:spPr>
          <a:xfrm>
            <a:off x="710880" y="1693038"/>
            <a:ext cx="1005237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多态，指的是：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多种状态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。比如：同样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一个函数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在不同的场景下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有不同的状态</a:t>
            </a:r>
            <a:endParaRPr lang="en-US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" y="2632710"/>
            <a:ext cx="3239135" cy="25444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305" y="2968625"/>
            <a:ext cx="3622675" cy="1594485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4782820" y="3558540"/>
            <a:ext cx="848995" cy="41402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896235" y="5575935"/>
            <a:ext cx="52341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同样的行为（函数），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传入不同的对象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，得到不同的状态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6" grpId="0"/>
      <p:bldP spid="6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多态成立的条件</a:t>
            </a:r>
            <a:endParaRPr dirty="0"/>
          </a:p>
        </p:txBody>
      </p:sp>
      <p:sp>
        <p:nvSpPr>
          <p:cNvPr id="7" name="文本框 6"/>
          <p:cNvSpPr txBox="1"/>
          <p:nvPr/>
        </p:nvSpPr>
        <p:spPr>
          <a:xfrm>
            <a:off x="1180780" y="1512531"/>
            <a:ext cx="7772720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实现多态的三个条件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1841180" y="1951973"/>
            <a:ext cx="7467600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有继承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（定义父类、定义子类，子类继承父类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函数重写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（子类重写父类的函数）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父类引用指向子类对象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（子类对象传给父类对象调用者）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80780" y="3166527"/>
            <a:ext cx="6388420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根据多态实现的三个条件，构建一下场景</a:t>
            </a:r>
            <a:endParaRPr lang="en-US" altLang="zh-CN" dirty="0"/>
          </a:p>
        </p:txBody>
      </p:sp>
      <p:sp>
        <p:nvSpPr>
          <p:cNvPr id="10" name="文本框 9"/>
          <p:cNvSpPr txBox="1"/>
          <p:nvPr/>
        </p:nvSpPr>
        <p:spPr>
          <a:xfrm>
            <a:off x="1841180" y="3639609"/>
            <a:ext cx="10052370" cy="153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对象对战平台</a:t>
            </a:r>
            <a:r>
              <a:rPr lang="en-GB" altLang="zh-CN" sz="1600" dirty="0" err="1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object_play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 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英雄一代战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机（战斗力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60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）与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敌军战机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（战斗力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）对抗。英雄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代战机失败！</a:t>
            </a:r>
            <a:b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卧薪尝胆，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英雄二代战机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（战斗力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80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）出场！，战胜敌军战机！</a:t>
            </a:r>
            <a:b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对象对战平台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object_play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代码不发生变化的情况下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完成多次战斗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41180" y="5359187"/>
            <a:ext cx="8897431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思路分析：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抽象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战机类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HeroFighter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AdvHeroFighter</a:t>
            </a:r>
            <a:r>
              <a:rPr lang="zh-CN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敌机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EnemyFighter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; </a:t>
            </a:r>
            <a:endParaRPr lang="en-GB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构建对象战斗平台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使用多态实现</a:t>
            </a:r>
            <a:endParaRPr lang="en-GB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多态成立的条件</a:t>
            </a:r>
            <a:endParaRPr dirty="0"/>
          </a:p>
        </p:txBody>
      </p:sp>
      <p:sp>
        <p:nvSpPr>
          <p:cNvPr id="2" name="TextBox 3"/>
          <p:cNvSpPr txBox="1"/>
          <p:nvPr/>
        </p:nvSpPr>
        <p:spPr>
          <a:xfrm>
            <a:off x="710880" y="1457271"/>
            <a:ext cx="6159820" cy="526297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dirty="0">
                <a:solidFill>
                  <a:srgbClr val="0033B3"/>
                </a:solidFill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</a:rPr>
              <a:t>HeroFighter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</a:rPr>
              <a:t>power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>
                <a:solidFill>
                  <a:srgbClr val="1750EB"/>
                </a:solidFill>
              </a:rPr>
              <a:t>60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br>
              <a:rPr lang="en-GB" altLang="zh-CN" sz="1600" dirty="0">
                <a:solidFill>
                  <a:srgbClr val="1750EB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</a:rPr>
              <a:t>AdvHeroFighter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HeroFighter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</a:rPr>
              <a:t>power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>
                <a:solidFill>
                  <a:srgbClr val="1750EB"/>
                </a:solidFill>
              </a:rPr>
              <a:t>80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br>
              <a:rPr lang="en-GB" altLang="zh-CN" sz="1600" dirty="0">
                <a:solidFill>
                  <a:srgbClr val="1750EB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</a:rPr>
              <a:t>EnemyFighter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</a:rPr>
              <a:t>attack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>
                <a:solidFill>
                  <a:srgbClr val="1750EB"/>
                </a:solidFill>
              </a:rPr>
              <a:t>70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br>
              <a:rPr lang="zh-CN" altLang="en-US" sz="1600" dirty="0"/>
            </a:br>
            <a:r>
              <a:rPr lang="en-US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搭建一个平台</a:t>
            </a:r>
            <a:r>
              <a:rPr lang="en-US" altLang="zh-CN" sz="1600" i="1" dirty="0">
                <a:solidFill>
                  <a:srgbClr val="8C8C8C"/>
                </a:solidFill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</a:rPr>
              <a:t>框架</a:t>
            </a:r>
            <a:r>
              <a:rPr lang="en-US" altLang="zh-CN" sz="1600" i="1" dirty="0">
                <a:solidFill>
                  <a:srgbClr val="8C8C8C"/>
                </a:solidFill>
              </a:rPr>
              <a:t>), </a:t>
            </a:r>
            <a:r>
              <a:rPr lang="zh-CN" altLang="en-US" sz="1600" i="1" dirty="0">
                <a:solidFill>
                  <a:srgbClr val="8C8C8C"/>
                </a:solidFill>
              </a:rPr>
              <a:t>让对象唱戏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</a:rPr>
              <a:t>object_play</a:t>
            </a:r>
            <a:r>
              <a:rPr lang="en-GB" altLang="zh-CN" sz="1600" dirty="0"/>
              <a:t>(</a:t>
            </a:r>
            <a:r>
              <a:rPr lang="en-GB" altLang="zh-CN" sz="1600" dirty="0" err="1"/>
              <a:t>herofighter:</a:t>
            </a:r>
            <a:r>
              <a:rPr lang="en-GB" altLang="zh-CN" sz="1600" dirty="0" err="1">
                <a:solidFill>
                  <a:srgbClr val="000000"/>
                </a:solidFill>
              </a:rPr>
              <a:t>HeroFighter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enemyfighter:</a:t>
            </a:r>
            <a:r>
              <a:rPr lang="en-GB" altLang="zh-CN" sz="1600" dirty="0" err="1">
                <a:solidFill>
                  <a:srgbClr val="000000"/>
                </a:solidFill>
              </a:rPr>
              <a:t>EnemyFighter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</a:rPr>
              <a:t># def </a:t>
            </a:r>
            <a:r>
              <a:rPr lang="en-GB" altLang="zh-CN" sz="1600" i="1" dirty="0" err="1">
                <a:solidFill>
                  <a:srgbClr val="8C8C8C"/>
                </a:solidFill>
              </a:rPr>
              <a:t>object_play</a:t>
            </a:r>
            <a:r>
              <a:rPr lang="en-GB" altLang="zh-CN" sz="1600" i="1" dirty="0">
                <a:solidFill>
                  <a:srgbClr val="8C8C8C"/>
                </a:solidFill>
              </a:rPr>
              <a:t>(</a:t>
            </a:r>
            <a:r>
              <a:rPr lang="en-GB" altLang="zh-CN" sz="1600" i="1" dirty="0" err="1">
                <a:solidFill>
                  <a:srgbClr val="8C8C8C"/>
                </a:solidFill>
              </a:rPr>
              <a:t>herofighter</a:t>
            </a:r>
            <a:r>
              <a:rPr lang="en-GB" altLang="zh-CN" sz="1600" i="1" dirty="0">
                <a:solidFill>
                  <a:srgbClr val="8C8C8C"/>
                </a:solidFill>
              </a:rPr>
              <a:t>, </a:t>
            </a:r>
            <a:r>
              <a:rPr lang="en-GB" altLang="zh-CN" sz="1600" i="1" dirty="0" err="1">
                <a:solidFill>
                  <a:srgbClr val="8C8C8C"/>
                </a:solidFill>
              </a:rPr>
              <a:t>enemyfighter</a:t>
            </a:r>
            <a:r>
              <a:rPr lang="en-GB" altLang="zh-CN" sz="1600" i="1" dirty="0">
                <a:solidFill>
                  <a:srgbClr val="8C8C8C"/>
                </a:solidFill>
              </a:rPr>
              <a:t>):</a:t>
            </a:r>
            <a:br>
              <a:rPr lang="en-GB" altLang="zh-CN" sz="1600" i="1" dirty="0">
                <a:solidFill>
                  <a:srgbClr val="8C8C8C"/>
                </a:solidFill>
              </a:rPr>
            </a:br>
            <a:r>
              <a:rPr lang="en-GB" altLang="zh-CN" sz="1600" i="1" dirty="0">
                <a:solidFill>
                  <a:srgbClr val="8C8C8C"/>
                </a:solidFill>
              </a:rPr>
              <a:t>    # </a:t>
            </a:r>
            <a:r>
              <a:rPr lang="en-GB" altLang="zh-CN" sz="1600" i="1" dirty="0" err="1">
                <a:solidFill>
                  <a:srgbClr val="8C8C8C"/>
                </a:solidFill>
              </a:rPr>
              <a:t>herofighter.power</a:t>
            </a:r>
            <a:r>
              <a:rPr lang="en-GB" altLang="zh-CN" sz="1600" i="1" dirty="0">
                <a:solidFill>
                  <a:srgbClr val="8C8C8C"/>
                </a:solidFill>
              </a:rPr>
              <a:t>() </a:t>
            </a:r>
            <a:r>
              <a:rPr lang="zh-CN" altLang="en-US" sz="1600" i="1" dirty="0">
                <a:solidFill>
                  <a:srgbClr val="8C8C8C"/>
                </a:solidFill>
              </a:rPr>
              <a:t>此处发生多态</a:t>
            </a:r>
            <a:r>
              <a:rPr lang="en-US" altLang="zh-CN" sz="1600" i="1" dirty="0">
                <a:solidFill>
                  <a:srgbClr val="8C8C8C"/>
                </a:solidFill>
              </a:rPr>
              <a:t>!!!</a:t>
            </a:r>
            <a:br>
              <a:rPr lang="en-US" altLang="zh-CN" sz="1600" i="1" dirty="0">
                <a:solidFill>
                  <a:srgbClr val="8C8C8C"/>
                </a:solidFill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    # </a:t>
            </a:r>
            <a:r>
              <a:rPr lang="zh-CN" altLang="en-US" sz="1600" i="1" dirty="0">
                <a:solidFill>
                  <a:srgbClr val="8C8C8C"/>
                </a:solidFill>
              </a:rPr>
              <a:t>看面向对象代码，要时时刻刻注意什么时候会发生多态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if </a:t>
            </a:r>
            <a:r>
              <a:rPr lang="en-GB" altLang="zh-CN" sz="1600" dirty="0" err="1"/>
              <a:t>herofighter.power</a:t>
            </a:r>
            <a:r>
              <a:rPr lang="en-GB" altLang="zh-CN" sz="1600" dirty="0"/>
              <a:t>() &gt; </a:t>
            </a:r>
            <a:r>
              <a:rPr lang="en-GB" altLang="zh-CN" sz="1600" dirty="0" err="1"/>
              <a:t>enemyfighter.attack</a:t>
            </a:r>
            <a:r>
              <a:rPr lang="en-GB" altLang="zh-CN" sz="1600" dirty="0"/>
              <a:t>() 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英雄战机胜利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敌机失败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else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英雄战机失败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敌机胜利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73580" y="1571571"/>
            <a:ext cx="4788220" cy="329320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#</a:t>
            </a:r>
            <a:r>
              <a:rPr lang="zh-CN" altLang="en-US" sz="1600" dirty="0">
                <a:solidFill>
                  <a:srgbClr val="FF0000"/>
                </a:solidFill>
              </a:rPr>
              <a:t> 采用多态的方式调用</a:t>
            </a:r>
            <a:endParaRPr lang="en-GB" altLang="zh-CN" sz="1600" dirty="0">
              <a:solidFill>
                <a:srgbClr val="FF0000"/>
              </a:solidFill>
            </a:endParaRPr>
          </a:p>
          <a:p>
            <a:r>
              <a:rPr lang="en-GB" altLang="zh-CN" sz="1600" dirty="0">
                <a:solidFill>
                  <a:srgbClr val="0033B3"/>
                </a:solidFill>
              </a:rPr>
              <a:t>if </a:t>
            </a:r>
            <a:r>
              <a:rPr lang="en-GB" altLang="zh-CN" sz="1600" dirty="0"/>
              <a:t>__name__ == </a:t>
            </a:r>
            <a:r>
              <a:rPr lang="en-GB" altLang="zh-CN" sz="1600" dirty="0">
                <a:solidFill>
                  <a:srgbClr val="067D17"/>
                </a:solidFill>
              </a:rPr>
              <a:t>'__main__'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实例化</a:t>
            </a:r>
            <a:r>
              <a:rPr lang="en-US" altLang="zh-CN" sz="1600" i="1" dirty="0">
                <a:solidFill>
                  <a:srgbClr val="8C8C8C"/>
                </a:solidFill>
              </a:rPr>
              <a:t>1</a:t>
            </a:r>
            <a:r>
              <a:rPr lang="zh-CN" altLang="en-US" sz="1600" i="1" dirty="0">
                <a:solidFill>
                  <a:srgbClr val="8C8C8C"/>
                </a:solidFill>
              </a:rPr>
              <a:t>代战机 </a:t>
            </a:r>
            <a:r>
              <a:rPr lang="en-US" altLang="zh-CN" sz="1600" i="1" dirty="0">
                <a:solidFill>
                  <a:srgbClr val="8C8C8C"/>
                </a:solidFill>
              </a:rPr>
              <a:t>2</a:t>
            </a:r>
            <a:r>
              <a:rPr lang="zh-CN" altLang="en-US" sz="1600" i="1" dirty="0">
                <a:solidFill>
                  <a:srgbClr val="8C8C8C"/>
                </a:solidFill>
              </a:rPr>
              <a:t>代战机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 err="1"/>
              <a:t>myherofighter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HeroFighter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myadvherofighter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AdvHeroFighter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myenemyfighter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EnemyFighter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一代战机出场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 err="1"/>
              <a:t>object_play</a:t>
            </a:r>
            <a:r>
              <a:rPr lang="en-GB" altLang="zh-CN" sz="1600" dirty="0"/>
              <a:t>(</a:t>
            </a:r>
            <a:r>
              <a:rPr lang="en-GB" altLang="zh-CN" sz="1600" dirty="0" err="1"/>
              <a:t>myherofighter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myenemyfighter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二代战机出场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 err="1"/>
              <a:t>object_play</a:t>
            </a:r>
            <a:r>
              <a:rPr lang="en-GB" altLang="zh-CN" sz="1600" dirty="0"/>
              <a:t>(</a:t>
            </a:r>
            <a:r>
              <a:rPr lang="en-GB" altLang="zh-CN" sz="1600" dirty="0" err="1"/>
              <a:t>myadvherofighter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myenemyfighter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pass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多态的好处</a:t>
            </a:r>
            <a:endParaRPr dirty="0"/>
          </a:p>
        </p:txBody>
      </p:sp>
      <p:sp>
        <p:nvSpPr>
          <p:cNvPr id="2" name="TextBox 3"/>
          <p:cNvSpPr txBox="1"/>
          <p:nvPr/>
        </p:nvSpPr>
        <p:spPr>
          <a:xfrm>
            <a:off x="634680" y="1457271"/>
            <a:ext cx="6159820" cy="526297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600" dirty="0">
                <a:solidFill>
                  <a:srgbClr val="0033B3"/>
                </a:solidFill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</a:rPr>
              <a:t>HeroFighter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</a:rPr>
              <a:t>power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>
                <a:solidFill>
                  <a:srgbClr val="1750EB"/>
                </a:solidFill>
              </a:rPr>
              <a:t>60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br>
              <a:rPr lang="en-GB" altLang="zh-CN" sz="1600" dirty="0">
                <a:solidFill>
                  <a:srgbClr val="1750EB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</a:rPr>
              <a:t>AdvHeroFighter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HeroFighter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</a:rPr>
              <a:t>power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>
                <a:solidFill>
                  <a:srgbClr val="1750EB"/>
                </a:solidFill>
              </a:rPr>
              <a:t>80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br>
              <a:rPr lang="en-GB" altLang="zh-CN" sz="1600" dirty="0">
                <a:solidFill>
                  <a:srgbClr val="1750EB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class </a:t>
            </a:r>
            <a:r>
              <a:rPr lang="en-GB" altLang="zh-CN" sz="1600" dirty="0" err="1">
                <a:solidFill>
                  <a:srgbClr val="000000"/>
                </a:solidFill>
              </a:rPr>
              <a:t>EnemyFighter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80"/>
                </a:solidFill>
              </a:rPr>
              <a:t>object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>
                <a:solidFill>
                  <a:srgbClr val="00627A"/>
                </a:solidFill>
              </a:rPr>
              <a:t>attack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</a:rPr>
              <a:t>self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33B3"/>
                </a:solidFill>
              </a:rPr>
              <a:t>return </a:t>
            </a:r>
            <a:r>
              <a:rPr lang="en-GB" altLang="zh-CN" sz="1600" dirty="0">
                <a:solidFill>
                  <a:srgbClr val="1750EB"/>
                </a:solidFill>
              </a:rPr>
              <a:t>70</a:t>
            </a:r>
            <a:br>
              <a:rPr lang="en-GB" altLang="zh-CN" sz="1600" dirty="0">
                <a:solidFill>
                  <a:srgbClr val="1750EB"/>
                </a:solidFill>
              </a:rPr>
            </a:br>
            <a:br>
              <a:rPr lang="zh-CN" altLang="en-US" sz="1600" dirty="0"/>
            </a:br>
            <a:r>
              <a:rPr lang="en-US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搭建一个平台</a:t>
            </a:r>
            <a:r>
              <a:rPr lang="en-US" altLang="zh-CN" sz="1600" i="1" dirty="0">
                <a:solidFill>
                  <a:srgbClr val="8C8C8C"/>
                </a:solidFill>
              </a:rPr>
              <a:t>(</a:t>
            </a:r>
            <a:r>
              <a:rPr lang="zh-CN" altLang="en-US" sz="1600" i="1" dirty="0">
                <a:solidFill>
                  <a:srgbClr val="8C8C8C"/>
                </a:solidFill>
              </a:rPr>
              <a:t>框架</a:t>
            </a:r>
            <a:r>
              <a:rPr lang="en-US" altLang="zh-CN" sz="1600" i="1" dirty="0">
                <a:solidFill>
                  <a:srgbClr val="8C8C8C"/>
                </a:solidFill>
              </a:rPr>
              <a:t>), </a:t>
            </a:r>
            <a:r>
              <a:rPr lang="zh-CN" altLang="en-US" sz="1600" i="1" dirty="0">
                <a:solidFill>
                  <a:srgbClr val="8C8C8C"/>
                </a:solidFill>
              </a:rPr>
              <a:t>让对象唱戏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def </a:t>
            </a:r>
            <a:r>
              <a:rPr lang="en-GB" altLang="zh-CN" sz="1600" dirty="0" err="1">
                <a:solidFill>
                  <a:srgbClr val="00627A"/>
                </a:solidFill>
              </a:rPr>
              <a:t>object_play</a:t>
            </a:r>
            <a:r>
              <a:rPr lang="en-GB" altLang="zh-CN" sz="1600" dirty="0"/>
              <a:t>(</a:t>
            </a:r>
            <a:r>
              <a:rPr lang="en-GB" altLang="zh-CN" sz="1600" dirty="0" err="1"/>
              <a:t>herofighter:</a:t>
            </a:r>
            <a:r>
              <a:rPr lang="en-GB" altLang="zh-CN" sz="1600" dirty="0" err="1">
                <a:solidFill>
                  <a:srgbClr val="000000"/>
                </a:solidFill>
              </a:rPr>
              <a:t>HeroFighter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enemyfighter:</a:t>
            </a:r>
            <a:r>
              <a:rPr lang="en-GB" altLang="zh-CN" sz="1600" dirty="0" err="1">
                <a:solidFill>
                  <a:srgbClr val="000000"/>
                </a:solidFill>
              </a:rPr>
              <a:t>EnemyFighter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i="1" dirty="0">
                <a:solidFill>
                  <a:srgbClr val="8C8C8C"/>
                </a:solidFill>
              </a:rPr>
              <a:t># def </a:t>
            </a:r>
            <a:r>
              <a:rPr lang="en-GB" altLang="zh-CN" sz="1600" i="1" dirty="0" err="1">
                <a:solidFill>
                  <a:srgbClr val="8C8C8C"/>
                </a:solidFill>
              </a:rPr>
              <a:t>object_play</a:t>
            </a:r>
            <a:r>
              <a:rPr lang="en-GB" altLang="zh-CN" sz="1600" i="1" dirty="0">
                <a:solidFill>
                  <a:srgbClr val="8C8C8C"/>
                </a:solidFill>
              </a:rPr>
              <a:t>(</a:t>
            </a:r>
            <a:r>
              <a:rPr lang="en-GB" altLang="zh-CN" sz="1600" i="1" dirty="0" err="1">
                <a:solidFill>
                  <a:srgbClr val="8C8C8C"/>
                </a:solidFill>
              </a:rPr>
              <a:t>herofighter</a:t>
            </a:r>
            <a:r>
              <a:rPr lang="en-GB" altLang="zh-CN" sz="1600" i="1" dirty="0">
                <a:solidFill>
                  <a:srgbClr val="8C8C8C"/>
                </a:solidFill>
              </a:rPr>
              <a:t>, </a:t>
            </a:r>
            <a:r>
              <a:rPr lang="en-GB" altLang="zh-CN" sz="1600" i="1" dirty="0" err="1">
                <a:solidFill>
                  <a:srgbClr val="8C8C8C"/>
                </a:solidFill>
              </a:rPr>
              <a:t>enemyfighter</a:t>
            </a:r>
            <a:r>
              <a:rPr lang="en-GB" altLang="zh-CN" sz="1600" i="1" dirty="0">
                <a:solidFill>
                  <a:srgbClr val="8C8C8C"/>
                </a:solidFill>
              </a:rPr>
              <a:t>):</a:t>
            </a:r>
            <a:br>
              <a:rPr lang="en-GB" altLang="zh-CN" sz="1600" i="1" dirty="0">
                <a:solidFill>
                  <a:srgbClr val="8C8C8C"/>
                </a:solidFill>
              </a:rPr>
            </a:br>
            <a:r>
              <a:rPr lang="en-GB" altLang="zh-CN" sz="1600" i="1" dirty="0">
                <a:solidFill>
                  <a:srgbClr val="8C8C8C"/>
                </a:solidFill>
              </a:rPr>
              <a:t>    # </a:t>
            </a:r>
            <a:r>
              <a:rPr lang="en-GB" altLang="zh-CN" sz="1600" i="1" dirty="0" err="1">
                <a:solidFill>
                  <a:srgbClr val="8C8C8C"/>
                </a:solidFill>
              </a:rPr>
              <a:t>herofighter.power</a:t>
            </a:r>
            <a:r>
              <a:rPr lang="en-GB" altLang="zh-CN" sz="1600" i="1" dirty="0">
                <a:solidFill>
                  <a:srgbClr val="8C8C8C"/>
                </a:solidFill>
              </a:rPr>
              <a:t>() </a:t>
            </a:r>
            <a:r>
              <a:rPr lang="zh-CN" altLang="en-US" sz="1600" i="1" dirty="0">
                <a:solidFill>
                  <a:srgbClr val="8C8C8C"/>
                </a:solidFill>
              </a:rPr>
              <a:t>此处发生多态</a:t>
            </a:r>
            <a:r>
              <a:rPr lang="en-US" altLang="zh-CN" sz="1600" i="1" dirty="0">
                <a:solidFill>
                  <a:srgbClr val="8C8C8C"/>
                </a:solidFill>
              </a:rPr>
              <a:t>!!!</a:t>
            </a:r>
            <a:br>
              <a:rPr lang="en-US" altLang="zh-CN" sz="1600" i="1" dirty="0">
                <a:solidFill>
                  <a:srgbClr val="8C8C8C"/>
                </a:solidFill>
              </a:rPr>
            </a:br>
            <a:r>
              <a:rPr lang="en-US" altLang="zh-CN" sz="1600" i="1" dirty="0">
                <a:solidFill>
                  <a:srgbClr val="8C8C8C"/>
                </a:solidFill>
              </a:rPr>
              <a:t>    # </a:t>
            </a:r>
            <a:r>
              <a:rPr lang="zh-CN" altLang="en-US" sz="1600" i="1" dirty="0">
                <a:solidFill>
                  <a:srgbClr val="8C8C8C"/>
                </a:solidFill>
              </a:rPr>
              <a:t>看面向对象代码要时时刻刻注意什么时候会发生多态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if </a:t>
            </a:r>
            <a:r>
              <a:rPr lang="en-GB" altLang="zh-CN" sz="1600" dirty="0" err="1"/>
              <a:t>herofighter.power</a:t>
            </a:r>
            <a:r>
              <a:rPr lang="en-GB" altLang="zh-CN" sz="1600" dirty="0"/>
              <a:t>() &gt; </a:t>
            </a:r>
            <a:r>
              <a:rPr lang="en-GB" altLang="zh-CN" sz="1600" dirty="0" err="1"/>
              <a:t>enemyfighter.attack</a:t>
            </a:r>
            <a:r>
              <a:rPr lang="en-GB" altLang="zh-CN" sz="1600" dirty="0"/>
              <a:t>() 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英雄战机胜利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敌机失败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else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英雄战机失败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敌机胜利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35480" y="1469971"/>
            <a:ext cx="5245420" cy="501675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FF0000"/>
                </a:solidFill>
              </a:rPr>
              <a:t># </a:t>
            </a:r>
            <a:r>
              <a:rPr lang="zh-CN" altLang="en-US" sz="1600" i="1" dirty="0">
                <a:solidFill>
                  <a:srgbClr val="FF0000"/>
                </a:solidFill>
              </a:rPr>
              <a:t>若不使用多态方式</a:t>
            </a:r>
            <a:br>
              <a:rPr lang="zh-CN" altLang="en-US" sz="1600" i="1" dirty="0">
                <a:solidFill>
                  <a:srgbClr val="FF0000"/>
                </a:solidFill>
              </a:rPr>
            </a:br>
            <a:r>
              <a:rPr lang="en-GB" altLang="zh-CN" sz="1600" dirty="0">
                <a:solidFill>
                  <a:srgbClr val="0033B3"/>
                </a:solidFill>
              </a:rPr>
              <a:t>if </a:t>
            </a:r>
            <a:r>
              <a:rPr lang="en-GB" altLang="zh-CN" sz="1600" dirty="0"/>
              <a:t>__name__ == </a:t>
            </a:r>
            <a:r>
              <a:rPr lang="en-GB" altLang="zh-CN" sz="1600" dirty="0">
                <a:solidFill>
                  <a:srgbClr val="067D17"/>
                </a:solidFill>
              </a:rPr>
              <a:t>'__main__'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实例化</a:t>
            </a:r>
            <a:r>
              <a:rPr lang="en-US" altLang="zh-CN" sz="1600" i="1" dirty="0">
                <a:solidFill>
                  <a:srgbClr val="8C8C8C"/>
                </a:solidFill>
              </a:rPr>
              <a:t>1</a:t>
            </a:r>
            <a:r>
              <a:rPr lang="zh-CN" altLang="en-US" sz="1600" i="1" dirty="0">
                <a:solidFill>
                  <a:srgbClr val="8C8C8C"/>
                </a:solidFill>
              </a:rPr>
              <a:t>代战机 </a:t>
            </a:r>
            <a:r>
              <a:rPr lang="en-US" altLang="zh-CN" sz="1600" i="1" dirty="0">
                <a:solidFill>
                  <a:srgbClr val="8C8C8C"/>
                </a:solidFill>
              </a:rPr>
              <a:t>2</a:t>
            </a:r>
            <a:r>
              <a:rPr lang="zh-CN" altLang="en-US" sz="1600" i="1" dirty="0">
                <a:solidFill>
                  <a:srgbClr val="8C8C8C"/>
                </a:solidFill>
              </a:rPr>
              <a:t>代战机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 err="1"/>
              <a:t>myherofighter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HeroFighter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myadvherofighter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AdvHeroFighter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myenemyfighter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EnemyFighter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FF0000"/>
                </a:solidFill>
              </a:rPr>
              <a:t># </a:t>
            </a:r>
            <a:r>
              <a:rPr lang="zh-CN" altLang="en-US" sz="1600" i="1" dirty="0">
                <a:solidFill>
                  <a:srgbClr val="FF0000"/>
                </a:solidFill>
              </a:rPr>
              <a:t>不采用多态</a:t>
            </a:r>
            <a:r>
              <a:rPr lang="en-US" altLang="zh-CN" sz="1600" i="1" dirty="0">
                <a:solidFill>
                  <a:srgbClr val="FF0000"/>
                </a:solidFill>
              </a:rPr>
              <a:t>,</a:t>
            </a:r>
            <a:r>
              <a:rPr lang="zh-CN" altLang="en-US" sz="1600" i="1" dirty="0">
                <a:solidFill>
                  <a:srgbClr val="FF0000"/>
                </a:solidFill>
              </a:rPr>
              <a:t>代码繁琐</a:t>
            </a:r>
            <a:r>
              <a:rPr lang="en-US" altLang="zh-CN" sz="1600" i="1" dirty="0">
                <a:solidFill>
                  <a:srgbClr val="FF0000"/>
                </a:solidFill>
              </a:rPr>
              <a:t>, </a:t>
            </a:r>
            <a:r>
              <a:rPr lang="zh-CN" altLang="en-US" sz="1600" i="1" dirty="0">
                <a:solidFill>
                  <a:srgbClr val="FF0000"/>
                </a:solidFill>
              </a:rPr>
              <a:t>可拓展性不好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US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一代战机出场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if </a:t>
            </a:r>
            <a:r>
              <a:rPr lang="en-GB" altLang="zh-CN" sz="1600" dirty="0" err="1"/>
              <a:t>myherofighter.power</a:t>
            </a:r>
            <a:r>
              <a:rPr lang="en-GB" altLang="zh-CN" sz="1600" dirty="0"/>
              <a:t>() &gt; </a:t>
            </a:r>
            <a:r>
              <a:rPr lang="en-GB" altLang="zh-CN" sz="1600" dirty="0" err="1"/>
              <a:t>myenemyfighter.attack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英雄战机胜利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敌机失败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else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英雄战机失败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敌机胜利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US" altLang="zh-CN" sz="1600" i="1" dirty="0">
                <a:solidFill>
                  <a:srgbClr val="8C8C8C"/>
                </a:solidFill>
              </a:rPr>
              <a:t># </a:t>
            </a:r>
            <a:r>
              <a:rPr lang="zh-CN" altLang="en-US" sz="1600" i="1" dirty="0">
                <a:solidFill>
                  <a:srgbClr val="8C8C8C"/>
                </a:solidFill>
              </a:rPr>
              <a:t>二代战机出场</a:t>
            </a:r>
            <a:br>
              <a:rPr lang="zh-CN" altLang="en-US" sz="1600" i="1" dirty="0">
                <a:solidFill>
                  <a:srgbClr val="8C8C8C"/>
                </a:solidFill>
              </a:rPr>
            </a:br>
            <a:r>
              <a:rPr lang="zh-CN" altLang="en-US" sz="1600" i="1" dirty="0">
                <a:solidFill>
                  <a:srgbClr val="8C8C8C"/>
                </a:solidFill>
              </a:rPr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if </a:t>
            </a:r>
            <a:r>
              <a:rPr lang="en-GB" altLang="zh-CN" sz="1600" dirty="0" err="1"/>
              <a:t>myadvherofighter.power</a:t>
            </a:r>
            <a:r>
              <a:rPr lang="en-GB" altLang="zh-CN" sz="1600" dirty="0"/>
              <a:t>() &gt; </a:t>
            </a:r>
            <a:r>
              <a:rPr lang="en-GB" altLang="zh-CN" sz="1600" dirty="0" err="1"/>
              <a:t>myenemyfighter.attack</a:t>
            </a:r>
            <a:r>
              <a:rPr lang="en-GB" altLang="zh-CN" sz="1600" dirty="0"/>
              <a:t>():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英雄战机胜利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敌机失败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else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67D17"/>
                </a:solidFill>
              </a:rPr>
              <a:t>'</a:t>
            </a:r>
            <a:r>
              <a:rPr lang="zh-CN" altLang="en-US" sz="1600" dirty="0">
                <a:solidFill>
                  <a:srgbClr val="067D17"/>
                </a:solidFill>
              </a:rPr>
              <a:t>英雄战机失败</a:t>
            </a:r>
            <a:r>
              <a:rPr lang="en-US" altLang="zh-CN" sz="1600" dirty="0">
                <a:solidFill>
                  <a:srgbClr val="067D17"/>
                </a:solidFill>
              </a:rPr>
              <a:t>, </a:t>
            </a:r>
            <a:r>
              <a:rPr lang="zh-CN" altLang="en-US" sz="1600" dirty="0">
                <a:solidFill>
                  <a:srgbClr val="067D17"/>
                </a:solidFill>
              </a:rPr>
              <a:t>敌机胜利</a:t>
            </a:r>
            <a:r>
              <a:rPr lang="en-US" altLang="zh-CN" sz="1600" dirty="0">
                <a:solidFill>
                  <a:srgbClr val="067D17"/>
                </a:solidFill>
              </a:rPr>
              <a:t>'</a:t>
            </a:r>
            <a:r>
              <a:rPr lang="en-US" altLang="zh-CN" sz="1600" dirty="0"/>
              <a:t>)</a:t>
            </a:r>
            <a:br>
              <a:rPr lang="en-US" altLang="zh-CN" sz="1600" dirty="0"/>
            </a:br>
            <a:r>
              <a:rPr lang="en-US" altLang="zh-CN" sz="1600" dirty="0"/>
              <a:t>    </a:t>
            </a:r>
            <a:r>
              <a:rPr lang="en-GB" altLang="zh-CN" sz="1600" dirty="0">
                <a:solidFill>
                  <a:srgbClr val="0033B3"/>
                </a:solidFill>
              </a:rPr>
              <a:t>pass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多态的好处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38080" y="940081"/>
            <a:ext cx="4458020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为什么说多态是三大特性之一？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138870" y="1457271"/>
            <a:ext cx="10481630" cy="448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、在不改变框架代码的情况下，通过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多态语法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轻松的实现模块和模块之间的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解耦合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；实现了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软件系统的可拓展</a:t>
            </a:r>
            <a:endParaRPr lang="en-US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、对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解耦合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的大白话解释：</a:t>
            </a:r>
            <a:r>
              <a:rPr lang="zh-CN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搭建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平台函数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object_play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herofighter:HeroFighter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enemyfighter:EnemyFighter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</a:t>
            </a:r>
            <a:r>
              <a:rPr lang="zh-CN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相当于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任务的调用者；子类、孙子类重写父类的函数，相当于子任务；相当于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任务的调用者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任务的编写者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进行了解耦合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、对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可拓展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的大白话解释：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搭建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平台函数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object_play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herofighter:HeroFighter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enemyfighter:EnemyFighter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，在不做任何修改的情况下，可以调用后来人写的代码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、对“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继承和多态对比理解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”大白话解释：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继承相当于：孩子可以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复用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老爹的东西。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多态相当于：老爹框架，不做任何修改的情况下，可以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可拓展的使用后来人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（孩子）写的东西。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8870" y="6194371"/>
            <a:ext cx="1048163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为了更好的使用多态这个特性，行业专家们又提出来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抽象类，抽象接口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的概念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抽象类（接口）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1050" y="2220595"/>
            <a:ext cx="4130040" cy="3497580"/>
          </a:xfrm>
          <a:prstGeom prst="rect">
            <a:avLst/>
          </a:prstGeom>
        </p:spPr>
      </p:pic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89815"/>
            <a:ext cx="6109020" cy="349117"/>
          </a:xfrm>
        </p:spPr>
        <p:txBody>
          <a:bodyPr/>
          <a:lstStyle/>
          <a:p>
            <a:r>
              <a:rPr lang="zh-CN" altLang="en-US" dirty="0"/>
              <a:t>细心的同学可能发现了，父类</a:t>
            </a:r>
            <a:r>
              <a:rPr lang="en-US" altLang="zh-CN" dirty="0"/>
              <a:t>Animal</a:t>
            </a:r>
            <a:r>
              <a:rPr lang="zh-CN" altLang="en-US" dirty="0"/>
              <a:t>的</a:t>
            </a:r>
            <a:r>
              <a:rPr lang="en-US" altLang="zh-CN" dirty="0"/>
              <a:t>speak</a:t>
            </a:r>
            <a:r>
              <a:rPr lang="zh-CN" altLang="en-US" dirty="0"/>
              <a:t>方法，是空实现</a:t>
            </a:r>
            <a:endParaRPr lang="zh-CN" altLang="en-US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5504180" y="2106295"/>
            <a:ext cx="59055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这种设计的含义是：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父类用来确定有哪些方法（</a:t>
            </a:r>
            <a:r>
              <a:rPr lang="zh-CN" altLang="en-US" dirty="0">
                <a:solidFill>
                  <a:srgbClr val="C00000"/>
                </a:solidFill>
              </a:rPr>
              <a:t>父类制定接口标准</a:t>
            </a:r>
            <a:r>
              <a:rPr lang="zh-CN" altLang="en-US" dirty="0"/>
              <a:t>）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具体的方法实现有子类来实现（</a:t>
            </a:r>
            <a:r>
              <a:rPr lang="zh-CN" altLang="en-US" dirty="0">
                <a:solidFill>
                  <a:srgbClr val="C00000"/>
                </a:solidFill>
              </a:rPr>
              <a:t>子类实现接口标准</a:t>
            </a:r>
            <a:r>
              <a:rPr lang="zh-CN" altLang="en-US" dirty="0"/>
              <a:t>）</a:t>
            </a:r>
            <a:endParaRPr lang="zh-CN" altLang="en-US" dirty="0"/>
          </a:p>
          <a:p>
            <a:pPr>
              <a:buFont typeface="Arial" panose="020B0604020202020204" pitchFamily="34" charset="0"/>
            </a:pPr>
            <a:endParaRPr lang="zh-CN" altLang="en-US" dirty="0"/>
          </a:p>
          <a:p>
            <a:pPr>
              <a:buFont typeface="Arial" panose="020B0604020202020204" pitchFamily="34" charset="0"/>
            </a:pPr>
            <a:r>
              <a:rPr lang="zh-CN" altLang="en-US" dirty="0"/>
              <a:t>这种写法，就叫做抽象类（也可以称之为接口）</a:t>
            </a:r>
            <a:endParaRPr lang="zh-CN" altLang="en-US" dirty="0"/>
          </a:p>
          <a:p>
            <a:pPr>
              <a:buFont typeface="Arial" panose="020B0604020202020204" pitchFamily="34" charset="0"/>
            </a:pPr>
            <a:endParaRPr lang="zh-CN" altLang="en-US" dirty="0"/>
          </a:p>
          <a:p>
            <a:pPr>
              <a:buFont typeface="Arial" panose="020B0604020202020204" pitchFamily="34" charset="0"/>
            </a:pPr>
            <a:r>
              <a:rPr lang="zh-CN" altLang="en-US" dirty="0"/>
              <a:t>抽象类：含有</a:t>
            </a:r>
            <a:r>
              <a:rPr lang="zh-CN" altLang="en-US" dirty="0">
                <a:solidFill>
                  <a:srgbClr val="C00000"/>
                </a:solidFill>
              </a:rPr>
              <a:t>抽象方法的类</a:t>
            </a:r>
            <a:r>
              <a:rPr lang="zh-CN" altLang="en-US" dirty="0"/>
              <a:t>称之为抽象类</a:t>
            </a:r>
            <a:endParaRPr lang="zh-CN" altLang="en-US" dirty="0"/>
          </a:p>
          <a:p>
            <a:pPr>
              <a:buFont typeface="Arial" panose="020B0604020202020204" pitchFamily="34" charset="0"/>
            </a:pPr>
            <a:r>
              <a:rPr lang="zh-CN" altLang="en-US" dirty="0"/>
              <a:t>抽象方法：方法体是</a:t>
            </a:r>
            <a:r>
              <a:rPr lang="zh-CN" altLang="en-US" dirty="0">
                <a:solidFill>
                  <a:srgbClr val="C00000"/>
                </a:solidFill>
              </a:rPr>
              <a:t>空实现的（</a:t>
            </a:r>
            <a:r>
              <a:rPr lang="en-US" altLang="zh-CN" dirty="0">
                <a:solidFill>
                  <a:srgbClr val="C00000"/>
                </a:solidFill>
              </a:rPr>
              <a:t>pass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称之为抽象方法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抽象类（接口）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89815"/>
            <a:ext cx="6109020" cy="349117"/>
          </a:xfrm>
        </p:spPr>
        <p:txBody>
          <a:bodyPr/>
          <a:lstStyle/>
          <a:p>
            <a:r>
              <a:rPr lang="zh-CN" altLang="en-US" dirty="0"/>
              <a:t>为什么要使用抽象类呢？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808184" y="2219960"/>
            <a:ext cx="5863590" cy="1550035"/>
            <a:chOff x="1331" y="3231"/>
            <a:chExt cx="10671" cy="2821"/>
          </a:xfrm>
        </p:grpSpPr>
        <p:pic>
          <p:nvPicPr>
            <p:cNvPr id="11" name="图片 4" descr="32313539373234333b32313539373033353bbfd5b5f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31" y="3762"/>
              <a:ext cx="2291" cy="2291"/>
            </a:xfrm>
            <a:prstGeom prst="rect">
              <a:avLst/>
            </a:prstGeom>
          </p:spPr>
        </p:pic>
        <p:sp>
          <p:nvSpPr>
            <p:cNvPr id="12" name="圆角矩形 11"/>
            <p:cNvSpPr/>
            <p:nvPr/>
          </p:nvSpPr>
          <p:spPr>
            <a:xfrm>
              <a:off x="5260" y="4356"/>
              <a:ext cx="3404" cy="696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空调制造标准</a:t>
              </a:r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0090" y="3231"/>
              <a:ext cx="1912" cy="2641"/>
              <a:chOff x="9626" y="3660"/>
              <a:chExt cx="1912" cy="2641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9626" y="3660"/>
                <a:ext cx="1912" cy="53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可以制冷</a:t>
                </a:r>
                <a:endParaRPr lang="zh-CN" altLang="en-US" sz="160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9626" y="4356"/>
                <a:ext cx="1912" cy="53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可以制热</a:t>
                </a:r>
                <a:endParaRPr lang="zh-CN" altLang="en-US" sz="160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9626" y="5052"/>
                <a:ext cx="1912" cy="5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/>
                  <a:t>左右摆风</a:t>
                </a:r>
                <a:endParaRPr lang="zh-CN" altLang="en-US" sz="160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9626" y="5771"/>
                <a:ext cx="1912" cy="5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......</a:t>
                </a:r>
                <a:endParaRPr lang="en-US" altLang="zh-CN"/>
              </a:p>
            </p:txBody>
          </p:sp>
        </p:grpSp>
        <p:sp>
          <p:nvSpPr>
            <p:cNvPr id="14" name="右箭头 13"/>
            <p:cNvSpPr/>
            <p:nvPr/>
          </p:nvSpPr>
          <p:spPr>
            <a:xfrm>
              <a:off x="4137" y="4565"/>
              <a:ext cx="608" cy="277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右箭头 14"/>
            <p:cNvSpPr/>
            <p:nvPr/>
          </p:nvSpPr>
          <p:spPr>
            <a:xfrm>
              <a:off x="9073" y="4566"/>
              <a:ext cx="608" cy="277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占位符 2"/>
          <p:cNvSpPr txBox="1"/>
          <p:nvPr/>
        </p:nvSpPr>
        <p:spPr>
          <a:xfrm>
            <a:off x="1664449" y="4339383"/>
            <a:ext cx="8152651" cy="6796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大白话解释：国家或者行业</a:t>
            </a:r>
            <a:r>
              <a:rPr lang="zh-CN" altLang="en-US" dirty="0">
                <a:solidFill>
                  <a:srgbClr val="C00000"/>
                </a:solidFill>
              </a:rPr>
              <a:t>提出标准</a:t>
            </a:r>
            <a:r>
              <a:rPr lang="zh-CN" altLang="en-US" dirty="0"/>
              <a:t>后，</a:t>
            </a:r>
            <a:r>
              <a:rPr lang="zh-CN" altLang="en-US" dirty="0">
                <a:solidFill>
                  <a:srgbClr val="C00000"/>
                </a:solidFill>
              </a:rPr>
              <a:t>不同的厂家</a:t>
            </a:r>
            <a:r>
              <a:rPr lang="zh-CN" altLang="en-US" dirty="0"/>
              <a:t>各自实现标准的要求。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抽象类（接口）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89815"/>
            <a:ext cx="7569520" cy="349117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抽象类就好比定义一个标准，包含了一些抽象的方法，要求子类必须实现。</a:t>
            </a:r>
            <a:endParaRPr lang="zh-CN" altLang="en-US" dirty="0"/>
          </a:p>
          <a:p>
            <a:endParaRPr lang="zh-CN" altLang="en-US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5" y="2201862"/>
            <a:ext cx="3293745" cy="41649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85" y="3460750"/>
            <a:ext cx="4201160" cy="21266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47585" y="2292124"/>
            <a:ext cx="311023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配合多态，完成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抽象的父类设计（设计标准）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具体的子类实现（实现标准）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830" y="2196465"/>
            <a:ext cx="2751455" cy="18427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b="1733"/>
          <a:stretch>
            <a:fillRect/>
          </a:stretch>
        </p:blipFill>
        <p:spPr>
          <a:xfrm>
            <a:off x="3973830" y="4405207"/>
            <a:ext cx="2770505" cy="19450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  <p:bldP spid="9" grpId="2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977801" y="1190371"/>
            <a:ext cx="5422900" cy="6705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 什么是多态？</a:t>
            </a:r>
            <a:endParaRPr lang="zh-CN" altLang="en-US" dirty="0"/>
          </a:p>
        </p:txBody>
      </p:sp>
      <p:sp>
        <p:nvSpPr>
          <p:cNvPr id="3" name="文本占位符 1"/>
          <p:cNvSpPr txBox="1"/>
          <p:nvPr/>
        </p:nvSpPr>
        <p:spPr>
          <a:xfrm>
            <a:off x="3977801" y="3045998"/>
            <a:ext cx="6002777" cy="38300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实现多态的条件</a:t>
            </a:r>
            <a:endParaRPr lang="zh-CN" altLang="en-US" dirty="0"/>
          </a:p>
        </p:txBody>
      </p:sp>
      <p:sp>
        <p:nvSpPr>
          <p:cNvPr id="4" name="文本占位符 1"/>
          <p:cNvSpPr txBox="1"/>
          <p:nvPr/>
        </p:nvSpPr>
        <p:spPr>
          <a:xfrm>
            <a:off x="4474723" y="1836830"/>
            <a:ext cx="6206247" cy="100489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200" dirty="0"/>
              <a:t> 多态指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多种状态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。比如：同样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一个函数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在不同的场景下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有不同的状态</a:t>
            </a:r>
            <a:endParaRPr lang="zh-CN" altLang="en-US" sz="1200" dirty="0"/>
          </a:p>
          <a:p>
            <a:pPr marL="0" indent="0">
              <a:buFont typeface="+mj-lt"/>
              <a:buNone/>
            </a:pPr>
            <a:r>
              <a:rPr lang="zh-CN" altLang="en-US" sz="1200" dirty="0"/>
              <a:t>  如，定义函数（方法），通过类型注解声明需要父类对象，实际传入子类对象进行工作，</a:t>
            </a:r>
            <a:endParaRPr lang="en-US" altLang="zh-CN" sz="1200" dirty="0"/>
          </a:p>
          <a:p>
            <a:pPr marL="0" indent="0">
              <a:buFont typeface="+mj-lt"/>
              <a:buNone/>
            </a:pPr>
            <a:r>
              <a:rPr lang="zh-CN" altLang="en-US" sz="1200" dirty="0"/>
              <a:t>  从而获得不同的工作状态</a:t>
            </a:r>
            <a:endParaRPr lang="zh-CN" altLang="en-US" sz="1200" dirty="0"/>
          </a:p>
        </p:txBody>
      </p:sp>
      <p:sp>
        <p:nvSpPr>
          <p:cNvPr id="5" name="文本占位符 1"/>
          <p:cNvSpPr txBox="1"/>
          <p:nvPr/>
        </p:nvSpPr>
        <p:spPr>
          <a:xfrm>
            <a:off x="3977801" y="4800684"/>
            <a:ext cx="6849084" cy="33619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多态的好处</a:t>
            </a:r>
            <a:endParaRPr lang="zh-CN" altLang="en-US" dirty="0"/>
          </a:p>
        </p:txBody>
      </p:sp>
      <p:sp>
        <p:nvSpPr>
          <p:cNvPr id="6" name="文本占位符 1"/>
          <p:cNvSpPr txBox="1"/>
          <p:nvPr/>
        </p:nvSpPr>
        <p:spPr>
          <a:xfrm>
            <a:off x="4474723" y="3487518"/>
            <a:ext cx="4466078" cy="122980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、有继承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（定义父类、定义子类，子类继承父类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函数重写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（子类重写父类的函数）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父类引用指向子类对象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（把子类对象赋值给父类对象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4474723" y="5220241"/>
            <a:ext cx="7368163" cy="41832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在不改变框架代码的情况下，通过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多态语法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轻松的实现模块和模块之间的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解耦合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；实现了</a:t>
            </a:r>
            <a:r>
              <a:rPr lang="zh-CN" altLang="en-US" sz="12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软件系统的可拓展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97009" y="1696503"/>
            <a:ext cx="5301467" cy="41439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 什么是抽象类（接口）</a:t>
            </a:r>
            <a:endParaRPr lang="zh-CN" altLang="en-US" dirty="0"/>
          </a:p>
        </p:txBody>
      </p:sp>
      <p:sp>
        <p:nvSpPr>
          <p:cNvPr id="3" name="文本占位符 1"/>
          <p:cNvSpPr txBox="1"/>
          <p:nvPr/>
        </p:nvSpPr>
        <p:spPr>
          <a:xfrm>
            <a:off x="4397009" y="2822805"/>
            <a:ext cx="7295638" cy="38359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 dirty="0"/>
              <a:t>5</a:t>
            </a:r>
            <a:r>
              <a:rPr lang="zh-CN" altLang="en-US" dirty="0"/>
              <a:t> 抽象类的作用</a:t>
            </a:r>
            <a:endParaRPr lang="zh-CN" altLang="en-US" dirty="0"/>
          </a:p>
        </p:txBody>
      </p:sp>
      <p:sp>
        <p:nvSpPr>
          <p:cNvPr id="4" name="文本占位符 1"/>
          <p:cNvSpPr txBox="1"/>
          <p:nvPr/>
        </p:nvSpPr>
        <p:spPr>
          <a:xfrm>
            <a:off x="4722940" y="2208178"/>
            <a:ext cx="7065416" cy="50065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200" dirty="0"/>
              <a:t>包含</a:t>
            </a:r>
            <a:r>
              <a:rPr lang="zh-CN" altLang="en-US" sz="1200" dirty="0">
                <a:solidFill>
                  <a:srgbClr val="C00000"/>
                </a:solidFill>
              </a:rPr>
              <a:t>抽象方法的类</a:t>
            </a:r>
            <a:r>
              <a:rPr lang="zh-CN" altLang="en-US" sz="1200" dirty="0"/>
              <a:t>，称之为抽象类。抽象方法是指：没有具体实现的方法（</a:t>
            </a:r>
            <a:r>
              <a:rPr lang="en-US" altLang="zh-CN" sz="1200" dirty="0"/>
              <a:t>pass</a:t>
            </a:r>
            <a:r>
              <a:rPr lang="zh-CN" altLang="en-US" sz="1200" dirty="0"/>
              <a:t>）称之为抽象方法</a:t>
            </a:r>
            <a:endParaRPr lang="zh-CN" altLang="en-US" sz="1200" dirty="0"/>
          </a:p>
        </p:txBody>
      </p:sp>
      <p:sp>
        <p:nvSpPr>
          <p:cNvPr id="5" name="文本占位符 1"/>
          <p:cNvSpPr txBox="1"/>
          <p:nvPr/>
        </p:nvSpPr>
        <p:spPr>
          <a:xfrm>
            <a:off x="4722940" y="3320375"/>
            <a:ext cx="7529102" cy="1302858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200" dirty="0"/>
              <a:t>多用于做</a:t>
            </a:r>
            <a:r>
              <a:rPr lang="zh-CN" altLang="en-US" sz="1200" dirty="0">
                <a:solidFill>
                  <a:srgbClr val="C00000"/>
                </a:solidFill>
              </a:rPr>
              <a:t>顶层设计（设计标准）</a:t>
            </a:r>
            <a:r>
              <a:rPr lang="zh-CN" altLang="en-US" sz="1200" dirty="0"/>
              <a:t>，以便子类做具体实现。</a:t>
            </a:r>
            <a:endParaRPr lang="zh-CN" altLang="en-US" sz="1200" dirty="0"/>
          </a:p>
          <a:p>
            <a:pPr marL="0" indent="0">
              <a:buFont typeface="+mj-lt"/>
              <a:buNone/>
            </a:pPr>
            <a:r>
              <a:rPr lang="zh-CN" altLang="en-US" sz="1200" dirty="0"/>
              <a:t>也是对子类的一种</a:t>
            </a:r>
            <a:r>
              <a:rPr lang="zh-CN" altLang="en-US" sz="1200" dirty="0">
                <a:solidFill>
                  <a:srgbClr val="C00000"/>
                </a:solidFill>
              </a:rPr>
              <a:t>软性约束</a:t>
            </a:r>
            <a:r>
              <a:rPr lang="zh-CN" altLang="en-US" sz="1200" dirty="0"/>
              <a:t>，要求子类必须复写（实现）父类的一些方法</a:t>
            </a:r>
            <a:endParaRPr lang="zh-CN" altLang="en-US" sz="1200" dirty="0"/>
          </a:p>
          <a:p>
            <a:pPr marL="0" indent="0">
              <a:buFont typeface="+mj-lt"/>
              <a:buNone/>
            </a:pPr>
            <a:r>
              <a:rPr lang="zh-CN" altLang="en-US" sz="1200" dirty="0"/>
              <a:t>并配合多态使用，获得不同的工作状态。</a:t>
            </a:r>
            <a:r>
              <a:rPr lang="zh-CN" altLang="en-US" sz="1200" dirty="0">
                <a:solidFill>
                  <a:srgbClr val="C00000"/>
                </a:solidFill>
              </a:rPr>
              <a:t>通过多态语法，实现模块和模块之间的解耦合</a:t>
            </a:r>
            <a:endParaRPr lang="zh-CN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505" y="4235375"/>
            <a:ext cx="410210" cy="410210"/>
          </a:xfrm>
          <a:prstGeom prst="rect">
            <a:avLst/>
          </a:prstGeom>
        </p:spPr>
      </p:pic>
      <p:sp>
        <p:nvSpPr>
          <p:cNvPr id="6" name="文本占位符 1"/>
          <p:cNvSpPr txBox="1"/>
          <p:nvPr/>
        </p:nvSpPr>
        <p:spPr>
          <a:xfrm>
            <a:off x="5401934" y="1300797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  <a:sym typeface="+mn-ea"/>
              </a:rPr>
              <a:t>定义类的几种语法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中的继承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中的封装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Python</a:t>
            </a:r>
            <a:r>
              <a:rPr lang="zh-CN" altLang="en-US" b="1" dirty="0">
                <a:solidFill>
                  <a:schemeClr val="tx1"/>
                </a:solidFill>
              </a:rPr>
              <a:t>中的多态</a:t>
            </a:r>
            <a:endParaRPr lang="en-US" altLang="zh-CN" b="1" dirty="0">
              <a:solidFill>
                <a:srgbClr val="AD2B26"/>
              </a:solidFill>
            </a:endParaRPr>
          </a:p>
          <a:p>
            <a:r>
              <a:rPr lang="zh-CN" altLang="en-US" b="1" dirty="0">
                <a:solidFill>
                  <a:srgbClr val="AD2B26"/>
                </a:solidFill>
              </a:rPr>
              <a:t>面向对象的其他特性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            </a:t>
            </a:r>
            <a:r>
              <a:rPr lang="zh-CN" altLang="en-US" dirty="0">
                <a:solidFill>
                  <a:srgbClr val="C00000"/>
                </a:solidFill>
              </a:rPr>
              <a:t>对象属性、类属性、类方法、静态方法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125" y="1577340"/>
            <a:ext cx="6298565" cy="2499995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知道什么是属性</a:t>
            </a:r>
            <a:endParaRPr lang="zh-CN" altLang="en-US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知道什么是类属性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了解类方法和静态方法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属性</a:t>
            </a:r>
            <a:endParaRPr dirty="0"/>
          </a:p>
        </p:txBody>
      </p:sp>
      <p:sp>
        <p:nvSpPr>
          <p:cNvPr id="10" name="三角形 9"/>
          <p:cNvSpPr/>
          <p:nvPr/>
        </p:nvSpPr>
        <p:spPr>
          <a:xfrm rot="2651319">
            <a:off x="851566" y="18615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44880" y="1504950"/>
            <a:ext cx="10302240" cy="127063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44952" y="157742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属性</a:t>
            </a:r>
            <a:endParaRPr kumimoji="1"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576705" y="1878330"/>
            <a:ext cx="355917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类或对象中的属性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都属于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属性</a:t>
            </a:r>
            <a:endParaRPr lang="en-US" altLang="zh-CN" sz="1600" b="1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5135880" y="1821815"/>
            <a:ext cx="5930265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135880" y="2320925"/>
            <a:ext cx="5930265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53770" y="2946400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47340" y="2946400"/>
            <a:ext cx="8218805" cy="4603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例如，编写一个手机类，有品牌、颜色属性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2422842" y="3599815"/>
            <a:ext cx="5930265" cy="304698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Phone(object):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def __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品牌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self.brand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华为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phone = Phone()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访问属性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:{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phone.brand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}")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print("-------------------")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属性名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属性值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phone.color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"Yellow"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访问颜色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:{</a:t>
            </a:r>
            <a:r>
              <a:rPr lang="en-GB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phone.color</a:t>
            </a:r>
            <a:r>
              <a:rPr lang="en-GB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}")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类属性</a:t>
            </a:r>
          </a:p>
        </p:txBody>
      </p:sp>
      <p:sp>
        <p:nvSpPr>
          <p:cNvPr id="10" name="三角形 9"/>
          <p:cNvSpPr/>
          <p:nvPr/>
        </p:nvSpPr>
        <p:spPr>
          <a:xfrm rot="2651319">
            <a:off x="851566" y="200186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44880" y="1645285"/>
            <a:ext cx="10302240" cy="127063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44952" y="171775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类属性</a:t>
            </a:r>
            <a:endParaRPr kumimoji="1"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576705" y="2018665"/>
            <a:ext cx="4072890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类属性，指的就是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类所拥有的属性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它被共享于整个</a:t>
            </a:r>
            <a:r>
              <a:rPr lang="zh-CN" altLang="en-US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类中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(即都可以直接调用)。</a:t>
            </a: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6096000" y="2499042"/>
            <a:ext cx="3106420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对象名.类属性名</a:t>
            </a:r>
            <a:endParaRPr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055360" y="2012315"/>
            <a:ext cx="5011420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类名.类属性名</a:t>
            </a:r>
            <a:r>
              <a:rPr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推荐使用</a:t>
            </a:r>
            <a:endParaRPr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003935" y="3086735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97505" y="3086735"/>
            <a:ext cx="8218805" cy="4603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例如，在People类中定义一个名为count的</a:t>
            </a:r>
            <a:r>
              <a:rPr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类属性</a:t>
            </a:r>
            <a:r>
              <a:rPr 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2897505" y="3717925"/>
            <a:ext cx="4519295" cy="25545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Person(object):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类属性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 = 1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Person.count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#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推荐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开辟一块新的空间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person = Person()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person.count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类方法</a:t>
            </a:r>
          </a:p>
        </p:txBody>
      </p:sp>
      <p:sp>
        <p:nvSpPr>
          <p:cNvPr id="10" name="三角形 9"/>
          <p:cNvSpPr/>
          <p:nvPr/>
        </p:nvSpPr>
        <p:spPr>
          <a:xfrm rot="2651319">
            <a:off x="851566" y="184375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44880" y="1487170"/>
            <a:ext cx="10302240" cy="194183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44952" y="155964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类方法</a:t>
            </a:r>
            <a:endParaRPr kumimoji="1"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576705" y="1860550"/>
            <a:ext cx="534098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所谓类方法，指的是</a:t>
            </a:r>
            <a:r>
              <a:rPr lang="en-US" alt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类所拥有的方法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，并需要使用装饰器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@classmethod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来标识其为类方法，同时一定要注意的是对于类方法的</a:t>
            </a:r>
            <a:r>
              <a:rPr lang="en-US" altLang="zh-CN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第一个参数必须是类对象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，通常以</a:t>
            </a:r>
            <a:r>
              <a:rPr lang="en-US" altLang="zh-CN"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cls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作为第一个参数名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7017618" y="3056890"/>
            <a:ext cx="2364740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对象名.类方法名</a:t>
            </a:r>
            <a:endParaRPr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007860" y="2599690"/>
            <a:ext cx="4024630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类名.类方法名</a:t>
            </a:r>
            <a:r>
              <a:rPr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推荐使用</a:t>
            </a:r>
            <a:endParaRPr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7007860" y="1649730"/>
            <a:ext cx="4023360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@classmethod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类方法名(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003935" y="3725545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08215" y="3753292"/>
            <a:ext cx="8218805" cy="4271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例如，狗狗都喜欢吃骨头</a:t>
            </a:r>
            <a:r>
              <a:rPr 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TextBox 3"/>
          <p:cNvSpPr txBox="1"/>
          <p:nvPr/>
        </p:nvSpPr>
        <p:spPr>
          <a:xfrm>
            <a:off x="2076449" y="4482365"/>
            <a:ext cx="5141595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Dog(object):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</a:t>
            </a:r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def eat(</a:t>
            </a:r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print("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小狗都喜欢啃硬骨头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...")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Dog.eat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类名直接访问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 = Dog()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dog.eat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	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对象名访问</a:t>
            </a:r>
            <a:endParaRPr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静态方法</a:t>
            </a:r>
            <a:endParaRPr dirty="0"/>
          </a:p>
        </p:txBody>
      </p:sp>
      <p:sp>
        <p:nvSpPr>
          <p:cNvPr id="10" name="三角形 9"/>
          <p:cNvSpPr/>
          <p:nvPr/>
        </p:nvSpPr>
        <p:spPr>
          <a:xfrm rot="2651319">
            <a:off x="788935" y="1813854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2249" y="1457271"/>
            <a:ext cx="10302240" cy="157226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2321" y="1529741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静态方法</a:t>
            </a:r>
            <a:endParaRPr kumimoji="1" lang="zh-CN" altLang="en-US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514074" y="1830651"/>
            <a:ext cx="534098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静态方法需要通过装饰器</a:t>
            </a:r>
            <a:r>
              <a:rPr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@staticmethod</a:t>
            </a: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来标识其为静态方法，且静态方法不需要多定义参数</a:t>
            </a:r>
            <a:r>
              <a:rPr 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6954987" y="2623448"/>
            <a:ext cx="2202815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对象名.静态方法名</a:t>
            </a:r>
            <a:endParaRPr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903954" y="2185616"/>
            <a:ext cx="4024630" cy="3371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类名.静态方法名</a:t>
            </a:r>
            <a:r>
              <a:rPr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推荐使用</a:t>
            </a:r>
            <a:endParaRPr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905224" y="1267406"/>
            <a:ext cx="4023360" cy="82994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@staticmethod</a:t>
            </a:r>
            <a:endParaRPr sz="16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静态方法名</a:t>
            </a:r>
            <a:r>
              <a:rPr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</a:t>
            </a:r>
            <a:endParaRPr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41304" y="3199711"/>
            <a:ext cx="1761490" cy="482600"/>
          </a:xfrm>
          <a:prstGeom prst="roundRect">
            <a:avLst/>
          </a:prstGeom>
          <a:solidFill>
            <a:srgbClr val="B602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案例分析</a:t>
            </a:r>
            <a:endParaRPr lang="en-US" altLang="zh-CN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34874" y="3199711"/>
            <a:ext cx="8218805" cy="4603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例如，开发一款游戏要显示初始化操作界面，分别有</a:t>
            </a:r>
            <a:r>
              <a:rPr sz="1600" b="1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开始、暂停、退出</a:t>
            </a:r>
            <a:r>
              <a:rPr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等按键</a:t>
            </a:r>
            <a:r>
              <a:rPr 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。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1514074" y="3877235"/>
            <a:ext cx="7643728" cy="280076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Game(object):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def </a:t>
            </a:r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show_menu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print("="*20)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print("【1】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开始游戏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;")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print("【2】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暂停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;")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print("【0】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.")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Game.show_menu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类名直接访问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 = Game()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GB" sz="16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game.show_menu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对象名访问</a:t>
            </a:r>
            <a:endParaRPr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3947311" y="923454"/>
            <a:ext cx="7722606" cy="5631256"/>
          </a:xfrm>
        </p:spPr>
        <p:txBody>
          <a:bodyPr/>
          <a:lstStyle/>
          <a:p>
            <a:pPr marL="342900" indent="-342900">
              <a:buFont typeface="+mj-lt"/>
            </a:pPr>
            <a:r>
              <a:rPr lang="zh-CN" altLang="en-US" dirty="0">
                <a:solidFill>
                  <a:schemeClr val="tx1"/>
                </a:solidFill>
              </a:rPr>
              <a:t>什么是属性？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sz="1600" dirty="0"/>
              <a:t>对象或类中定义的属性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什么是类属性？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	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类所拥有的属性，它被</a:t>
            </a:r>
            <a:r>
              <a:rPr lang="zh-CN" altLang="en-US" sz="1600" b="0" i="0" u="none" strike="noStrike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共享于整个类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中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类方法和静态方法？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	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类方法，指的是</a:t>
            </a:r>
            <a:r>
              <a:rPr lang="zh-CN" altLang="en-US" sz="1600" b="0" i="0" u="none" strike="noStrike" dirty="0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类所拥有的方法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，并需要使用</a:t>
            </a:r>
            <a:endParaRPr lang="en-US" altLang="zh-CN" sz="16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en-US" altLang="zh-CN" sz="1600" b="0" i="0" u="none" strike="noStrike" dirty="0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zh-CN" altLang="en-US" sz="1600" b="0" i="0" u="none" strike="noStrike" dirty="0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装饰器</a:t>
            </a:r>
            <a:r>
              <a:rPr lang="en-US" altLang="zh-CN" sz="1600" b="0" i="0" u="none" strike="noStrike" dirty="0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]@</a:t>
            </a:r>
            <a:r>
              <a:rPr lang="en-GB" altLang="zh-CN" sz="1600" b="0" i="0" u="none" strike="noStrike" dirty="0" err="1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classmethod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标识其为类方法</a:t>
            </a:r>
            <a:endParaRPr lang="en-US" altLang="zh-CN" sz="1600" b="0" i="0" u="none" strike="noStrike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buNone/>
            </a:pP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静态方法需要通过</a:t>
            </a:r>
            <a:r>
              <a:rPr lang="zh-CN" altLang="en-US" sz="1600" b="0" i="0" u="none" strike="noStrike" dirty="0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装饰器</a:t>
            </a:r>
            <a:r>
              <a:rPr lang="en-US" altLang="zh-CN" sz="1600" b="0" i="0" u="none" strike="noStrike" dirty="0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</a:t>
            </a:r>
            <a:r>
              <a:rPr lang="en-GB" altLang="zh-CN" sz="1600" b="0" i="0" u="none" strike="noStrike" dirty="0" err="1">
                <a:solidFill>
                  <a:srgbClr val="FF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staticmethod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标识其为静态方法，</a:t>
            </a:r>
            <a:endParaRPr lang="en-US" altLang="zh-CN" sz="16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且静态方法不需要定义参数</a:t>
            </a:r>
            <a:endParaRPr lang="zh-CN" altLang="en-US" sz="160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/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075,&quot;width&quot;:4125}"/>
</p:tagLst>
</file>

<file path=ppt/tags/tag2.xml><?xml version="1.0" encoding="utf-8"?>
<p:tagLst xmlns:p="http://schemas.openxmlformats.org/presentationml/2006/main">
  <p:tag name="KSO_WM_UNIT_PLACING_PICTURE_USER_VIEWPORT" val="{&quot;height&quot;:5508,&quot;width&quot;:6504}"/>
</p:tagLst>
</file>

<file path=ppt/tags/tag3.xml><?xml version="1.0" encoding="utf-8"?>
<p:tagLst xmlns:p="http://schemas.openxmlformats.org/presentationml/2006/main">
  <p:tag name="COMMONDATA" val="eyJoZGlkIjoiNTQ2YzdiNTQ4YzdkMDBkYmYyNWE2ODkxOWQ2NWMwN2E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14089</Words>
  <Application>WPS 演示</Application>
  <PresentationFormat>宽屏</PresentationFormat>
  <Paragraphs>681</Paragraphs>
  <Slides>52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16</vt:i4>
      </vt:variant>
      <vt:variant>
        <vt:lpstr>幻灯片标题</vt:lpstr>
      </vt:variant>
      <vt:variant>
        <vt:i4>52</vt:i4>
      </vt:variant>
    </vt:vector>
  </HeadingPairs>
  <TitlesOfParts>
    <vt:vector size="90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纤黑体</vt:lpstr>
      <vt:lpstr>华文楷体</vt:lpstr>
      <vt:lpstr>Open Sans</vt:lpstr>
      <vt:lpstr>Arial Unicode MS</vt:lpstr>
      <vt:lpstr>等线</vt:lpstr>
      <vt:lpstr>Alibaba PuHuiTi</vt:lpstr>
      <vt:lpstr>Helvetica Neue</vt:lpstr>
      <vt:lpstr>Segoe Print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2_正文设计方案</vt:lpstr>
      <vt:lpstr>3_正文设计方案</vt:lpstr>
      <vt:lpstr>3_学习目标</vt:lpstr>
      <vt:lpstr>6_学习目标</vt:lpstr>
      <vt:lpstr>7_学习目标</vt:lpstr>
      <vt:lpstr>8_学习目标</vt:lpstr>
      <vt:lpstr>9_学习目标</vt:lpstr>
      <vt:lpstr>10_学习目标</vt:lpstr>
      <vt:lpstr>1_正文设计方案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1251</cp:revision>
  <dcterms:created xsi:type="dcterms:W3CDTF">2020-03-31T02:23:00Z</dcterms:created>
  <dcterms:modified xsi:type="dcterms:W3CDTF">2025-03-13T05:40:11Z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B8F5CFD6E6A044F687CAA08E77445706</vt:lpwstr>
  </property>
  <property fmtid="{D5CDD505-2E9C-101B-9397-08002B2CF9AE}" pid="3" name="KSOProductBuildVer">
    <vt:lpwstr>2052-12.1.0.20305</vt:lpwstr>
  </property>
</Properties>
</file>