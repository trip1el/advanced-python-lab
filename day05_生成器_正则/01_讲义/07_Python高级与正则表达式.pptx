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6" r:id="rId8"/>
    <p:sldMasterId id="2147483678" r:id="rId9"/>
    <p:sldMasterId id="2147483698" r:id="rId10"/>
  </p:sldMasterIdLst>
  <p:notesMasterIdLst>
    <p:notesMasterId r:id="rId15"/>
  </p:notesMasterIdLst>
  <p:handoutMasterIdLst>
    <p:handoutMasterId r:id="rId79"/>
  </p:handoutMasterIdLst>
  <p:sldIdLst>
    <p:sldId id="462" r:id="rId11"/>
    <p:sldId id="463" r:id="rId12"/>
    <p:sldId id="682" r:id="rId13"/>
    <p:sldId id="683" r:id="rId14"/>
    <p:sldId id="1839" r:id="rId16"/>
    <p:sldId id="1840" r:id="rId17"/>
    <p:sldId id="1838" r:id="rId18"/>
    <p:sldId id="1837" r:id="rId19"/>
    <p:sldId id="684" r:id="rId20"/>
    <p:sldId id="685" r:id="rId21"/>
    <p:sldId id="687" r:id="rId22"/>
    <p:sldId id="1528" r:id="rId23"/>
    <p:sldId id="1841" r:id="rId24"/>
    <p:sldId id="1847" r:id="rId25"/>
    <p:sldId id="1843" r:id="rId26"/>
    <p:sldId id="1844" r:id="rId27"/>
    <p:sldId id="1845" r:id="rId28"/>
    <p:sldId id="1846" r:id="rId29"/>
    <p:sldId id="1836" r:id="rId30"/>
    <p:sldId id="639" r:id="rId31"/>
    <p:sldId id="640" r:id="rId32"/>
    <p:sldId id="641" r:id="rId33"/>
    <p:sldId id="642" r:id="rId34"/>
    <p:sldId id="643" r:id="rId35"/>
    <p:sldId id="644" r:id="rId36"/>
    <p:sldId id="714" r:id="rId37"/>
    <p:sldId id="715" r:id="rId38"/>
    <p:sldId id="716" r:id="rId39"/>
    <p:sldId id="647" r:id="rId40"/>
    <p:sldId id="703" r:id="rId41"/>
    <p:sldId id="700" r:id="rId42"/>
    <p:sldId id="701" r:id="rId43"/>
    <p:sldId id="718" r:id="rId44"/>
    <p:sldId id="719" r:id="rId45"/>
    <p:sldId id="720" r:id="rId46"/>
    <p:sldId id="721" r:id="rId47"/>
    <p:sldId id="722" r:id="rId48"/>
    <p:sldId id="723" r:id="rId49"/>
    <p:sldId id="724" r:id="rId50"/>
    <p:sldId id="725" r:id="rId51"/>
    <p:sldId id="702" r:id="rId52"/>
    <p:sldId id="704" r:id="rId53"/>
    <p:sldId id="705" r:id="rId54"/>
    <p:sldId id="727" r:id="rId55"/>
    <p:sldId id="728" r:id="rId56"/>
    <p:sldId id="729" r:id="rId57"/>
    <p:sldId id="730" r:id="rId58"/>
    <p:sldId id="731" r:id="rId59"/>
    <p:sldId id="706" r:id="rId60"/>
    <p:sldId id="707" r:id="rId61"/>
    <p:sldId id="708" r:id="rId62"/>
    <p:sldId id="732" r:id="rId63"/>
    <p:sldId id="733" r:id="rId64"/>
    <p:sldId id="734" r:id="rId65"/>
    <p:sldId id="735" r:id="rId66"/>
    <p:sldId id="736" r:id="rId67"/>
    <p:sldId id="709" r:id="rId68"/>
    <p:sldId id="710" r:id="rId69"/>
    <p:sldId id="711" r:id="rId70"/>
    <p:sldId id="737" r:id="rId71"/>
    <p:sldId id="738" r:id="rId72"/>
    <p:sldId id="739" r:id="rId73"/>
    <p:sldId id="740" r:id="rId74"/>
    <p:sldId id="741" r:id="rId75"/>
    <p:sldId id="712" r:id="rId76"/>
    <p:sldId id="713" r:id="rId77"/>
    <p:sldId id="264" r:id="rId7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FFFFFF"/>
    <a:srgbClr val="FFFFE4"/>
    <a:srgbClr val="AD2B26"/>
    <a:srgbClr val="49504F"/>
    <a:srgbClr val="B70006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8" autoAdjust="0"/>
    <p:restoredTop sz="95853" autoAdjust="0"/>
  </p:normalViewPr>
  <p:slideViewPr>
    <p:cSldViewPr snapToGrid="0">
      <p:cViewPr varScale="1">
        <p:scale>
          <a:sx n="95" d="100"/>
          <a:sy n="95" d="100"/>
        </p:scale>
        <p:origin x="2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2" Type="http://schemas.openxmlformats.org/officeDocument/2006/relationships/tableStyles" Target="tableStyles.xml"/><Relationship Id="rId81" Type="http://schemas.openxmlformats.org/officeDocument/2006/relationships/viewProps" Target="viewProps.xml"/><Relationship Id="rId80" Type="http://schemas.openxmlformats.org/officeDocument/2006/relationships/presProps" Target="presProps.xml"/><Relationship Id="rId8" Type="http://schemas.openxmlformats.org/officeDocument/2006/relationships/slideMaster" Target="slideMasters/slideMaster7.xml"/><Relationship Id="rId79" Type="http://schemas.openxmlformats.org/officeDocument/2006/relationships/handoutMaster" Target="handoutMasters/handoutMaster1.xml"/><Relationship Id="rId78" Type="http://schemas.openxmlformats.org/officeDocument/2006/relationships/slide" Target="slides/slide67.xml"/><Relationship Id="rId77" Type="http://schemas.openxmlformats.org/officeDocument/2006/relationships/slide" Target="slides/slide66.xml"/><Relationship Id="rId76" Type="http://schemas.openxmlformats.org/officeDocument/2006/relationships/slide" Target="slides/slide65.xml"/><Relationship Id="rId75" Type="http://schemas.openxmlformats.org/officeDocument/2006/relationships/slide" Target="slides/slide64.xml"/><Relationship Id="rId74" Type="http://schemas.openxmlformats.org/officeDocument/2006/relationships/slide" Target="slides/slide63.xml"/><Relationship Id="rId73" Type="http://schemas.openxmlformats.org/officeDocument/2006/relationships/slide" Target="slides/slide62.xml"/><Relationship Id="rId72" Type="http://schemas.openxmlformats.org/officeDocument/2006/relationships/slide" Target="slides/slide61.xml"/><Relationship Id="rId71" Type="http://schemas.openxmlformats.org/officeDocument/2006/relationships/slide" Target="slides/slide60.xml"/><Relationship Id="rId70" Type="http://schemas.openxmlformats.org/officeDocument/2006/relationships/slide" Target="slides/slide59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8.xml"/><Relationship Id="rId68" Type="http://schemas.openxmlformats.org/officeDocument/2006/relationships/slide" Target="slides/slide57.xml"/><Relationship Id="rId67" Type="http://schemas.openxmlformats.org/officeDocument/2006/relationships/slide" Target="slides/slide56.xml"/><Relationship Id="rId66" Type="http://schemas.openxmlformats.org/officeDocument/2006/relationships/slide" Target="slides/slide55.xml"/><Relationship Id="rId65" Type="http://schemas.openxmlformats.org/officeDocument/2006/relationships/slide" Target="slides/slide54.xml"/><Relationship Id="rId64" Type="http://schemas.openxmlformats.org/officeDocument/2006/relationships/slide" Target="slides/slide53.xml"/><Relationship Id="rId63" Type="http://schemas.openxmlformats.org/officeDocument/2006/relationships/slide" Target="slides/slide52.xml"/><Relationship Id="rId62" Type="http://schemas.openxmlformats.org/officeDocument/2006/relationships/slide" Target="slides/slide51.xml"/><Relationship Id="rId61" Type="http://schemas.openxmlformats.org/officeDocument/2006/relationships/slide" Target="slides/slide50.xml"/><Relationship Id="rId60" Type="http://schemas.openxmlformats.org/officeDocument/2006/relationships/slide" Target="slides/slide49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8.xml"/><Relationship Id="rId58" Type="http://schemas.openxmlformats.org/officeDocument/2006/relationships/slide" Target="slides/slide47.xml"/><Relationship Id="rId57" Type="http://schemas.openxmlformats.org/officeDocument/2006/relationships/slide" Target="slides/slide46.xml"/><Relationship Id="rId56" Type="http://schemas.openxmlformats.org/officeDocument/2006/relationships/slide" Target="slides/slide45.xml"/><Relationship Id="rId55" Type="http://schemas.openxmlformats.org/officeDocument/2006/relationships/slide" Target="slides/slide44.xml"/><Relationship Id="rId54" Type="http://schemas.openxmlformats.org/officeDocument/2006/relationships/slide" Target="slides/slide43.xml"/><Relationship Id="rId53" Type="http://schemas.openxmlformats.org/officeDocument/2006/relationships/slide" Target="slides/slide42.xml"/><Relationship Id="rId52" Type="http://schemas.openxmlformats.org/officeDocument/2006/relationships/slide" Target="slides/slide41.xml"/><Relationship Id="rId51" Type="http://schemas.openxmlformats.org/officeDocument/2006/relationships/slide" Target="slides/slide40.xml"/><Relationship Id="rId50" Type="http://schemas.openxmlformats.org/officeDocument/2006/relationships/slide" Target="slides/slide39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8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代码说明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代码执行到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yield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会暂停，然后把结果返回出去，下次启动生成器会在暂停的位置继续往下执行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 生成器如果把数据生成完成，再次获取生成器中的下一个数据会抛出一个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StopIteration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异常，表示停止迭代异常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③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while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循环内部没有处理异常操作，需要手动添加处理异常操作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④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for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循环内部自动处理了停止迭代异常，使用起来更加方便，推荐大家使用。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扩展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9" Type="http://schemas.openxmlformats.org/officeDocument/2006/relationships/theme" Target="../theme/theme6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1" Type="http://schemas.openxmlformats.org/officeDocument/2006/relationships/theme" Target="../theme/theme8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8" name="矩形 17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81" y="2224847"/>
            <a:ext cx="11565835" cy="1158875"/>
          </a:xfrm>
        </p:spPr>
        <p:txBody>
          <a:bodyPr/>
          <a:lstStyle/>
          <a:p>
            <a:r>
              <a:rPr kumimoji="1" lang="en-US" altLang="zh-CN" sz="6600" dirty="0">
                <a:latin typeface="Alibaba PuHuiTi M"/>
              </a:rPr>
              <a:t>Python</a:t>
            </a:r>
            <a:r>
              <a:rPr kumimoji="1" lang="zh-CN" altLang="en-US" sz="6600" dirty="0">
                <a:latin typeface="Alibaba PuHuiTi M"/>
              </a:rPr>
              <a:t>高级与正则表达式</a:t>
            </a:r>
            <a:endParaRPr kumimoji="1" lang="zh-CN" altLang="en-US" sz="6600" dirty="0">
              <a:latin typeface="Alibaba PuHuiTi M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74802" y="366519"/>
            <a:ext cx="5973761" cy="4665709"/>
          </a:xfrm>
        </p:spPr>
        <p:txBody>
          <a:bodyPr/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r>
              <a:rPr kumimoji="1" lang="zh-CN" altLang="en-US" dirty="0">
                <a:solidFill>
                  <a:srgbClr val="C00000"/>
                </a:solidFill>
              </a:rPr>
              <a:t>、迭代器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2</a:t>
            </a:r>
            <a:r>
              <a:rPr kumimoji="1" lang="zh-CN" altLang="en-US" dirty="0">
                <a:solidFill>
                  <a:srgbClr val="C00000"/>
                </a:solidFill>
              </a:rPr>
              <a:t>、</a:t>
            </a:r>
            <a:r>
              <a:rPr kumimoji="1" lang="en-US" altLang="zh-CN" dirty="0">
                <a:solidFill>
                  <a:srgbClr val="C00000"/>
                </a:solidFill>
              </a:rPr>
              <a:t>yield</a:t>
            </a:r>
            <a:r>
              <a:rPr kumimoji="1" lang="zh-CN" altLang="en-US" dirty="0">
                <a:solidFill>
                  <a:srgbClr val="C00000"/>
                </a:solidFill>
              </a:rPr>
              <a:t>生成器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rgbClr val="C00000"/>
                </a:solidFill>
              </a:rPr>
              <a:t>3</a:t>
            </a:r>
            <a:r>
              <a:rPr kumimoji="1" lang="zh-CN" altLang="en-US" dirty="0">
                <a:solidFill>
                  <a:srgbClr val="C00000"/>
                </a:solidFill>
              </a:rPr>
              <a:t>、正则表达式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Python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迭代器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什么是迭代器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840779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dirty="0"/>
              <a:t>迭代器（</a:t>
            </a:r>
            <a:r>
              <a:rPr lang="en-US" altLang="zh-CN" dirty="0"/>
              <a:t>Iterator</a:t>
            </a:r>
            <a:r>
              <a:rPr lang="zh-CN" altLang="en-US" dirty="0"/>
              <a:t>）是 </a:t>
            </a:r>
            <a:r>
              <a:rPr lang="en-US" altLang="zh-CN" dirty="0"/>
              <a:t>Python </a:t>
            </a:r>
            <a:r>
              <a:rPr lang="zh-CN" altLang="en-US" dirty="0"/>
              <a:t>中的一种对象，用于在数据集合中逐个访问元素，而不需要暴露数据集合的底层实现。它提供了一种遍历集合元素的标准方式，适用于任何支持迭代的数据结构，如列表、元组等，</a:t>
            </a:r>
            <a:r>
              <a:rPr lang="en-US" altLang="zh-CN" dirty="0"/>
              <a:t>range()</a:t>
            </a:r>
            <a:r>
              <a:rPr lang="zh-CN" altLang="en-US" dirty="0"/>
              <a:t>就是一个迭代器</a:t>
            </a:r>
            <a:endParaRPr lang="en-US" altLang="zh-CN" dirty="0"/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迭代器是一个实现了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__</a:t>
            </a:r>
            <a:r>
              <a:rPr lang="en-US" altLang="zh-CN" b="0" i="0" dirty="0" err="1">
                <a:solidFill>
                  <a:srgbClr val="C00000"/>
                </a:solidFill>
                <a:effectLst/>
                <a:latin typeface="Helvetica Neue"/>
              </a:rPr>
              <a:t>iter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__()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__next__()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方法的对象，使得可以逐步遍历它的元素。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特点：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手动管理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：需要显式地实现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__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iter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__()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__next__()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方法。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状态管理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：迭代器需要自己管理迭代的状态，包括当前位置和结束条件。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内存使用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：内存使用取决于迭代器的实现，通常是惰性计算（即按需生成数据）。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迭代器底层实现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48312" y="1457271"/>
            <a:ext cx="10632808" cy="50456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class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MyIterator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__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init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__(self, start, end):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self.current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start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self.end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end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</a:t>
            </a:r>
            <a:r>
              <a:rPr lang="en-US" altLang="zh-CN" sz="12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iter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__(self):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return self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def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__next__(self):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if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self.current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&gt;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self.end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raise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StopIteration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value =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self.current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self.current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+= 1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return value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使用迭代器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iterator =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MyIterator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(1, 5)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for num in iterator: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print(num)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765781" y="1257148"/>
            <a:ext cx="6151620" cy="4511040"/>
          </a:xfrm>
        </p:spPr>
        <p:txBody>
          <a:bodyPr/>
          <a:lstStyle/>
          <a:p>
            <a:r>
              <a:rPr lang="zh-CN" altLang="en-US" dirty="0"/>
              <a:t>定义：迭代器是一个对象，提供了一个访问集合元素的方式，不暴露集合的底层实现。</a:t>
            </a:r>
            <a:endParaRPr lang="en-US" altLang="zh-CN" dirty="0"/>
          </a:p>
          <a:p>
            <a:r>
              <a:rPr lang="zh-CN" altLang="en-US" dirty="0"/>
              <a:t>协议：需要实现 </a:t>
            </a:r>
            <a:r>
              <a:rPr lang="en-US" altLang="zh-CN" dirty="0">
                <a:solidFill>
                  <a:srgbClr val="FF0000"/>
                </a:solidFill>
              </a:rPr>
              <a:t>__</a:t>
            </a:r>
            <a:r>
              <a:rPr lang="en-US" altLang="zh-CN" dirty="0" err="1">
                <a:solidFill>
                  <a:srgbClr val="FF0000"/>
                </a:solidFill>
              </a:rPr>
              <a:t>iter</a:t>
            </a:r>
            <a:r>
              <a:rPr lang="en-US" altLang="zh-CN" dirty="0">
                <a:solidFill>
                  <a:srgbClr val="FF0000"/>
                </a:solidFill>
              </a:rPr>
              <a:t>__()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FF0000"/>
                </a:solidFill>
              </a:rPr>
              <a:t>__next__() </a:t>
            </a:r>
            <a:r>
              <a:rPr lang="zh-CN" altLang="en-US" dirty="0"/>
              <a:t>方法</a:t>
            </a:r>
            <a:endParaRPr lang="en-US" altLang="zh-CN" dirty="0"/>
          </a:p>
          <a:p>
            <a:r>
              <a:rPr lang="zh-CN" altLang="en-US" dirty="0"/>
              <a:t>使用：可以通过 </a:t>
            </a:r>
            <a:r>
              <a:rPr lang="en-US" altLang="zh-CN" dirty="0">
                <a:solidFill>
                  <a:srgbClr val="FF0000"/>
                </a:solidFill>
              </a:rPr>
              <a:t>for </a:t>
            </a:r>
            <a:r>
              <a:rPr lang="zh-CN" altLang="en-US" dirty="0">
                <a:solidFill>
                  <a:srgbClr val="FF0000"/>
                </a:solidFill>
              </a:rPr>
              <a:t>循环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FF0000"/>
                </a:solidFill>
              </a:rPr>
              <a:t>next() 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进行遍历。</a:t>
            </a:r>
            <a:endParaRPr lang="en-US" altLang="zh-CN" dirty="0"/>
          </a:p>
          <a:p>
            <a:r>
              <a:rPr lang="zh-CN" altLang="en-US" dirty="0"/>
              <a:t>优势：支持惰性计算和高效的内存使用，适合处理大型数据集合或流数据。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生成器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什么是生成器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3"/>
            <a:ext cx="10749598" cy="815825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</a:t>
            </a:r>
            <a:r>
              <a:rPr lang="zh-CN" altLang="en-US" b="0" i="0" dirty="0">
                <a:solidFill>
                  <a:srgbClr val="B60206"/>
                </a:solidFill>
                <a:effectLst/>
                <a:latin typeface="Helvetica Neue"/>
              </a:rPr>
              <a:t>程序员制定的规则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循环生成数据，当条件不成立时则生成数据结束。数据不是一次性全部生成出来，而是使用一个，再生成一个，可以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Helvetica Neue"/>
              </a:rPr>
              <a:t>节约大量的内存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。</a:t>
            </a:r>
            <a:endParaRPr lang="en-US" altLang="zh-CN" dirty="0">
              <a:solidFill>
                <a:srgbClr val="C00000"/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创建生成器的方式：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① 生成器推导式  ② 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yield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关键字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4560" y="2630500"/>
            <a:ext cx="3128513" cy="29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、生成器推导式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653101" y="1635973"/>
            <a:ext cx="3657600" cy="51719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u"/>
            </a:pPr>
            <a:r>
              <a:rPr lang="zh-CN" altLang="en-US" b="0" i="0" dirty="0">
                <a:effectLst/>
                <a:latin typeface="Helvetica Neue"/>
              </a:rPr>
              <a:t>生成器相关函数：</a:t>
            </a:r>
            <a:endParaRPr lang="en-US" altLang="zh-CN" b="0" i="0" dirty="0"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next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函数获取生成器中的下一个值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for 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循环遍历生成器中的每一个值 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27388" y="2020026"/>
            <a:ext cx="5697530" cy="394435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创建生成器 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注意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Wingdings" panose="05000000000000000000" pitchFamily="2" charset="2"/>
              </a:rPr>
              <a:t>：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Wingdings" panose="05000000000000000000" pitchFamily="2" charset="2"/>
              </a:rPr>
              <a:t>括号（）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代表 这是一个生成器，不是元组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注意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括号（）里面写的是数据的生成规则，返回一个对象，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                       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对象内不是存的数据，而是产生数据的规则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=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en-US" altLang="zh-CN" sz="12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* 2 for </a:t>
            </a:r>
            <a:r>
              <a:rPr lang="en-US" altLang="zh-CN" sz="12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range(5))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根据注意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print(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next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获取生成器下一个值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value = 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next(</a:t>
            </a:r>
            <a:r>
              <a:rPr lang="en-US" altLang="zh-CN" sz="12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print(value)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遍历生成器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for value in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my_generator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print(value)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" name="文本占位符 7"/>
          <p:cNvSpPr txBox="1"/>
          <p:nvPr/>
        </p:nvSpPr>
        <p:spPr>
          <a:xfrm>
            <a:off x="927388" y="1461415"/>
            <a:ext cx="4272142" cy="51719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#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创建生成器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C00000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C00000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yield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生成器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721201" y="1635972"/>
            <a:ext cx="10749598" cy="4977839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只要在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def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函数里面看到有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yield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关键字那么就是生成器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721201" y="2125392"/>
            <a:ext cx="2594755" cy="144469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mygenerater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(n):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for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range(n):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print('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开始生成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...')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yield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print('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完成一次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...')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507545" y="2631100"/>
            <a:ext cx="7227046" cy="255268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if __name__ == '__main__':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g =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mygenerater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(2)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获取生成器中下一个值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 result = next(g)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print(result)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# for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遍历生成器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for </a:t>
            </a: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循环内部自动处理了停止迭代异常，使用起来更加方便</a:t>
            </a:r>
            <a:endParaRPr lang="zh-CN" altLang="en-US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for 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in g:</a:t>
            </a:r>
            <a:endParaRPr lang="en-US" altLang="zh-CN" sz="12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    print(</a:t>
            </a:r>
            <a:r>
              <a:rPr lang="en-US" altLang="zh-CN" sz="1200" dirty="0" err="1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</a:t>
            </a:r>
            <a:r>
              <a:rPr lang="en-US" altLang="zh-CN" sz="12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endParaRPr lang="en-US" altLang="zh-CN" sz="12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箭头: 右 8"/>
          <p:cNvSpPr/>
          <p:nvPr/>
        </p:nvSpPr>
        <p:spPr>
          <a:xfrm rot="2136822">
            <a:off x="3379188" y="2897994"/>
            <a:ext cx="1065125" cy="46222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、生成器的应用场景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–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 数据迭代器</a:t>
            </a:r>
            <a:r>
              <a:rPr lang="en-US" altLang="zh-CN" i="0" dirty="0" err="1">
                <a:solidFill>
                  <a:srgbClr val="333333"/>
                </a:solidFill>
                <a:effectLst/>
                <a:latin typeface="Helvetica Neue"/>
              </a:rPr>
              <a:t>dataloader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的封装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71545" y="1880609"/>
            <a:ext cx="5374799" cy="42213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dataset_loader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读歌词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with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open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'./</a:t>
            </a:r>
            <a:r>
              <a:rPr lang="en-GB" altLang="zh-CN" sz="1200" dirty="0" err="1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jaychou_lyrics.txt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'r'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file 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lines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file.readlines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统计共有多少条歌词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lyrics_number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len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(lines)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计算共有多少个批次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math.ceil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向上取整 </a:t>
            </a:r>
            <a:r>
              <a:rPr lang="en-GB" altLang="zh-CN" sz="1200" i="1" dirty="0" err="1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math.floor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向下取整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math.ceil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lyrics_number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4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遍历每一个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</a:t>
            </a:r>
            <a:b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for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range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batch_number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lines[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: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idx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bath_size+bath_size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6588313" y="1875188"/>
            <a:ext cx="4872166" cy="1518238"/>
          </a:xfrm>
        </p:spPr>
        <p:txBody>
          <a:bodyPr/>
          <a:lstStyle/>
          <a:p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很多模型都是</a:t>
            </a:r>
            <a:r>
              <a:rPr lang="zh-CN" altLang="en-US" sz="1400" b="0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一个批次一个批次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的给模型喂数据，来训练模型的。</a:t>
            </a:r>
            <a:endParaRPr lang="en-US" altLang="zh-CN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构建</a:t>
            </a:r>
            <a:r>
              <a:rPr lang="zh-CN" altLang="en-US" sz="1400" b="0" i="0" dirty="0">
                <a:solidFill>
                  <a:srgbClr val="C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数据生成器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每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个条数据（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个样本）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个数据的给模型喂数据</a:t>
            </a:r>
            <a:endParaRPr lang="zh-CN" altLang="en-US" sz="14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345657" y="4089318"/>
            <a:ext cx="5125143" cy="19967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dataset_loader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  <a:effectLst/>
              </a:rPr>
              <a:t>8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for </a:t>
            </a:r>
            <a:r>
              <a:rPr lang="en-GB" altLang="zh-CN" sz="1400" dirty="0"/>
              <a:t>data </a:t>
            </a:r>
            <a:r>
              <a:rPr lang="en-GB" altLang="zh-CN" sz="1400" dirty="0">
                <a:solidFill>
                  <a:srgbClr val="0033B3"/>
                </a:solidFill>
                <a:effectLst/>
              </a:rPr>
              <a:t>in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(data)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'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创建生成器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(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数据加载器</a:t>
            </a:r>
            <a:r>
              <a:rPr lang="en-US" altLang="zh-CN" sz="1400" dirty="0">
                <a:solidFill>
                  <a:srgbClr val="067D17"/>
                </a:solidFill>
                <a:effectLst/>
              </a:rPr>
              <a:t>) 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为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AI</a:t>
            </a:r>
            <a:r>
              <a:rPr lang="zh-CN" altLang="en-US" sz="1400" dirty="0">
                <a:solidFill>
                  <a:srgbClr val="067D17"/>
                </a:solidFill>
                <a:effectLst/>
              </a:rPr>
              <a:t>专业课做准备 </a:t>
            </a:r>
            <a:r>
              <a:rPr lang="en-GB" altLang="zh-CN" sz="1400" dirty="0">
                <a:solidFill>
                  <a:srgbClr val="067D17"/>
                </a:solidFill>
                <a:effectLst/>
              </a:rPr>
              <a:t>End'</a:t>
            </a:r>
            <a:r>
              <a:rPr lang="en-GB" altLang="zh-CN" sz="1400" dirty="0"/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079501" y="1020856"/>
            <a:ext cx="7081558" cy="494179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1</a:t>
            </a:r>
            <a:r>
              <a:rPr lang="zh-CN" altLang="en-US" dirty="0"/>
              <a:t> 生成器的概念？ 如何使用</a:t>
            </a:r>
            <a:r>
              <a:rPr lang="en-US" altLang="zh-CN" dirty="0"/>
              <a:t>?</a:t>
            </a:r>
            <a:endParaRPr lang="en-US" altLang="zh-CN" dirty="0"/>
          </a:p>
        </p:txBody>
      </p:sp>
      <p:sp>
        <p:nvSpPr>
          <p:cNvPr id="2" name="文本占位符 4"/>
          <p:cNvSpPr txBox="1"/>
          <p:nvPr/>
        </p:nvSpPr>
        <p:spPr>
          <a:xfrm>
            <a:off x="4724960" y="1425387"/>
            <a:ext cx="6911228" cy="735108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一定规则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生成数据的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一种机制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，每次调用生成器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只生成一个值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，可以节省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大量内存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4187077" y="3617259"/>
            <a:ext cx="5432052" cy="49417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生成器的创建有两种方式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4832536" y="3914214"/>
            <a:ext cx="3764617" cy="949137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生成器推导式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 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关键字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4"/>
          <p:cNvSpPr txBox="1"/>
          <p:nvPr/>
        </p:nvSpPr>
        <p:spPr>
          <a:xfrm>
            <a:off x="4187077" y="4954122"/>
            <a:ext cx="5432052" cy="49417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yield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关键字的作用（特性）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占位符 4"/>
          <p:cNvSpPr txBox="1"/>
          <p:nvPr/>
        </p:nvSpPr>
        <p:spPr>
          <a:xfrm>
            <a:off x="4832536" y="5457265"/>
            <a:ext cx="3764617" cy="949137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将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后面的值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返回 </a:t>
            </a:r>
            <a:endParaRPr lang="en-US" altLang="zh-CN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在</a:t>
            </a:r>
            <a:r>
              <a:rPr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yield</a:t>
            </a:r>
            <a:r>
              <a:rPr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这个地方卡着</a:t>
            </a: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（阻塞）</a:t>
            </a: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占位符 4"/>
          <p:cNvSpPr txBox="1"/>
          <p:nvPr/>
        </p:nvSpPr>
        <p:spPr>
          <a:xfrm>
            <a:off x="4751854" y="2115110"/>
            <a:ext cx="7404287" cy="135367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next(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generater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Helvetica Neue"/>
              </a:rPr>
              <a:t>next </a:t>
            </a:r>
            <a:r>
              <a:rPr lang="zh-CN" altLang="en-US" sz="1600" dirty="0">
                <a:solidFill>
                  <a:srgbClr val="C00000"/>
                </a:solidFill>
                <a:latin typeface="Helvetica Neue"/>
              </a:rPr>
              <a:t>函数获取生成器中的下一个值</a:t>
            </a:r>
            <a:endParaRPr lang="zh-CN" altLang="en-US" sz="1600" dirty="0">
              <a:solidFill>
                <a:srgbClr val="C00000"/>
              </a:solidFill>
              <a:latin typeface="Helvetica Neue"/>
            </a:endParaRPr>
          </a:p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latin typeface="Helvetica Neue"/>
              </a:rPr>
              <a:t>for  </a:t>
            </a:r>
            <a:r>
              <a:rPr lang="zh-CN" altLang="en-US" sz="1600" dirty="0">
                <a:latin typeface="Helvetica Neue"/>
              </a:rPr>
              <a:t>循环遍历生成器中的每一个值</a:t>
            </a:r>
            <a:endParaRPr lang="en-US" altLang="zh-CN" sz="1600" dirty="0">
              <a:latin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390331" y="1493318"/>
            <a:ext cx="7569536" cy="45110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生成器和迭代器区别？</a:t>
            </a:r>
            <a:endParaRPr lang="en-US" altLang="zh-CN" sz="1400" dirty="0"/>
          </a:p>
          <a:p>
            <a:r>
              <a:rPr lang="zh-CN" altLang="en-US" sz="1400" dirty="0"/>
              <a:t>实现方式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迭代器：需要实现 </a:t>
            </a:r>
            <a:r>
              <a:rPr lang="en-US" altLang="zh-CN" sz="1200" dirty="0">
                <a:solidFill>
                  <a:srgbClr val="C00000"/>
                </a:solidFill>
              </a:rPr>
              <a:t>__</a:t>
            </a:r>
            <a:r>
              <a:rPr lang="en-US" altLang="zh-CN" sz="1200" dirty="0" err="1">
                <a:solidFill>
                  <a:srgbClr val="C00000"/>
                </a:solidFill>
              </a:rPr>
              <a:t>iter</a:t>
            </a:r>
            <a:r>
              <a:rPr lang="en-US" altLang="zh-CN" sz="1200" dirty="0">
                <a:solidFill>
                  <a:srgbClr val="C00000"/>
                </a:solidFill>
              </a:rPr>
              <a:t>__() </a:t>
            </a:r>
            <a:r>
              <a:rPr lang="zh-CN" altLang="en-US" sz="1200" dirty="0">
                <a:solidFill>
                  <a:srgbClr val="C00000"/>
                </a:solidFill>
              </a:rPr>
              <a:t>和 </a:t>
            </a:r>
            <a:r>
              <a:rPr lang="en-US" altLang="zh-CN" sz="1200" dirty="0">
                <a:solidFill>
                  <a:srgbClr val="C00000"/>
                </a:solidFill>
              </a:rPr>
              <a:t>__next__() </a:t>
            </a:r>
            <a:r>
              <a:rPr lang="zh-CN" altLang="en-US" sz="1200" dirty="0">
                <a:solidFill>
                  <a:srgbClr val="C00000"/>
                </a:solidFill>
              </a:rPr>
              <a:t>方法，手动管理迭代状态。</a:t>
            </a:r>
            <a:endParaRPr lang="en-US" altLang="zh-CN" sz="1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生成器：通过 </a:t>
            </a:r>
            <a:r>
              <a:rPr lang="en-US" altLang="zh-CN" sz="1200" dirty="0">
                <a:solidFill>
                  <a:srgbClr val="C00000"/>
                </a:solidFill>
              </a:rPr>
              <a:t>yield </a:t>
            </a:r>
            <a:r>
              <a:rPr lang="zh-CN" altLang="en-US" sz="1200" dirty="0">
                <a:solidFill>
                  <a:srgbClr val="C00000"/>
                </a:solidFill>
              </a:rPr>
              <a:t>关键字简化实现，自动管理迭代状态。</a:t>
            </a:r>
            <a:br>
              <a:rPr lang="en-US" altLang="zh-CN" sz="1200" dirty="0">
                <a:solidFill>
                  <a:srgbClr val="C00000"/>
                </a:solidFill>
              </a:rPr>
            </a:br>
            <a:r>
              <a:rPr lang="en-US" altLang="zh-CN" sz="1400" dirty="0"/>
              <a:t>2. </a:t>
            </a:r>
            <a:r>
              <a:rPr lang="zh-CN" altLang="en-US" sz="1400" dirty="0"/>
              <a:t>代码复杂度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迭代器：通常需要更多的代码来管理状态和迭代逻辑。</a:t>
            </a:r>
            <a:br>
              <a:rPr lang="en-US" altLang="zh-CN" sz="1200" dirty="0">
                <a:solidFill>
                  <a:srgbClr val="C00000"/>
                </a:solidFill>
              </a:rPr>
            </a:br>
            <a:r>
              <a:rPr lang="zh-CN" altLang="en-US" sz="1200" dirty="0">
                <a:solidFill>
                  <a:srgbClr val="C00000"/>
                </a:solidFill>
              </a:rPr>
              <a:t>生成器：代码更简洁，更容易理解和维护。</a:t>
            </a:r>
            <a:br>
              <a:rPr lang="en-US" altLang="zh-CN" sz="1200" dirty="0">
                <a:solidFill>
                  <a:srgbClr val="C00000"/>
                </a:solidFill>
              </a:rPr>
            </a:br>
            <a:r>
              <a:rPr lang="en-US" altLang="zh-CN" sz="1400" dirty="0"/>
              <a:t>3.  </a:t>
            </a:r>
            <a:r>
              <a:rPr lang="zh-CN" altLang="en-US" sz="1400" dirty="0"/>
              <a:t>性能与内存</a:t>
            </a:r>
            <a:br>
              <a:rPr lang="en-US" altLang="zh-CN" sz="1200" dirty="0">
                <a:solidFill>
                  <a:srgbClr val="C00000"/>
                </a:solidFill>
              </a:rPr>
            </a:br>
            <a:r>
              <a:rPr lang="zh-CN" altLang="en-US" sz="1200" dirty="0">
                <a:solidFill>
                  <a:srgbClr val="C00000"/>
                </a:solidFill>
              </a:rPr>
              <a:t>迭代器：性能和内存使用取决于实现，通常也是惰性计算。</a:t>
            </a:r>
            <a:endParaRPr lang="en-US" altLang="zh-CN" sz="1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生成器：由于使用了 </a:t>
            </a:r>
            <a:r>
              <a:rPr lang="en-US" altLang="zh-CN" sz="1200" dirty="0">
                <a:solidFill>
                  <a:srgbClr val="C00000"/>
                </a:solidFill>
              </a:rPr>
              <a:t>yield</a:t>
            </a:r>
            <a:r>
              <a:rPr lang="zh-CN" altLang="en-US" sz="1200" dirty="0">
                <a:solidFill>
                  <a:srgbClr val="C00000"/>
                </a:solidFill>
              </a:rPr>
              <a:t>，内存使用和性能优化自动管理，适合处理大数据或流数。</a:t>
            </a:r>
            <a:endParaRPr lang="en-US" altLang="zh-CN" sz="1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sz="1400" dirty="0"/>
              <a:t>4. </a:t>
            </a:r>
            <a:r>
              <a:rPr lang="zh-CN" altLang="en-US" sz="1400" dirty="0"/>
              <a:t>使用场景</a:t>
            </a:r>
            <a:br>
              <a:rPr lang="en-US" altLang="zh-CN" sz="1200" dirty="0">
                <a:solidFill>
                  <a:srgbClr val="C00000"/>
                </a:solidFill>
              </a:rPr>
            </a:br>
            <a:r>
              <a:rPr lang="zh-CN" altLang="en-US" sz="1200" dirty="0">
                <a:solidFill>
                  <a:srgbClr val="C00000"/>
                </a:solidFill>
              </a:rPr>
              <a:t>迭代器：适合需要对迭代过程进行高度控制，或者需要自定义复杂的迭代逻辑时使用</a:t>
            </a:r>
            <a:endParaRPr lang="en-US" altLang="zh-CN" sz="1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C00000"/>
                </a:solidFill>
              </a:rPr>
              <a:t>生成器：适合需要简洁地生成序列数据，尤其是在处理大数据或需要按需生成数据时，能够节省内存和提高性能</a:t>
            </a:r>
            <a:endParaRPr lang="zh-CN" altLang="en-US" sz="1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Property</a:t>
            </a:r>
            <a:r>
              <a:rPr lang="zh-CN" altLang="en-US" b="1" dirty="0">
                <a:solidFill>
                  <a:srgbClr val="333333"/>
                </a:solidFill>
                <a:effectLst/>
                <a:latin typeface="Helvetica Neue"/>
                <a:sym typeface="+mn-ea"/>
              </a:rPr>
              <a:t>属性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8771021" cy="517190"/>
          </a:xfrm>
        </p:spPr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GB" altLang="zh-CN" i="0" dirty="0">
                <a:solidFill>
                  <a:srgbClr val="333333"/>
                </a:solidFill>
                <a:effectLst/>
                <a:latin typeface="Helvetica Neue"/>
              </a:rPr>
              <a:t>property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属性的介绍</a:t>
            </a:r>
            <a:endParaRPr lang="zh-CN" altLang="en-US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1137761" y="1626026"/>
            <a:ext cx="10485279" cy="426507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负责把一个方法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当做属性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进行使用，这样做可以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简化代码使用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定义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Helvetica Neue"/>
              </a:rPr>
              <a:t>property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属性有两种方式：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①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装饰器方式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②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类属性方式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8771021" cy="517190"/>
          </a:xfrm>
        </p:spPr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、装饰器方式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07068" y="1532346"/>
            <a:ext cx="4609812" cy="458638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Person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获取属性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</a:t>
            </a:r>
            <a: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property</a:t>
            </a:r>
            <a:b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修改属性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@</a:t>
            </a:r>
            <a:r>
              <a:rPr lang="en-GB" altLang="zh-CN" sz="1400" dirty="0" err="1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age.setter</a:t>
            </a:r>
            <a:b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9E880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844828" y="1532346"/>
            <a:ext cx="4965412" cy="20010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'__main__'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 = Person()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p1.age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100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854990" y="4064426"/>
            <a:ext cx="4765199" cy="1503254"/>
          </a:xfrm>
        </p:spPr>
        <p:txBody>
          <a:bodyPr/>
          <a:lstStyle/>
          <a:p>
            <a:pPr marL="0" indent="0">
              <a:buNone/>
            </a:pPr>
            <a:r>
              <a:rPr lang="en-US" altLang="zh-CN" i="1" dirty="0">
                <a:solidFill>
                  <a:srgbClr val="C00000"/>
                </a:solidFill>
                <a:effectLst/>
              </a:rPr>
              <a:t># 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装饰器方式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:</a:t>
            </a:r>
            <a:br>
              <a:rPr lang="en-US" altLang="zh-CN" i="1" dirty="0">
                <a:solidFill>
                  <a:schemeClr val="tx1"/>
                </a:solidFill>
                <a:effectLst/>
              </a:rPr>
            </a:b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@</a:t>
            </a:r>
            <a:r>
              <a:rPr lang="en-GB" altLang="zh-CN" i="1" dirty="0">
                <a:solidFill>
                  <a:srgbClr val="C00000"/>
                </a:solidFill>
                <a:effectLst/>
              </a:rPr>
              <a:t>property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修饰获取值的方法</a:t>
            </a:r>
            <a:br>
              <a:rPr lang="zh-CN" altLang="en-US" i="1" dirty="0">
                <a:solidFill>
                  <a:schemeClr val="tx1"/>
                </a:solidFill>
                <a:effectLst/>
              </a:rPr>
            </a:b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@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方法名</a:t>
            </a:r>
            <a:r>
              <a:rPr lang="en-US" altLang="zh-CN" i="1" dirty="0">
                <a:solidFill>
                  <a:srgbClr val="C00000"/>
                </a:solidFill>
                <a:effectLst/>
              </a:rPr>
              <a:t>.</a:t>
            </a:r>
            <a:r>
              <a:rPr lang="en-GB" altLang="zh-CN" i="1" dirty="0">
                <a:solidFill>
                  <a:srgbClr val="C00000"/>
                </a:solidFill>
                <a:effectLst/>
              </a:rPr>
              <a:t>setter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修饰设置值的方法</a:t>
            </a:r>
            <a:endParaRPr lang="zh-CN" altLang="en-US" b="0" i="0" dirty="0">
              <a:solidFill>
                <a:schemeClr val="tx1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8771021" cy="517190"/>
          </a:xfrm>
        </p:spPr>
        <p:txBody>
          <a:bodyPr/>
          <a:lstStyle/>
          <a:p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高级语法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、类属性方式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907068" y="1532346"/>
            <a:ext cx="4609812" cy="523271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class </a:t>
            </a:r>
            <a:r>
              <a:rPr lang="en-GB" altLang="zh-CN" sz="1400" dirty="0">
                <a:solidFill>
                  <a:srgbClr val="000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Person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object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 err="1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GB" altLang="zh-CN" sz="1400" dirty="0">
                <a:solidFill>
                  <a:srgbClr val="B200B2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当获取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属性的时候会执行该方法</a:t>
            </a: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b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当设置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属性的时候会执行该方法</a:t>
            </a: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b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 err="1">
                <a:solidFill>
                  <a:srgbClr val="94558D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self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.__age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new_age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类属性方式的</a:t>
            </a:r>
            <a:r>
              <a:rPr lang="en-GB" altLang="zh-CN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property</a:t>
            </a: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属性</a:t>
            </a:r>
            <a:b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age =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property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set_age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844828" y="1532346"/>
            <a:ext cx="4965412" cy="20010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4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__name__ == </a:t>
            </a:r>
            <a:r>
              <a:rPr lang="en-GB" altLang="zh-CN" sz="14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'__main__'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 = Person()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p1.age = </a:t>
            </a: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100</a:t>
            </a:r>
            <a:b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(p1.age)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5854990" y="4064426"/>
            <a:ext cx="4765199" cy="1503254"/>
          </a:xfrm>
        </p:spPr>
        <p:txBody>
          <a:bodyPr/>
          <a:lstStyle/>
          <a:p>
            <a:pPr marL="0" indent="0">
              <a:buNone/>
            </a:pP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类属性方式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:</a:t>
            </a:r>
            <a:br>
              <a:rPr lang="en-US" altLang="zh-CN" i="1" dirty="0">
                <a:solidFill>
                  <a:schemeClr val="tx1"/>
                </a:solidFill>
                <a:effectLst/>
              </a:rPr>
            </a:br>
            <a:r>
              <a:rPr lang="en-US" altLang="zh-CN" i="1" dirty="0">
                <a:solidFill>
                  <a:schemeClr val="tx1"/>
                </a:solidFill>
                <a:effectLst/>
              </a:rPr>
              <a:t># </a:t>
            </a:r>
            <a:r>
              <a:rPr lang="zh-CN" altLang="en-US" i="1" dirty="0">
                <a:solidFill>
                  <a:schemeClr val="tx1"/>
                </a:solidFill>
                <a:effectLst/>
              </a:rPr>
              <a:t>类属性 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= </a:t>
            </a:r>
            <a:r>
              <a:rPr lang="en-GB" altLang="zh-CN" i="1" dirty="0">
                <a:solidFill>
                  <a:srgbClr val="C00000"/>
                </a:solidFill>
                <a:effectLst/>
              </a:rPr>
              <a:t>property</a:t>
            </a:r>
            <a:r>
              <a:rPr lang="en-GB" altLang="zh-CN" i="1" dirty="0">
                <a:solidFill>
                  <a:schemeClr val="tx1"/>
                </a:solidFill>
                <a:effectLst/>
              </a:rPr>
              <a:t>(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获取值方法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, </a:t>
            </a:r>
            <a:r>
              <a:rPr lang="zh-CN" altLang="en-US" i="1" dirty="0">
                <a:solidFill>
                  <a:srgbClr val="C00000"/>
                </a:solidFill>
                <a:effectLst/>
              </a:rPr>
              <a:t>设置值方法</a:t>
            </a:r>
            <a:r>
              <a:rPr lang="en-US" altLang="zh-CN" i="1" dirty="0">
                <a:solidFill>
                  <a:schemeClr val="tx1"/>
                </a:solidFill>
                <a:effectLst/>
              </a:rPr>
              <a:t>)</a:t>
            </a:r>
            <a:endParaRPr lang="zh-CN" altLang="en-US" b="0" i="0" dirty="0">
              <a:solidFill>
                <a:schemeClr val="tx1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079501" y="1020856"/>
            <a:ext cx="7081558" cy="494179"/>
          </a:xfrm>
        </p:spPr>
        <p:txBody>
          <a:bodyPr/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property</a:t>
            </a:r>
            <a:r>
              <a:rPr lang="zh-CN" altLang="en-US" dirty="0"/>
              <a:t>属性的作用？ </a:t>
            </a:r>
            <a:endParaRPr lang="en-US" altLang="zh-CN" dirty="0"/>
          </a:p>
        </p:txBody>
      </p:sp>
      <p:sp>
        <p:nvSpPr>
          <p:cNvPr id="2" name="文本占位符 4"/>
          <p:cNvSpPr txBox="1"/>
          <p:nvPr/>
        </p:nvSpPr>
        <p:spPr>
          <a:xfrm>
            <a:off x="4724960" y="1425387"/>
            <a:ext cx="6911228" cy="735108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把一个方法当做属性进行使用，这样做可以简化代码使用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4079501" y="2070847"/>
            <a:ext cx="5432052" cy="49417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定义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property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属性的两种方式，各自的语法？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9617" y="2800573"/>
            <a:ext cx="5622763" cy="1256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、为什么要学习正则表达式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在实际开发过程中经常会有查找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符合某些规则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的字符串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    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比如：邮箱、图片地址、手机号码等。想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匹配或者查找符合某些规则的字符串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就可以使用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正则表达式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了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994" y="2906216"/>
            <a:ext cx="10494332" cy="23056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、什么是正则表达式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正则表达式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(regular expression)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描述了一种字符串匹配的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模式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     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	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、比如：检索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一个串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是否含有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某种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子串（</a:t>
            </a:r>
            <a:r>
              <a:rPr lang="zh-CN" altLang="en-US" dirty="0">
                <a:solidFill>
                  <a:srgbClr val="C00000"/>
                </a:solidFill>
                <a:latin typeface="Helvetica Neue"/>
              </a:rPr>
              <a:t>检索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              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、比如：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匹配的子串做替换（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替换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	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、比如：从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一个串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中取出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符合某个条件的子串（提取）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模式：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一种特定的字符串模式，这个模式是通过一些特殊的符号组成的。</a:t>
            </a:r>
            <a:endParaRPr lang="en-US" altLang="zh-CN" b="0" i="0" dirty="0">
              <a:solidFill>
                <a:schemeClr val="tx1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正则表达式并不是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所特有的，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在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Java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、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PHP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、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Go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以及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JavaScript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等语言中都是支持正则表达式的。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、正则表达式的功能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数据验证（表单验证、如手机、邮箱、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IP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地址）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 数据检索（数据检索、数据抓取）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=&gt;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爬虫功能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③ 数据隐藏（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135****6235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王先生）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④ 数据过滤（论坛敏感关键词过滤）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…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re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模块的介绍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、什么是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re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模块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中需要通过正则表达式对字符串进行匹配时，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可使用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Helvetica Neue"/>
              </a:rPr>
              <a:t>re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模块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re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模块使用三步走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#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第一步：导入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re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模块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import re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#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第二步：使用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match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方法进行匹配操作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result =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re.match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(pattern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正则表达式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string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要匹配的字符串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flags=0)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#</a:t>
            </a:r>
            <a:r>
              <a:rPr lang="en-GB" altLang="zh-CN" b="0" i="0" dirty="0">
                <a:solidFill>
                  <a:srgbClr val="4D4D4D"/>
                </a:solidFill>
                <a:effectLst/>
                <a:latin typeface="-apple-system"/>
              </a:rPr>
              <a:t>flags :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可选，表示匹配模式，比如忽略大小写，多行模式等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#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第三步：如果数据匹配成功，使用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group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方法来提取数据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result.group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、举个栗子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99112" y="1542350"/>
            <a:ext cx="8394555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dm01_match</a:t>
            </a:r>
            <a:r>
              <a:rPr lang="zh-CN" altLang="en-US" sz="1400" dirty="0">
                <a:solidFill>
                  <a:srgbClr val="00627A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匹配字符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b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“”“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匹配字符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从大字符串中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按照规则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匹配符合条件的子串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”“”</a:t>
            </a:r>
            <a:b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1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导入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模块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match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方法进行匹配操作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2-1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在大</a:t>
            </a:r>
            <a:r>
              <a:rPr lang="zh-CN" altLang="en-US" sz="1400" i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的字符串中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按照规则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:“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任意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个字符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”+“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it”+“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任意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个字符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”,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提取符合要求的子串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注意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提取出来的子串一定要符合规则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re.match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".it."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aitcast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2-2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从左到右的匹配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不能跳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不能从中间匹配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),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一个字符一个字符的匹配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(".it.", "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iloveitcast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")</a:t>
            </a:r>
            <a:b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3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group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方法来提取数据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info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result.group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(info)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else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4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没有找到符合规则的子串</a:t>
            </a:r>
            <a:r>
              <a:rPr lang="en-US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99112" y="6163235"/>
            <a:ext cx="2668841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aitc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、举个栗子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99112" y="1542350"/>
            <a:ext cx="8394555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dirty="0">
                <a:solidFill>
                  <a:srgbClr val="0033B3"/>
                </a:solidFill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</a:rPr>
              <a:t>dm02_search</a:t>
            </a:r>
            <a:r>
              <a:rPr lang="zh-CN" altLang="en-US" sz="1400" dirty="0">
                <a:solidFill>
                  <a:srgbClr val="00627A"/>
                </a:solidFill>
              </a:rPr>
              <a:t>扫描字符串</a:t>
            </a:r>
            <a:r>
              <a:rPr lang="en-US" altLang="zh-CN" sz="1400" dirty="0"/>
              <a:t>():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''' # </a:t>
            </a:r>
            <a:r>
              <a:rPr lang="zh-CN" altLang="en-US" sz="1400" i="1" dirty="0">
                <a:solidFill>
                  <a:srgbClr val="8C8C8C"/>
                </a:solidFill>
              </a:rPr>
              <a:t>扫描字符返回第一个成功的匹配 </a:t>
            </a:r>
            <a:r>
              <a:rPr lang="en-GB" altLang="zh-CN" sz="1400" i="1" dirty="0">
                <a:solidFill>
                  <a:srgbClr val="8C8C8C"/>
                </a:solidFill>
              </a:rPr>
              <a:t>def search(pattern, string, flags=0) '''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/>
              <a:t>re</a:t>
            </a:r>
            <a:br>
              <a:rPr lang="en-GB" altLang="zh-CN" sz="1400" dirty="0"/>
            </a:br>
            <a:r>
              <a:rPr lang="en-GB" altLang="zh-CN" sz="1400" dirty="0"/>
              <a:t>    result = </a:t>
            </a:r>
            <a:r>
              <a:rPr lang="en-GB" altLang="zh-CN" sz="1400" dirty="0" err="1"/>
              <a:t>re.search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"\d.*"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"city:1beijing2.shanghai"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"\d.*": </a:t>
            </a:r>
            <a:r>
              <a:rPr lang="zh-CN" altLang="en-US" sz="1400" i="1" dirty="0">
                <a:solidFill>
                  <a:srgbClr val="8C8C8C"/>
                </a:solidFill>
              </a:rPr>
              <a:t>数字开头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任意多个字符字符结尾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re.search</a:t>
            </a:r>
            <a:r>
              <a:rPr lang="en-GB" altLang="zh-CN" sz="1400" i="1" dirty="0">
                <a:solidFill>
                  <a:srgbClr val="8C8C8C"/>
                </a:solidFill>
              </a:rPr>
              <a:t>(".\d.", "cityp.1.beijing2.shanghai")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pass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99112" y="4523622"/>
            <a:ext cx="3651867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1beijing2.shanghai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750895"/>
            <a:ext cx="10749599" cy="517190"/>
          </a:xfrm>
        </p:spPr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、举个栗子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-3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245953" y="1200596"/>
            <a:ext cx="8394555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dirty="0">
                <a:solidFill>
                  <a:srgbClr val="0033B3"/>
                </a:solidFill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</a:rPr>
              <a:t>dm03_replace</a:t>
            </a:r>
            <a:r>
              <a:rPr lang="zh-CN" altLang="en-US" sz="1400" dirty="0">
                <a:solidFill>
                  <a:srgbClr val="00627A"/>
                </a:solidFill>
              </a:rPr>
              <a:t>替换字符串</a:t>
            </a:r>
            <a:r>
              <a:rPr lang="en-US" altLang="zh-CN" sz="1400" dirty="0"/>
              <a:t>():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/>
              <a:t>re</a:t>
            </a:r>
            <a:br>
              <a:rPr lang="en-GB" altLang="zh-CN" sz="1400" dirty="0"/>
            </a:br>
            <a:r>
              <a:rPr lang="en-GB" altLang="zh-CN" sz="1400" dirty="0"/>
              <a:t>    sentence =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车主说</a:t>
            </a:r>
            <a:r>
              <a:rPr lang="en-US" altLang="zh-CN" sz="1400" dirty="0">
                <a:solidFill>
                  <a:srgbClr val="067D17"/>
                </a:solidFill>
              </a:rPr>
              <a:t>:</a:t>
            </a:r>
            <a:r>
              <a:rPr lang="zh-CN" altLang="en-US" sz="1400" dirty="0">
                <a:solidFill>
                  <a:srgbClr val="067D17"/>
                </a:solidFill>
              </a:rPr>
              <a:t>你的刹车片应该更换了啊</a:t>
            </a:r>
            <a:r>
              <a:rPr lang="en-US" altLang="zh-CN" sz="1400" dirty="0">
                <a:solidFill>
                  <a:srgbClr val="067D17"/>
                </a:solidFill>
              </a:rPr>
              <a:t>,</a:t>
            </a:r>
            <a:r>
              <a:rPr lang="zh-CN" altLang="en-US" sz="1400" dirty="0">
                <a:solidFill>
                  <a:srgbClr val="067D17"/>
                </a:solidFill>
              </a:rPr>
              <a:t>嘿嘿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正则表达式</a:t>
            </a:r>
            <a:r>
              <a:rPr lang="en-US" altLang="zh-CN" sz="1400" i="1" dirty="0">
                <a:solidFill>
                  <a:srgbClr val="8C8C8C"/>
                </a:solidFill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</a:rPr>
              <a:t>去除多余字符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p = </a:t>
            </a:r>
            <a:r>
              <a:rPr lang="en-GB" altLang="zh-CN" sz="1400" dirty="0">
                <a:solidFill>
                  <a:srgbClr val="067D17"/>
                </a:solidFill>
              </a:rPr>
              <a:t>r"</a:t>
            </a:r>
            <a:r>
              <a:rPr lang="zh-CN" altLang="en-US" sz="1400" dirty="0">
                <a:solidFill>
                  <a:srgbClr val="067D17"/>
                </a:solidFill>
              </a:rPr>
              <a:t>呢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吧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哈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啊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啦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嘿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嘿嘿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r>
              <a:rPr lang="en-GB" altLang="zh-CN" sz="1400" dirty="0"/>
              <a:t>r = </a:t>
            </a:r>
            <a:r>
              <a:rPr lang="en-GB" altLang="zh-CN" sz="1400" dirty="0" err="1"/>
              <a:t>re.compile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</a:rPr>
              <a:t>pattern</a:t>
            </a:r>
            <a:r>
              <a:rPr lang="en-GB" altLang="zh-CN" sz="1400" dirty="0"/>
              <a:t>=p)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r.sub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''</a:t>
            </a:r>
            <a:r>
              <a:rPr lang="en-GB" altLang="zh-CN" sz="1400" dirty="0"/>
              <a:t>, sentence)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mystr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正则表达</a:t>
            </a:r>
            <a:r>
              <a:rPr lang="en-US" altLang="zh-CN" sz="1400" i="1" dirty="0">
                <a:solidFill>
                  <a:srgbClr val="8C8C8C"/>
                </a:solidFill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</a:rPr>
              <a:t>删除除了汉字数字字母和，！？。</a:t>
            </a:r>
            <a:r>
              <a:rPr lang="en-US" altLang="zh-CN" sz="1400" i="1" dirty="0">
                <a:solidFill>
                  <a:srgbClr val="8C8C8C"/>
                </a:solidFill>
              </a:rPr>
              <a:t>.- </a:t>
            </a:r>
            <a:r>
              <a:rPr lang="zh-CN" altLang="en-US" sz="1400" i="1" dirty="0">
                <a:solidFill>
                  <a:srgbClr val="8C8C8C"/>
                </a:solidFill>
              </a:rPr>
              <a:t>以外的字符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\</a:t>
            </a:r>
            <a:r>
              <a:rPr lang="en-GB" altLang="zh-CN" sz="1400" i="1" dirty="0">
                <a:solidFill>
                  <a:srgbClr val="8C8C8C"/>
                </a:solidFill>
              </a:rPr>
              <a:t>u4e00-\u9fa5 </a:t>
            </a:r>
            <a:r>
              <a:rPr lang="zh-CN" altLang="en-US" sz="1400" i="1" dirty="0">
                <a:solidFill>
                  <a:srgbClr val="8C8C8C"/>
                </a:solidFill>
              </a:rPr>
              <a:t>是用来判断是不是中文的一个条件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p = </a:t>
            </a:r>
            <a:r>
              <a:rPr lang="en-GB" altLang="zh-CN" sz="1400" dirty="0">
                <a:solidFill>
                  <a:srgbClr val="067D17"/>
                </a:solidFill>
              </a:rPr>
              <a:t>"[^</a:t>
            </a:r>
            <a:r>
              <a:rPr lang="zh-CN" altLang="en-GB" sz="1400" dirty="0">
                <a:solidFill>
                  <a:srgbClr val="067D17"/>
                </a:solidFill>
              </a:rPr>
              <a:t>，！？。</a:t>
            </a:r>
            <a:r>
              <a:rPr lang="en-GB" altLang="zh-CN" sz="1400" dirty="0">
                <a:solidFill>
                  <a:srgbClr val="067D17"/>
                </a:solidFill>
              </a:rPr>
              <a:t>\.\-</a:t>
            </a:r>
            <a:r>
              <a:rPr lang="en-GB" altLang="zh-CN" sz="1400" dirty="0">
                <a:solidFill>
                  <a:srgbClr val="0037A6"/>
                </a:solidFill>
              </a:rPr>
              <a:t>\u4e00</a:t>
            </a:r>
            <a:r>
              <a:rPr lang="en-GB" altLang="zh-CN" sz="1400" dirty="0">
                <a:solidFill>
                  <a:srgbClr val="067D17"/>
                </a:solidFill>
              </a:rPr>
              <a:t>-</a:t>
            </a:r>
            <a:r>
              <a:rPr lang="en-GB" altLang="zh-CN" sz="1400" dirty="0">
                <a:solidFill>
                  <a:srgbClr val="0037A6"/>
                </a:solidFill>
              </a:rPr>
              <a:t>\u9fa5</a:t>
            </a:r>
            <a:r>
              <a:rPr lang="en-GB" altLang="zh-CN" sz="1400" dirty="0">
                <a:solidFill>
                  <a:srgbClr val="067D17"/>
                </a:solidFill>
              </a:rPr>
              <a:t>_a-zA-Z0-9]"</a:t>
            </a:r>
            <a:br>
              <a:rPr lang="en-GB" altLang="zh-CN" sz="1400" dirty="0">
                <a:solidFill>
                  <a:srgbClr val="067D17"/>
                </a:solidFill>
              </a:rPr>
            </a:br>
            <a:r>
              <a:rPr lang="en-GB" altLang="zh-CN" sz="1400" dirty="0">
                <a:solidFill>
                  <a:srgbClr val="067D17"/>
                </a:solidFill>
              </a:rPr>
              <a:t>    </a:t>
            </a:r>
            <a:r>
              <a:rPr lang="en-GB" altLang="zh-CN" sz="1400" dirty="0"/>
              <a:t>r = </a:t>
            </a:r>
            <a:r>
              <a:rPr lang="en-GB" altLang="zh-CN" sz="1400" dirty="0" err="1"/>
              <a:t>re.compile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</a:rPr>
              <a:t>pattern</a:t>
            </a:r>
            <a:r>
              <a:rPr lang="en-GB" altLang="zh-CN" sz="1400" dirty="0"/>
              <a:t>=p)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r.sub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''</a:t>
            </a:r>
            <a:r>
              <a:rPr lang="en-GB" altLang="zh-CN" sz="1400" dirty="0"/>
              <a:t>, sentence)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mystr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半角变为全角  </a:t>
            </a:r>
            <a:r>
              <a:rPr lang="en-GB" altLang="zh-CN" sz="1400" i="1" dirty="0" err="1">
                <a:solidFill>
                  <a:srgbClr val="8C8C8C"/>
                </a:solidFill>
              </a:rPr>
              <a:t>sentence.replace</a:t>
            </a:r>
            <a:r>
              <a:rPr lang="en-GB" altLang="zh-CN" sz="1400" i="1" dirty="0">
                <a:solidFill>
                  <a:srgbClr val="8C8C8C"/>
                </a:solidFill>
              </a:rPr>
              <a:t>(",", "</a:t>
            </a:r>
            <a:r>
              <a:rPr lang="zh-CN" altLang="en-GB" sz="1400" i="1" dirty="0">
                <a:solidFill>
                  <a:srgbClr val="8C8C8C"/>
                </a:solidFill>
              </a:rPr>
              <a:t>，</a:t>
            </a:r>
            <a:r>
              <a:rPr lang="en-GB" altLang="zh-CN" sz="1400" i="1" dirty="0">
                <a:solidFill>
                  <a:srgbClr val="8C8C8C"/>
                </a:solidFill>
              </a:rPr>
              <a:t>") </a:t>
            </a:r>
            <a:r>
              <a:rPr lang="zh-CN" altLang="en-US" sz="1400" i="1" dirty="0">
                <a:solidFill>
                  <a:srgbClr val="8C8C8C"/>
                </a:solidFill>
              </a:rPr>
              <a:t>逗号 感叹号 问号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sentence =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你好</a:t>
            </a:r>
            <a:r>
              <a:rPr lang="en-US" altLang="zh-CN" sz="1400" dirty="0">
                <a:solidFill>
                  <a:srgbClr val="067D17"/>
                </a:solidFill>
              </a:rPr>
              <a:t>."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sentence.replace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"."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GB" sz="1400" dirty="0">
                <a:solidFill>
                  <a:srgbClr val="067D17"/>
                </a:solidFill>
              </a:rPr>
              <a:t>。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mystr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)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1252300" y="5914676"/>
            <a:ext cx="4759615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mystr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--&gt;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车主说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你的刹车片应该更换了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,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mystr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--&gt;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车主说你的刹车片应该更换了啊嘿嘿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mystr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--&gt;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你好。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38413" y="258127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43463" y="204152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806950" y="200501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06950" y="448945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54313" y="323056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75337" y="2796927"/>
            <a:ext cx="3833037" cy="15476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模块匹配单个字符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模块匹配单个字符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98196" y="2234449"/>
          <a:ext cx="10749598" cy="328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526"/>
                <a:gridCol w="8435072"/>
              </a:tblGrid>
              <a:tr h="3951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.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匹配任意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个字符（除了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endParaRPr lang="pt-B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中列举的字符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[^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指定字符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]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匹配除了指定字符以外的所有字符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匹配数字，即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匹配非数字，即不是数字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模块匹配单个字符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00149" y="2262343"/>
          <a:ext cx="10680970" cy="271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01"/>
                <a:gridCol w="8299769"/>
              </a:tblGrid>
              <a:tr h="44275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匹配空白，即 空格，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tab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键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匹配非空白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匹配非特殊字符，即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匹配特殊字符，即非字母、非数字、非汉字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# 1 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匹配任意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个字符（除了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\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n）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匹配数据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从左向右匹配，一个字符接着一个字符的匹配</a:t>
            </a:r>
            <a:b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result = </a:t>
            </a:r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re.match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("</a:t>
            </a:r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.", "itcast2")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获取数据</a:t>
            </a:r>
            <a:b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if result: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info = </a:t>
            </a:r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result.group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()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print(info)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else: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print("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没有匹配到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")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itcast2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2 [ ] 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US" altLang="zh-CN" sz="1400" i="1" dirty="0">
                <a:solidFill>
                  <a:srgbClr val="8C8C8C"/>
                </a:solidFill>
              </a:rPr>
              <a:t>[ ]</a:t>
            </a:r>
            <a:r>
              <a:rPr lang="zh-CN" altLang="en-US" sz="1400" i="1" dirty="0">
                <a:solidFill>
                  <a:srgbClr val="8C8C8C"/>
                </a:solidFill>
              </a:rPr>
              <a:t>中列举的字符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[</a:t>
            </a:r>
            <a:r>
              <a:rPr lang="en-GB" altLang="zh-CN" sz="1400" i="1" dirty="0">
                <a:solidFill>
                  <a:srgbClr val="8C8C8C"/>
                </a:solidFill>
              </a:rPr>
              <a:t>a-z]  [A-Z] [0-9]   [a-zA-Z0-9]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[123abc]"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"itcast376"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3 \d  </a:t>
            </a:r>
            <a:r>
              <a:rPr lang="zh-CN" altLang="en-US" sz="1400" i="1" dirty="0">
                <a:solidFill>
                  <a:srgbClr val="8C8C8C"/>
                </a:solidFill>
              </a:rPr>
              <a:t>匹配数字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即</a:t>
            </a:r>
            <a:r>
              <a:rPr lang="en-US" altLang="zh-CN" sz="1400" i="1" dirty="0">
                <a:solidFill>
                  <a:srgbClr val="8C8C8C"/>
                </a:solidFill>
              </a:rPr>
              <a:t>0-9 =&gt; [0123456789] =&gt; [0-9]</a:t>
            </a:r>
            <a:br>
              <a:rPr lang="en-US" altLang="zh-CN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\d"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"itcast5"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4 \D  </a:t>
            </a:r>
            <a:r>
              <a:rPr lang="zh-CN" altLang="en-US" sz="1400" i="1" dirty="0">
                <a:solidFill>
                  <a:srgbClr val="8C8C8C"/>
                </a:solidFill>
              </a:rPr>
              <a:t>匹配非数字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即不是数字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\D", 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-")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if result: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info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result.group</a:t>
            </a:r>
            <a:r>
              <a:rPr lang="en-GB" altLang="zh-CN" sz="1400" i="1" dirty="0">
                <a:solidFill>
                  <a:srgbClr val="8C8C8C"/>
                </a:solidFill>
              </a:rPr>
              <a:t>()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print(info)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else: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print("</a:t>
            </a:r>
            <a:r>
              <a:rPr lang="zh-CN" altLang="en-US" sz="1400" i="1" dirty="0">
                <a:solidFill>
                  <a:srgbClr val="8C8C8C"/>
                </a:solidFill>
              </a:rPr>
              <a:t>没有匹配到</a:t>
            </a:r>
            <a:r>
              <a:rPr lang="en-US" altLang="zh-CN" sz="1400" i="1" dirty="0">
                <a:solidFill>
                  <a:srgbClr val="8C8C8C"/>
                </a:solidFill>
              </a:rPr>
              <a:t>")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27506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-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5 \s  </a:t>
            </a:r>
            <a:r>
              <a:rPr lang="zh-CN" altLang="en-US" sz="1400" i="1" dirty="0">
                <a:solidFill>
                  <a:srgbClr val="8C8C8C"/>
                </a:solidFill>
              </a:rPr>
              <a:t>匹配空白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即空格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en-GB" altLang="zh-CN" sz="1400" i="1" dirty="0">
                <a:solidFill>
                  <a:srgbClr val="8C8C8C"/>
                </a:solidFill>
              </a:rPr>
              <a:t>tab</a:t>
            </a:r>
            <a:r>
              <a:rPr lang="zh-CN" altLang="en-US" sz="1400" i="1" dirty="0">
                <a:solidFill>
                  <a:srgbClr val="8C8C8C"/>
                </a:solidFill>
              </a:rPr>
              <a:t>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\s111"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037A6"/>
                </a:solidFill>
              </a:rPr>
              <a:t>\t</a:t>
            </a:r>
            <a:r>
              <a:rPr lang="en-GB" altLang="zh-CN" sz="1400" dirty="0">
                <a:solidFill>
                  <a:srgbClr val="067D17"/>
                </a:solidFill>
              </a:rPr>
              <a:t>111"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	111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6 \S  </a:t>
            </a:r>
            <a:r>
              <a:rPr lang="zh-CN" altLang="en-US" sz="1400" i="1" dirty="0">
                <a:solidFill>
                  <a:srgbClr val="8C8C8C"/>
                </a:solidFill>
              </a:rPr>
              <a:t>匹配非空白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\S"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037A6"/>
                </a:solidFill>
              </a:rPr>
              <a:t>\t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结果：没有匹配到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7 \w  </a:t>
            </a:r>
            <a:r>
              <a:rPr lang="zh-CN" altLang="en-US" sz="1400" i="1" dirty="0">
                <a:solidFill>
                  <a:srgbClr val="8C8C8C"/>
                </a:solidFill>
              </a:rPr>
              <a:t>匹配非特殊字符，即</a:t>
            </a:r>
            <a:r>
              <a:rPr lang="en-GB" altLang="zh-CN" sz="1400" i="1" dirty="0">
                <a:solidFill>
                  <a:srgbClr val="8C8C8C"/>
                </a:solidFill>
              </a:rPr>
              <a:t>a-z, A-Z, 0-9, _, </a:t>
            </a:r>
            <a:r>
              <a:rPr lang="zh-CN" altLang="en-US" sz="1400" i="1" dirty="0">
                <a:solidFill>
                  <a:srgbClr val="8C8C8C"/>
                </a:solidFill>
              </a:rPr>
              <a:t>汉字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\w"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itcasta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\w", 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!")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itcasta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8 \W  </a:t>
            </a:r>
            <a:r>
              <a:rPr lang="zh-CN" altLang="en-US" sz="1400" i="1" dirty="0">
                <a:solidFill>
                  <a:srgbClr val="8C8C8C"/>
                </a:solidFill>
              </a:rPr>
              <a:t>匹配特殊字符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即非字母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非数字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非</a:t>
            </a:r>
            <a:r>
              <a:rPr lang="en-US" altLang="zh-CN" sz="1400" i="1" dirty="0">
                <a:solidFill>
                  <a:srgbClr val="8C8C8C"/>
                </a:solidFill>
              </a:rPr>
              <a:t>_, </a:t>
            </a:r>
            <a:r>
              <a:rPr lang="zh-CN" altLang="en-US" sz="1400" i="1" dirty="0">
                <a:solidFill>
                  <a:srgbClr val="8C8C8C"/>
                </a:solidFill>
              </a:rPr>
              <a:t>非汉字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\W"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037A6"/>
                </a:solidFill>
              </a:rPr>
              <a:t>\t</a:t>
            </a:r>
            <a:r>
              <a:rPr lang="en-GB" altLang="zh-CN" sz="1400" dirty="0">
                <a:solidFill>
                  <a:srgbClr val="067D17"/>
                </a:solidFill>
              </a:rPr>
              <a:t>2aa"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13" name="矩形 12"/>
          <p:cNvSpPr/>
          <p:nvPr/>
        </p:nvSpPr>
        <p:spPr>
          <a:xfrm rot="2700000">
            <a:off x="1341438" y="2738438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 rot="2700000">
            <a:off x="1125538" y="2730500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/>
        </p:nvSpPr>
        <p:spPr bwMode="auto">
          <a:xfrm>
            <a:off x="0" y="3143250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482495" y="1621557"/>
          <a:ext cx="8242780" cy="4577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730"/>
                <a:gridCol w="6115050"/>
              </a:tblGrid>
              <a:tr h="5831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.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匹配任意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个字符（除了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endParaRPr lang="pt-B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中列举的字符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[^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指定字符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]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匹配除了指定字符以外的所有字符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匹配数字，即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，等价于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[0-9]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匹配非数字，即不是数字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匹配空白，即 空格，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tab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键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匹配非空白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025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匹配非特殊字符，即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02578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匹配特殊字符，即非字母、非数字、非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、非汉字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38413" y="258127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43463" y="204152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806950" y="200501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06950" y="448945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54313" y="323056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75337" y="2796927"/>
            <a:ext cx="3833037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模块匹配多个字符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模块匹配多个字符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71599" y="1923678"/>
          <a:ext cx="10488880" cy="353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01"/>
                <a:gridCol w="8031479"/>
              </a:tblGrid>
              <a:tr h="5051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6631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次或者无限次，即可有可无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63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次或者无限次，即至少有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6562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?</a:t>
                      </a:r>
                      <a:endParaRPr lang="ru-RU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次，即要么有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次，要么没有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05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{m}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0508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{m,n}</a:t>
                      </a:r>
                      <a:endParaRPr lang="da-DK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匹配前一个字符出现从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1 *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次或者无限次，即可有可无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"itcast1*"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"itcast111123333itcast"</a:t>
            </a:r>
            <a:r>
              <a:rPr lang="en-GB" altLang="zh-CN" sz="1400" dirty="0"/>
              <a:t>)        </a:t>
            </a:r>
            <a:r>
              <a:rPr lang="en-GB" altLang="zh-CN" sz="1400" i="1" dirty="0">
                <a:solidFill>
                  <a:srgbClr val="8C8C8C"/>
                </a:solidFill>
              </a:rPr>
              <a:t># 1</a:t>
            </a:r>
            <a:r>
              <a:rPr lang="zh-CN" altLang="en-US" sz="1400" i="1" dirty="0">
                <a:solidFill>
                  <a:srgbClr val="8C8C8C"/>
                </a:solidFill>
              </a:rPr>
              <a:t>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\d*", "itcast23333itcast")          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\d*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", "itcast123333itcast")    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开始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结束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\d*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", 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itcastitcast</a:t>
            </a:r>
            <a:r>
              <a:rPr lang="en-GB" altLang="zh-CN" sz="1400" i="1" dirty="0">
                <a:solidFill>
                  <a:srgbClr val="8C8C8C"/>
                </a:solidFill>
              </a:rPr>
              <a:t>")    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开始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结束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itcast1111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2 +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次或者无限次，即至少有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数字必须出现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</a:t>
            </a:r>
            <a:r>
              <a:rPr lang="en-GB" altLang="zh-CN" sz="1400" dirty="0" err="1">
                <a:solidFill>
                  <a:srgbClr val="067D17"/>
                </a:solidFill>
              </a:rPr>
              <a:t>d+itcast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"itcast11333444itcast"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itcast11333444itcast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3 ?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次或者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次，即要么有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次，要么没有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</a:t>
            </a:r>
            <a:r>
              <a:rPr lang="en-GB" altLang="zh-CN" sz="1400" dirty="0" err="1">
                <a:solidFill>
                  <a:srgbClr val="067D17"/>
                </a:solidFill>
              </a:rPr>
              <a:t>d?itcast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i="1" dirty="0">
                <a:solidFill>
                  <a:srgbClr val="8C8C8C"/>
                </a:solidFill>
              </a:rPr>
              <a:t># 4 {m}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GB" altLang="zh-CN" sz="1400" i="1" dirty="0">
                <a:solidFill>
                  <a:srgbClr val="8C8C8C"/>
                </a:solidFill>
              </a:rPr>
              <a:t>m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\d{2}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"itcast12itcast"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itcast12itcast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5 {</a:t>
            </a:r>
            <a:r>
              <a:rPr lang="en-GB" altLang="zh-CN" sz="1400" i="1" dirty="0" err="1">
                <a:solidFill>
                  <a:srgbClr val="8C8C8C"/>
                </a:solidFill>
              </a:rPr>
              <a:t>m,n</a:t>
            </a:r>
            <a:r>
              <a:rPr lang="en-GB" altLang="zh-CN" sz="1400" i="1" dirty="0">
                <a:solidFill>
                  <a:srgbClr val="8C8C8C"/>
                </a:solidFill>
              </a:rPr>
              <a:t>}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匹配前一个字符出现从</a:t>
            </a:r>
            <a:r>
              <a:rPr lang="en-GB" altLang="zh-CN" sz="1400" i="1" dirty="0">
                <a:solidFill>
                  <a:srgbClr val="8C8C8C"/>
                </a:solidFill>
              </a:rPr>
              <a:t>m</a:t>
            </a:r>
            <a:r>
              <a:rPr lang="zh-CN" altLang="en-US" sz="1400" i="1" dirty="0">
                <a:solidFill>
                  <a:srgbClr val="8C8C8C"/>
                </a:solidFill>
              </a:rPr>
              <a:t>到</a:t>
            </a:r>
            <a:r>
              <a:rPr lang="en-GB" altLang="zh-CN" sz="1400" i="1" dirty="0">
                <a:solidFill>
                  <a:srgbClr val="8C8C8C"/>
                </a:solidFill>
              </a:rPr>
              <a:t>n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注意</a:t>
            </a:r>
            <a:r>
              <a:rPr lang="en-US" altLang="zh-CN" sz="1400" i="1" dirty="0">
                <a:solidFill>
                  <a:srgbClr val="8C8C8C"/>
                </a:solidFill>
              </a:rPr>
              <a:t>1:{2, 5} </a:t>
            </a:r>
            <a:r>
              <a:rPr lang="zh-CN" altLang="en-US" sz="1400" i="1" dirty="0">
                <a:solidFill>
                  <a:srgbClr val="8C8C8C"/>
                </a:solidFill>
              </a:rPr>
              <a:t>中括号里面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逗号之后不能加空格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\d{2,5}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"itcast111itcast"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itcast111itcast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、总结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矩形 4"/>
          <p:cNvSpPr/>
          <p:nvPr/>
        </p:nvSpPr>
        <p:spPr>
          <a:xfrm rot="2700000">
            <a:off x="1716088" y="2586038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1500188" y="2578100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374650" y="2990850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796530" y="1877287"/>
          <a:ext cx="7557502" cy="336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370"/>
                <a:gridCol w="5677132"/>
              </a:tblGrid>
              <a:tr h="40860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277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次或者无限次，即可有可无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7065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次或者无限次，即至少有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70654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?</a:t>
                      </a:r>
                      <a:endParaRPr lang="ru-RU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次，即要么有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次，要么没有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4395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{m}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7782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{m,n}</a:t>
                      </a:r>
                      <a:endParaRPr lang="da-DK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匹配前一个字符出现从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38413" y="258127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43463" y="204152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806950" y="200501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06950" y="448945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54313" y="323056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75337" y="2796927"/>
            <a:ext cx="5448864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模块匹配指定字符串开头或者结尾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模块匹配指定字符串开头或者结尾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9995" y="2422864"/>
          <a:ext cx="10480484" cy="1486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680"/>
                <a:gridCol w="9107804"/>
              </a:tblGrid>
              <a:tr h="5226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功能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75337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^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匹配字符串开头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8857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$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匹配字符串结尾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1-1 ^ </a:t>
            </a:r>
            <a:r>
              <a:rPr lang="zh-CN" altLang="en-US" sz="1400" i="1" dirty="0">
                <a:solidFill>
                  <a:srgbClr val="8C8C8C"/>
                </a:solidFill>
              </a:rPr>
              <a:t>匹配字符串开头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r>
              <a:rPr lang="en-US" altLang="zh-CN" sz="1400" i="1" dirty="0">
                <a:solidFill>
                  <a:srgbClr val="8C8C8C"/>
                </a:solidFill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个数字开头的子串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</a:t>
            </a:r>
            <a:r>
              <a:rPr lang="en-GB" altLang="zh-CN" sz="1400" dirty="0" err="1">
                <a:solidFill>
                  <a:srgbClr val="067D17"/>
                </a:solidFill>
              </a:rPr>
              <a:t>ditcast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"2itcast"</a:t>
            </a:r>
            <a:r>
              <a:rPr lang="en-GB" altLang="zh-CN" sz="1400" dirty="0"/>
              <a:t>)   </a:t>
            </a:r>
            <a:r>
              <a:rPr lang="en-GB" altLang="zh-CN" sz="1400" i="1" dirty="0">
                <a:solidFill>
                  <a:srgbClr val="8C8C8C"/>
                </a:solidFill>
              </a:rPr>
              <a:t># 1 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个数字开头 </a:t>
            </a:r>
            <a:r>
              <a:rPr lang="en-US" altLang="zh-CN" sz="1400" i="1" dirty="0">
                <a:solidFill>
                  <a:srgbClr val="8C8C8C"/>
                </a:solidFill>
              </a:rPr>
              <a:t>+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("^\</a:t>
            </a:r>
            <a:r>
              <a:rPr lang="en-GB" altLang="zh-CN" sz="1400" i="1" dirty="0" err="1">
                <a:solidFill>
                  <a:srgbClr val="8C8C8C"/>
                </a:solidFill>
              </a:rPr>
              <a:t>ditcast</a:t>
            </a:r>
            <a:r>
              <a:rPr lang="en-GB" altLang="zh-CN" sz="1400" i="1" dirty="0">
                <a:solidFill>
                  <a:srgbClr val="8C8C8C"/>
                </a:solidFill>
              </a:rPr>
              <a:t>", "22itcast")  # 2 </a:t>
            </a:r>
            <a:r>
              <a:rPr lang="zh-CN" altLang="en-US" sz="1400" i="1" dirty="0">
                <a:solidFill>
                  <a:srgbClr val="8C8C8C"/>
                </a:solidFill>
              </a:rPr>
              <a:t>匹配不上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1-2 </a:t>
            </a:r>
            <a:r>
              <a:rPr lang="zh-CN" altLang="en-US" sz="1400" i="1" dirty="0">
                <a:solidFill>
                  <a:srgbClr val="8C8C8C"/>
                </a:solidFill>
              </a:rPr>
              <a:t>以数字为开头的字符串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"^\d.*"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"22itcast"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"^\d":</a:t>
            </a:r>
            <a:r>
              <a:rPr lang="zh-CN" altLang="en-US" sz="1400" i="1" dirty="0">
                <a:solidFill>
                  <a:srgbClr val="8C8C8C"/>
                </a:solidFill>
              </a:rPr>
              <a:t>以数字开头</a:t>
            </a:r>
            <a:r>
              <a:rPr lang="en-US" altLang="zh-CN" sz="1400" i="1" dirty="0">
                <a:solidFill>
                  <a:srgbClr val="8C8C8C"/>
                </a:solidFill>
              </a:rPr>
              <a:t>, ".*":</a:t>
            </a:r>
            <a:r>
              <a:rPr lang="zh-CN" altLang="en-US" sz="1400" i="1" dirty="0">
                <a:solidFill>
                  <a:srgbClr val="8C8C8C"/>
                </a:solidFill>
              </a:rPr>
              <a:t>以字符结尾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("^\d{1,3}it", "1itcast")  # "^\d{1,3}":</a:t>
            </a:r>
            <a:r>
              <a:rPr lang="zh-CN" altLang="en-US" sz="1400" i="1" dirty="0">
                <a:solidFill>
                  <a:srgbClr val="8C8C8C"/>
                </a:solidFill>
              </a:rPr>
              <a:t>以</a:t>
            </a:r>
            <a:r>
              <a:rPr lang="en-US" altLang="zh-CN" sz="1400" i="1" dirty="0">
                <a:solidFill>
                  <a:srgbClr val="8C8C8C"/>
                </a:solidFill>
              </a:rPr>
              <a:t>1~3</a:t>
            </a:r>
            <a:r>
              <a:rPr lang="zh-CN" altLang="en-US" sz="1400" i="1" dirty="0">
                <a:solidFill>
                  <a:srgbClr val="8C8C8C"/>
                </a:solidFill>
              </a:rPr>
              <a:t>个数字开头</a:t>
            </a:r>
            <a:r>
              <a:rPr lang="en-US" altLang="zh-CN" sz="1400" i="1" dirty="0">
                <a:solidFill>
                  <a:srgbClr val="8C8C8C"/>
                </a:solidFill>
              </a:rPr>
              <a:t>, ".*":</a:t>
            </a:r>
            <a:r>
              <a:rPr lang="zh-CN" altLang="en-US" sz="1400" i="1" dirty="0">
                <a:solidFill>
                  <a:srgbClr val="8C8C8C"/>
                </a:solidFill>
              </a:rPr>
              <a:t>以字符结尾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22itcast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2-1 $ </a:t>
            </a:r>
            <a:r>
              <a:rPr lang="zh-CN" altLang="en-US" sz="1400" i="1" dirty="0">
                <a:solidFill>
                  <a:srgbClr val="8C8C8C"/>
                </a:solidFill>
              </a:rPr>
              <a:t>匹配字符串结尾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".*\d$"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"itcast66"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".*" : 0</a:t>
            </a:r>
            <a:r>
              <a:rPr lang="zh-CN" altLang="en-US" sz="1400" i="1" dirty="0">
                <a:solidFill>
                  <a:srgbClr val="8C8C8C"/>
                </a:solidFill>
              </a:rPr>
              <a:t>个多个字符开头</a:t>
            </a:r>
            <a:r>
              <a:rPr lang="en-US" altLang="zh-CN" sz="1400" i="1" dirty="0">
                <a:solidFill>
                  <a:srgbClr val="8C8C8C"/>
                </a:solidFill>
              </a:rPr>
              <a:t>, "\</a:t>
            </a:r>
            <a:r>
              <a:rPr lang="en-GB" altLang="zh-CN" sz="1400" i="1" dirty="0">
                <a:solidFill>
                  <a:srgbClr val="8C8C8C"/>
                </a:solidFill>
              </a:rPr>
              <a:t>d$":</a:t>
            </a:r>
            <a:r>
              <a:rPr lang="zh-CN" altLang="en-US" sz="1400" i="1" dirty="0">
                <a:solidFill>
                  <a:srgbClr val="8C8C8C"/>
                </a:solidFill>
              </a:rPr>
              <a:t>数字结尾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(".*\d{5}$", "itcast666")  # ".*" : 0</a:t>
            </a:r>
            <a:r>
              <a:rPr lang="zh-CN" altLang="en-US" sz="1400" i="1" dirty="0">
                <a:solidFill>
                  <a:srgbClr val="8C8C8C"/>
                </a:solidFill>
              </a:rPr>
              <a:t>个多个字符开头</a:t>
            </a:r>
            <a:r>
              <a:rPr lang="en-US" altLang="zh-CN" sz="1400" i="1" dirty="0">
                <a:solidFill>
                  <a:srgbClr val="8C8C8C"/>
                </a:solidFill>
              </a:rPr>
              <a:t>, "\</a:t>
            </a:r>
            <a:r>
              <a:rPr lang="en-GB" altLang="zh-CN" sz="1400" i="1" dirty="0">
                <a:solidFill>
                  <a:srgbClr val="8C8C8C"/>
                </a:solidFill>
              </a:rPr>
              <a:t>d{5}$": </a:t>
            </a:r>
            <a:r>
              <a:rPr lang="zh-CN" altLang="en-US" sz="1400" i="1" dirty="0">
                <a:solidFill>
                  <a:srgbClr val="8C8C8C"/>
                </a:solidFill>
              </a:rPr>
              <a:t>以</a:t>
            </a:r>
            <a:r>
              <a:rPr lang="en-US" altLang="zh-CN" sz="1400" i="1" dirty="0">
                <a:solidFill>
                  <a:srgbClr val="8C8C8C"/>
                </a:solidFill>
              </a:rPr>
              <a:t>5</a:t>
            </a:r>
            <a:r>
              <a:rPr lang="zh-CN" altLang="en-US" sz="1400" i="1" dirty="0">
                <a:solidFill>
                  <a:srgbClr val="8C8C8C"/>
                </a:solidFill>
              </a:rPr>
              <a:t>个数字结尾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itcast66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</a:rPr>
              <a:t>匹配以数字为开头以数字为结尾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"^\d.*\d$"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"11itcast22"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11itcast22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br>
              <a:rPr lang="zh-CN" altLang="en-US" sz="1400" dirty="0"/>
            </a:br>
            <a:r>
              <a:rPr lang="en-US" altLang="zh-CN" sz="1400" i="1" dirty="0">
                <a:solidFill>
                  <a:srgbClr val="8C8C8C"/>
                </a:solidFill>
              </a:rPr>
              <a:t># 4 [^</a:t>
            </a:r>
            <a:r>
              <a:rPr lang="zh-CN" altLang="en-US" sz="1400" i="1" dirty="0">
                <a:solidFill>
                  <a:srgbClr val="8C8C8C"/>
                </a:solidFill>
              </a:rPr>
              <a:t>指定字符</a:t>
            </a:r>
            <a:r>
              <a:rPr lang="en-US" altLang="zh-CN" sz="1400" i="1" dirty="0">
                <a:solidFill>
                  <a:srgbClr val="8C8C8C"/>
                </a:solidFill>
              </a:rPr>
              <a:t>]  </a:t>
            </a:r>
            <a:r>
              <a:rPr lang="zh-CN" altLang="en-US" sz="1400" i="1" dirty="0">
                <a:solidFill>
                  <a:srgbClr val="8C8C8C"/>
                </a:solidFill>
              </a:rPr>
              <a:t>匹配除了指定字符以外的所有字符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"^\d.*[^4]$"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"11itcast@"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("^\d.*[^4]$", "11itcast4")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11itcast@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、总结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矩形 5"/>
          <p:cNvSpPr/>
          <p:nvPr/>
        </p:nvSpPr>
        <p:spPr>
          <a:xfrm rot="2700000">
            <a:off x="1668463" y="2700338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1452563" y="2692400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327025" y="3105150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874020" y="2487364"/>
          <a:ext cx="7519784" cy="1395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655"/>
                <a:gridCol w="5231129"/>
              </a:tblGrid>
              <a:tr h="4388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功能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438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^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匹配字符串开头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438839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$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匹配字符串结尾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8079" y="4249544"/>
            <a:ext cx="7772400" cy="94856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79" y="5322844"/>
            <a:ext cx="6731000" cy="8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19363" y="271462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24413" y="217487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787900" y="213836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787900" y="462280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35263" y="336391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56287" y="2930277"/>
            <a:ext cx="4536504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模块提取分组数据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71600" y="1923678"/>
          <a:ext cx="10420300" cy="2499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875"/>
                <a:gridCol w="8353425"/>
              </a:tblGrid>
              <a:tr h="52424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658409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|</a:t>
                      </a:r>
                      <a:endParaRPr lang="hr-H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匹配左右任意一个表达式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58409">
                <a:tc>
                  <a:txBody>
                    <a:bodyPr/>
                    <a:lstStyle/>
                    <a:p>
                      <a:pPr algn="ctr"/>
                      <a:r>
                        <a:rPr lang="is-I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(ab)</a:t>
                      </a:r>
                      <a:endParaRPr lang="is-I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将括号中字符作为一个分组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引用分组</a:t>
                      </a:r>
                      <a:r>
                        <a:rPr lang="en-US" altLang="zh-CN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匹配到的字符串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、匹配分组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1 </a:t>
            </a:r>
            <a:r>
              <a:rPr lang="zh-CN" altLang="en-US" sz="1400" i="1" dirty="0">
                <a:solidFill>
                  <a:srgbClr val="8C8C8C"/>
                </a:solidFill>
              </a:rPr>
              <a:t>需求：在列表中</a:t>
            </a:r>
            <a:r>
              <a:rPr lang="en-US" altLang="zh-CN" sz="1400" i="1" dirty="0">
                <a:solidFill>
                  <a:srgbClr val="8C8C8C"/>
                </a:solidFill>
              </a:rPr>
              <a:t>["</a:t>
            </a:r>
            <a:r>
              <a:rPr lang="en-GB" altLang="zh-CN" sz="1400" i="1" dirty="0">
                <a:solidFill>
                  <a:srgbClr val="8C8C8C"/>
                </a:solidFill>
              </a:rPr>
              <a:t>apple", "banana", "orange", "pear"]</a:t>
            </a:r>
            <a:r>
              <a:rPr lang="zh-CN" altLang="en-GB" sz="1400" i="1" dirty="0">
                <a:solidFill>
                  <a:srgbClr val="8C8C8C"/>
                </a:solidFill>
              </a:rPr>
              <a:t>，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GB" altLang="zh-CN" sz="1400" i="1" dirty="0">
                <a:solidFill>
                  <a:srgbClr val="8C8C8C"/>
                </a:solidFill>
              </a:rPr>
              <a:t>apple</a:t>
            </a:r>
            <a:r>
              <a:rPr lang="zh-CN" altLang="en-US" sz="1400" i="1" dirty="0">
                <a:solidFill>
                  <a:srgbClr val="8C8C8C"/>
                </a:solidFill>
              </a:rPr>
              <a:t>和</a:t>
            </a:r>
            <a:r>
              <a:rPr lang="en-GB" altLang="zh-CN" sz="1400" i="1" dirty="0">
                <a:solidFill>
                  <a:srgbClr val="8C8C8C"/>
                </a:solidFill>
              </a:rPr>
              <a:t>pear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fruit = [</a:t>
            </a:r>
            <a:r>
              <a:rPr lang="en-GB" altLang="zh-CN" sz="1400" dirty="0">
                <a:solidFill>
                  <a:srgbClr val="067D17"/>
                </a:solidFill>
              </a:rPr>
              <a:t>"apple"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"banana"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"orange"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"pear"</a:t>
            </a:r>
            <a:r>
              <a:rPr lang="en-GB" altLang="zh-CN" sz="1400" dirty="0"/>
              <a:t>]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获取字符串数据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for </a:t>
            </a:r>
            <a:r>
              <a:rPr lang="en-GB" altLang="zh-CN" sz="1400" dirty="0"/>
              <a:t>value </a:t>
            </a:r>
            <a:r>
              <a:rPr lang="en-GB" altLang="zh-CN" sz="1400" dirty="0">
                <a:solidFill>
                  <a:srgbClr val="0033B3"/>
                </a:solidFill>
              </a:rPr>
              <a:t>in </a:t>
            </a:r>
            <a:r>
              <a:rPr lang="en-GB" altLang="zh-CN" sz="1400" dirty="0"/>
              <a:t>fruit:</a:t>
            </a:r>
            <a:br>
              <a:rPr lang="en-GB" altLang="zh-CN" sz="1400" dirty="0"/>
            </a:br>
            <a:r>
              <a:rPr lang="en-GB" altLang="zh-CN" sz="1400" dirty="0"/>
              <a:t>    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apple|pear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value)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判断匹配是否成功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我想吃的水果</a:t>
            </a:r>
            <a:r>
              <a:rPr lang="en-US" altLang="zh-CN" sz="1400" dirty="0">
                <a:solidFill>
                  <a:srgbClr val="067D17"/>
                </a:solidFill>
              </a:rPr>
              <a:t>:"</a:t>
            </a:r>
            <a:r>
              <a:rPr lang="en-US" altLang="zh-CN" sz="1400" dirty="0"/>
              <a:t>,</a:t>
            </a:r>
            <a:r>
              <a:rPr lang="en-GB" altLang="zh-CN" sz="1400" dirty="0"/>
              <a:t>value)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f"</a:t>
            </a:r>
            <a:r>
              <a:rPr lang="zh-CN" altLang="en-US" sz="1400" dirty="0">
                <a:solidFill>
                  <a:srgbClr val="067D17"/>
                </a:solidFill>
              </a:rPr>
              <a:t>这个不是我想吃的水果</a:t>
            </a:r>
            <a:r>
              <a:rPr lang="en-US" altLang="zh-CN" sz="1400" dirty="0">
                <a:solidFill>
                  <a:srgbClr val="0037A6"/>
                </a:solidFill>
              </a:rPr>
              <a:t>{</a:t>
            </a:r>
            <a:r>
              <a:rPr lang="en-GB" altLang="zh-CN" sz="1400" dirty="0"/>
              <a:t>value</a:t>
            </a:r>
            <a:r>
              <a:rPr lang="en-GB" altLang="zh-CN" sz="1400" dirty="0">
                <a:solidFill>
                  <a:srgbClr val="0037A6"/>
                </a:solidFill>
              </a:rPr>
              <a:t>}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2381" y="4621902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endParaRPr lang="en-GB" altLang="zh-CN" sz="1400" noProof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apple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banana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orange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需求：匹配出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163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126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等邮箱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|   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匹配左右任意一个表达式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(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ab)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将括号中字符作为一个分组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\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转义字符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2-1</a:t>
            </a:r>
            <a:b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("[a-zA-Z0-9_]{4,20}@163|126|qq.com", "hello@163.com")  #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只能把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hello@163"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匹配出来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2-2</a:t>
            </a:r>
            <a:b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不能匹配出来子串 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因为分解成</a:t>
            </a: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"{4,20}@163" | "126" |  "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qq.com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b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("[a-zA-Z0-9_]{4,20}@163|126|qq.com", "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hello@qq.com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")  #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不能匹配出来子串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2-3 (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ab)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将括号中字符作为一个分组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("[a-zA-Z0-9_]{4,20}@(163|126|qq).com", "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hello@qq.com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")</a:t>
            </a:r>
            <a:b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("[a-zA-Z0-9_]{4,20}@(163|126|qq).com", "</a:t>
            </a:r>
            <a:r>
              <a:rPr lang="en-GB" altLang="zh-CN" sz="1400" i="1" dirty="0" err="1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hello@qqxcom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")</a:t>
            </a:r>
            <a:b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re.match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"[a-zA-Z0-9_]{4,20}@(163|126|qq)\.com"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hello@qq.com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 </a:t>
            </a:r>
            <a:r>
              <a:rPr lang="en-GB" altLang="zh-CN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需要使用转义字符</a:t>
            </a: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info =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result.group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'result--&gt;'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result)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(info)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6062290"/>
            <a:ext cx="8482422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endParaRPr lang="en-GB" altLang="zh-CN" sz="1400" noProof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result--&gt; &lt;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re.Match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object; span=(0, 12), match='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hello@qq.com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‘&gt;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hello@qq.com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</a:rPr>
              <a:t>需求：匹配</a:t>
            </a:r>
            <a:r>
              <a:rPr lang="en-GB" altLang="zh-CN" sz="1400" i="1" dirty="0">
                <a:solidFill>
                  <a:srgbClr val="8C8C8C"/>
                </a:solidFill>
              </a:rPr>
              <a:t>qq:10567</a:t>
            </a:r>
            <a:r>
              <a:rPr lang="zh-CN" altLang="en-US" sz="1400" i="1" dirty="0">
                <a:solidFill>
                  <a:srgbClr val="8C8C8C"/>
                </a:solidFill>
              </a:rPr>
              <a:t>这样的数据，提取出来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文字和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号码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group(0)/group() </a:t>
            </a:r>
            <a:r>
              <a:rPr lang="zh-CN" altLang="en-US" sz="1400" i="1" dirty="0">
                <a:solidFill>
                  <a:srgbClr val="8C8C8C"/>
                </a:solidFill>
              </a:rPr>
              <a:t>代表的是匹配的所有数据 </a:t>
            </a:r>
            <a:r>
              <a:rPr lang="en-US" altLang="zh-CN" sz="1400" i="1" dirty="0">
                <a:solidFill>
                  <a:srgbClr val="8C8C8C"/>
                </a:solidFill>
              </a:rPr>
              <a:t>1:</a:t>
            </a:r>
            <a:r>
              <a:rPr lang="zh-CN" altLang="en-US" sz="1400" i="1" dirty="0">
                <a:solidFill>
                  <a:srgbClr val="8C8C8C"/>
                </a:solidFill>
              </a:rPr>
              <a:t>第一个分组的数据 </a:t>
            </a:r>
            <a:r>
              <a:rPr lang="en-US" altLang="zh-CN" sz="1400" i="1" dirty="0">
                <a:solidFill>
                  <a:srgbClr val="8C8C8C"/>
                </a:solidFill>
              </a:rPr>
              <a:t>2:</a:t>
            </a:r>
            <a:r>
              <a:rPr lang="zh-CN" altLang="en-US" sz="1400" i="1" dirty="0">
                <a:solidFill>
                  <a:srgbClr val="8C8C8C"/>
                </a:solidFill>
              </a:rPr>
              <a:t>第二个分组的数据 顺序是从左到右依次排序的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("(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en-GB" altLang="zh-CN" sz="1400" i="1" dirty="0">
                <a:solidFill>
                  <a:srgbClr val="8C8C8C"/>
                </a:solidFill>
              </a:rPr>
              <a:t>):([0-9]\d{4,11})", "qq:10567")  # </a:t>
            </a:r>
            <a:r>
              <a:rPr lang="zh-CN" altLang="en-US" sz="1400" i="1" dirty="0">
                <a:solidFill>
                  <a:srgbClr val="8C8C8C"/>
                </a:solidFill>
              </a:rPr>
              <a:t>一般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号不以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开头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"(</a:t>
            </a:r>
            <a:r>
              <a:rPr lang="en-GB" altLang="zh-CN" sz="1400" dirty="0" err="1">
                <a:solidFill>
                  <a:srgbClr val="067D17"/>
                </a:solidFill>
              </a:rPr>
              <a:t>qq</a:t>
            </a:r>
            <a:r>
              <a:rPr lang="en-GB" altLang="zh-CN" sz="1400" dirty="0">
                <a:solidFill>
                  <a:srgbClr val="067D17"/>
                </a:solidFill>
              </a:rPr>
              <a:t>):([1-9]\d{4,11})"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"qq:10567"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0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num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2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(num)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type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(type)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匹配失败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5319876"/>
            <a:ext cx="8482422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GB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运行效果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qq:10567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qq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</a:rPr>
              <a:t>需求：匹配</a:t>
            </a:r>
            <a:r>
              <a:rPr lang="en-GB" altLang="zh-CN" sz="1400" i="1" dirty="0">
                <a:solidFill>
                  <a:srgbClr val="8C8C8C"/>
                </a:solidFill>
              </a:rPr>
              <a:t>qq:10567</a:t>
            </a:r>
            <a:r>
              <a:rPr lang="zh-CN" altLang="en-US" sz="1400" i="1" dirty="0">
                <a:solidFill>
                  <a:srgbClr val="8C8C8C"/>
                </a:solidFill>
              </a:rPr>
              <a:t>这样的数据，提取出来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文字和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号码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group(0)/group() </a:t>
            </a:r>
            <a:r>
              <a:rPr lang="zh-CN" altLang="en-US" sz="1400" i="1" dirty="0">
                <a:solidFill>
                  <a:srgbClr val="8C8C8C"/>
                </a:solidFill>
              </a:rPr>
              <a:t>代表的是匹配的所有数据 </a:t>
            </a:r>
            <a:r>
              <a:rPr lang="en-US" altLang="zh-CN" sz="1400" i="1" dirty="0">
                <a:solidFill>
                  <a:srgbClr val="8C8C8C"/>
                </a:solidFill>
              </a:rPr>
              <a:t>1:</a:t>
            </a:r>
            <a:r>
              <a:rPr lang="zh-CN" altLang="en-US" sz="1400" i="1" dirty="0">
                <a:solidFill>
                  <a:srgbClr val="8C8C8C"/>
                </a:solidFill>
              </a:rPr>
              <a:t>第一个分组的数据 </a:t>
            </a:r>
            <a:r>
              <a:rPr lang="en-US" altLang="zh-CN" sz="1400" i="1" dirty="0">
                <a:solidFill>
                  <a:srgbClr val="8C8C8C"/>
                </a:solidFill>
              </a:rPr>
              <a:t>2:</a:t>
            </a:r>
            <a:r>
              <a:rPr lang="zh-CN" altLang="en-US" sz="1400" i="1" dirty="0">
                <a:solidFill>
                  <a:srgbClr val="8C8C8C"/>
                </a:solidFill>
              </a:rPr>
              <a:t>第二个分组的数据 顺序是从左到右依次排序的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("(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en-GB" altLang="zh-CN" sz="1400" i="1" dirty="0">
                <a:solidFill>
                  <a:srgbClr val="8C8C8C"/>
                </a:solidFill>
              </a:rPr>
              <a:t>):([0-9]\d{4,11})", "qq:10567")  # </a:t>
            </a:r>
            <a:r>
              <a:rPr lang="zh-CN" altLang="en-US" sz="1400" i="1" dirty="0">
                <a:solidFill>
                  <a:srgbClr val="8C8C8C"/>
                </a:solidFill>
              </a:rPr>
              <a:t>一般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号不以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开头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"(</a:t>
            </a:r>
            <a:r>
              <a:rPr lang="en-GB" altLang="zh-CN" sz="1400" dirty="0" err="1">
                <a:solidFill>
                  <a:srgbClr val="067D17"/>
                </a:solidFill>
              </a:rPr>
              <a:t>qq</a:t>
            </a:r>
            <a:r>
              <a:rPr lang="en-GB" altLang="zh-CN" sz="1400" dirty="0">
                <a:solidFill>
                  <a:srgbClr val="067D17"/>
                </a:solidFill>
              </a:rPr>
              <a:t>):([1-9]\d{4,11})"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"qq:10567"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0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num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2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(num)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type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(type)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匹配失败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5319876"/>
            <a:ext cx="8482422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GB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运行效果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qq:10567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qq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有关分组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分组的引用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给分组起个别名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4 </a:t>
            </a:r>
            <a:r>
              <a:rPr lang="zh-CN" altLang="en-US" sz="1400" i="1" dirty="0">
                <a:solidFill>
                  <a:srgbClr val="8C8C8C"/>
                </a:solidFill>
              </a:rPr>
              <a:t>需求：匹配出</a:t>
            </a:r>
            <a:r>
              <a:rPr lang="en-US" altLang="zh-CN" sz="1400" i="1" dirty="0">
                <a:solidFill>
                  <a:srgbClr val="8C8C8C"/>
                </a:solidFill>
              </a:rPr>
              <a:t>&lt;</a:t>
            </a:r>
            <a:r>
              <a:rPr lang="en-GB" altLang="zh-CN" sz="1400" i="1" dirty="0">
                <a:solidFill>
                  <a:srgbClr val="8C8C8C"/>
                </a:solidFill>
              </a:rPr>
              <a:t>html&gt;</a:t>
            </a:r>
            <a:r>
              <a:rPr lang="en-GB" altLang="zh-CN" sz="1400" i="1" dirty="0" err="1">
                <a:solidFill>
                  <a:srgbClr val="8C8C8C"/>
                </a:solidFill>
              </a:rPr>
              <a:t>hh</a:t>
            </a:r>
            <a:r>
              <a:rPr lang="en-GB" altLang="zh-CN" sz="1400" i="1" dirty="0">
                <a:solidFill>
                  <a:srgbClr val="8C8C8C"/>
                </a:solidFill>
              </a:rPr>
              <a:t>&lt;/html&gt;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\num </a:t>
            </a:r>
            <a:r>
              <a:rPr lang="zh-CN" altLang="en-US" sz="1400" i="1" dirty="0">
                <a:solidFill>
                  <a:srgbClr val="8C8C8C"/>
                </a:solidFill>
              </a:rPr>
              <a:t>引用分组</a:t>
            </a:r>
            <a:r>
              <a:rPr lang="en-GB" altLang="zh-CN" sz="1400" i="1" dirty="0">
                <a:solidFill>
                  <a:srgbClr val="8C8C8C"/>
                </a:solidFill>
              </a:rPr>
              <a:t>num</a:t>
            </a:r>
            <a:r>
              <a:rPr lang="zh-CN" altLang="en-US" sz="1400" i="1" dirty="0">
                <a:solidFill>
                  <a:srgbClr val="8C8C8C"/>
                </a:solidFill>
              </a:rPr>
              <a:t>匹配到的字符串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(“&lt;([a-zA-Z1-6]{4})&gt;.*&lt;/([a-zA-Z1-6]{4})&gt;”, “&lt;html&gt;</a:t>
            </a:r>
            <a:r>
              <a:rPr lang="en-GB" altLang="zh-CN" sz="1400" i="1" dirty="0" err="1">
                <a:solidFill>
                  <a:srgbClr val="8C8C8C"/>
                </a:solidFill>
              </a:rPr>
              <a:t>hh</a:t>
            </a:r>
            <a:r>
              <a:rPr lang="en-GB" altLang="zh-CN" sz="1400" i="1" dirty="0">
                <a:solidFill>
                  <a:srgbClr val="8C8C8C"/>
                </a:solidFill>
              </a:rPr>
              <a:t>&lt;/html&gt;”)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(“&lt;([a-zA-Z1-6]{4})&gt;.*&lt;/\\1&gt;”, “&lt;html&gt;</a:t>
            </a:r>
            <a:r>
              <a:rPr lang="en-GB" altLang="zh-CN" sz="1400" i="1" dirty="0" err="1">
                <a:solidFill>
                  <a:srgbClr val="8C8C8C"/>
                </a:solidFill>
              </a:rPr>
              <a:t>hh</a:t>
            </a:r>
            <a:r>
              <a:rPr lang="en-GB" altLang="zh-CN" sz="1400" i="1" dirty="0">
                <a:solidFill>
                  <a:srgbClr val="8C8C8C"/>
                </a:solidFill>
              </a:rPr>
              <a:t>&lt;/html&gt;”)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r“&lt;([a-zA-Z1-6]{4})&gt;.*&lt;/\1&gt;”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“&lt;html&gt;</a:t>
            </a:r>
            <a:r>
              <a:rPr lang="en-GB" altLang="zh-CN" sz="1400" dirty="0" err="1">
                <a:solidFill>
                  <a:srgbClr val="067D17"/>
                </a:solidFill>
              </a:rPr>
              <a:t>hh</a:t>
            </a:r>
            <a:r>
              <a:rPr lang="en-GB" altLang="zh-CN" sz="1400" dirty="0">
                <a:solidFill>
                  <a:srgbClr val="067D17"/>
                </a:solidFill>
              </a:rPr>
              <a:t>&lt;/html&gt;”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前面加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个</a:t>
            </a:r>
            <a:r>
              <a:rPr lang="en-GB" altLang="zh-CN" sz="1400" i="1" dirty="0">
                <a:solidFill>
                  <a:srgbClr val="8C8C8C"/>
                </a:solidFill>
              </a:rPr>
              <a:t>r,</a:t>
            </a:r>
            <a:r>
              <a:rPr lang="zh-CN" altLang="en-US" sz="1400" i="1" dirty="0">
                <a:solidFill>
                  <a:srgbClr val="8C8C8C"/>
                </a:solidFill>
              </a:rPr>
              <a:t>也不用转义了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“</a:t>
            </a:r>
            <a:r>
              <a:rPr lang="zh-CN" altLang="en-US" sz="1400" dirty="0">
                <a:solidFill>
                  <a:srgbClr val="067D17"/>
                </a:solidFill>
              </a:rPr>
              <a:t>匹配失败</a:t>
            </a:r>
            <a:r>
              <a:rPr lang="en-US" altLang="zh-CN" sz="1400" dirty="0">
                <a:solidFill>
                  <a:srgbClr val="067D17"/>
                </a:solidFill>
              </a:rPr>
              <a:t>”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测试打印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比较不同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</a:t>
            </a:r>
            <a:r>
              <a:rPr lang="zh-CN" altLang="en-US" sz="1400" i="1" dirty="0">
                <a:solidFill>
                  <a:srgbClr val="8C8C8C"/>
                </a:solidFill>
              </a:rPr>
              <a:t>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en-GB" altLang="zh-CN" sz="1400" dirty="0">
                <a:solidFill>
                  <a:srgbClr val="0037A6"/>
                </a:solidFill>
              </a:rPr>
              <a:t>\1</a:t>
            </a:r>
            <a:r>
              <a:rPr lang="en-GB" altLang="zh-CN" sz="1400" dirty="0">
                <a:solidFill>
                  <a:srgbClr val="067D17"/>
                </a:solidFill>
              </a:rPr>
              <a:t>’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US" altLang="zh-CN" sz="1400" dirty="0"/>
              <a:t>#</a:t>
            </a:r>
            <a:r>
              <a:rPr lang="zh-CN" altLang="en-US" sz="1400" dirty="0"/>
              <a:t>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>
                <a:solidFill>
                  <a:srgbClr val="0037A6"/>
                </a:solidFill>
              </a:rPr>
              <a:t>\\</a:t>
            </a:r>
            <a:r>
              <a:rPr lang="en-GB" altLang="zh-CN" sz="1400" dirty="0">
                <a:solidFill>
                  <a:srgbClr val="067D17"/>
                </a:solidFill>
              </a:rPr>
              <a:t>1'</a:t>
            </a:r>
            <a:r>
              <a:rPr lang="en-GB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5319876"/>
            <a:ext cx="848242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程序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运行效果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&lt;html&gt;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hh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&lt;/html&gt;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、总结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 rot="2700000">
            <a:off x="1516063" y="2475321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 rot="2700000">
            <a:off x="1300163" y="2467383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占位符 1"/>
          <p:cNvSpPr txBox="1">
            <a:spLocks noChangeArrowheads="1"/>
          </p:cNvSpPr>
          <p:nvPr/>
        </p:nvSpPr>
        <p:spPr bwMode="auto">
          <a:xfrm>
            <a:off x="174625" y="2880133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596505" y="1635973"/>
          <a:ext cx="7976220" cy="2038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495"/>
                <a:gridCol w="5800725"/>
              </a:tblGrid>
              <a:tr h="46905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23253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|</a:t>
                      </a:r>
                      <a:endParaRPr lang="hr-H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匹配左右任意一个表达式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3253">
                <a:tc>
                  <a:txBody>
                    <a:bodyPr/>
                    <a:lstStyle/>
                    <a:p>
                      <a:pPr algn="ctr"/>
                      <a:r>
                        <a:rPr lang="is-I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(ab)</a:t>
                      </a:r>
                      <a:endParaRPr lang="is-I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将括号中字符作为一个分组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32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引用分组</a:t>
                      </a:r>
                      <a:r>
                        <a:rPr lang="en-US" altLang="zh-CN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匹配到的字符串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5" name="文本占位符 4"/>
          <p:cNvSpPr txBox="1">
            <a:spLocks noGrp="1"/>
          </p:cNvSpPr>
          <p:nvPr>
            <p:ph type="body" sz="quarter" idx="11"/>
          </p:nvPr>
        </p:nvSpPr>
        <p:spPr>
          <a:xfrm>
            <a:off x="711199" y="1646237"/>
            <a:ext cx="10749279" cy="277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altLang="pt-BR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需求：在列表中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["</a:t>
            </a:r>
            <a:r>
              <a:rPr lang="pt-BR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apple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"banana", "</a:t>
            </a:r>
            <a:r>
              <a:rPr lang="pt-BR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orange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"pear"]</a:t>
            </a:r>
            <a:r>
              <a:rPr lang="zh-CN" altLang="pt-BR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，匹配</a:t>
            </a:r>
            <a:r>
              <a:rPr lang="pt-BR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apple</a:t>
            </a:r>
            <a:r>
              <a:rPr lang="zh-CN" altLang="pt-BR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pear</a:t>
            </a:r>
            <a:endParaRPr lang="pt-BR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②需求：匹配出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126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等邮箱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③需求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匹配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qq:10567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这样的数据，提取出来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文字和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④需求：匹配出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&lt;/html&gt;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⑤需求：匹配出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&lt;html&gt;&lt;h1&gt;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www.itcast.cn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&lt;/h1&gt;&lt;/html&gt;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14360</Words>
  <Application>WPS 演示</Application>
  <PresentationFormat>宽屏</PresentationFormat>
  <Paragraphs>785</Paragraphs>
  <Slides>67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67</vt:i4>
      </vt:variant>
    </vt:vector>
  </HeadingPairs>
  <TitlesOfParts>
    <vt:vector size="98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Alibaba PuHuiTi M</vt:lpstr>
      <vt:lpstr>Segoe Print</vt:lpstr>
      <vt:lpstr>Helvetica Neue</vt:lpstr>
      <vt:lpstr>Alibaba PuHuiTi</vt:lpstr>
      <vt:lpstr>Arial Unicode MS</vt:lpstr>
      <vt:lpstr>等线</vt:lpstr>
      <vt:lpstr>-apple-system</vt:lpstr>
      <vt:lpstr>Helvetica Neue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3_正文设计方案</vt:lpstr>
      <vt:lpstr>1_章节页版式（一级标题）</vt:lpstr>
      <vt:lpstr>Python高级与正则表达式</vt:lpstr>
      <vt:lpstr>PowerPoint 演示文稿</vt:lpstr>
      <vt:lpstr>Python迭代器</vt:lpstr>
      <vt:lpstr>Python高级语法</vt:lpstr>
      <vt:lpstr>Python高级语法</vt:lpstr>
      <vt:lpstr>PowerPoint 演示文稿</vt:lpstr>
      <vt:lpstr>Python生成器</vt:lpstr>
      <vt:lpstr>Python高级语法</vt:lpstr>
      <vt:lpstr>Python高级语法</vt:lpstr>
      <vt:lpstr>Python高级语法</vt:lpstr>
      <vt:lpstr>Python高级语法</vt:lpstr>
      <vt:lpstr>PowerPoint 演示文稿</vt:lpstr>
      <vt:lpstr>PowerPoint 演示文稿</vt:lpstr>
      <vt:lpstr>Python生成器</vt:lpstr>
      <vt:lpstr>Python高级语法</vt:lpstr>
      <vt:lpstr>Python高级语法</vt:lpstr>
      <vt:lpstr>Python高级语法</vt:lpstr>
      <vt:lpstr>PowerPoint 演示文稿</vt:lpstr>
      <vt:lpstr>正则表达式</vt:lpstr>
      <vt:lpstr>正则表达式概述</vt:lpstr>
      <vt:lpstr>正则表达式概述</vt:lpstr>
      <vt:lpstr>正则表达式概述</vt:lpstr>
      <vt:lpstr>re模块的介绍</vt:lpstr>
      <vt:lpstr>正则表达式概述</vt:lpstr>
      <vt:lpstr>正则表达式概述</vt:lpstr>
      <vt:lpstr>正则表达式概述</vt:lpstr>
      <vt:lpstr>正则表达式概述</vt:lpstr>
      <vt:lpstr>正则表达式概述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962</cp:revision>
  <dcterms:created xsi:type="dcterms:W3CDTF">2020-03-31T02:23:00Z</dcterms:created>
  <dcterms:modified xsi:type="dcterms:W3CDTF">2025-03-18T14:39:29Z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C2053FCD03314079BD479E79386BD1D1_12</vt:lpwstr>
  </property>
  <property fmtid="{D5CDD505-2E9C-101B-9397-08002B2CF9AE}" pid="3" name="KSOProductBuildVer">
    <vt:lpwstr>2052-12.1.0.20305</vt:lpwstr>
  </property>
</Properties>
</file>